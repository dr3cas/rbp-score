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Aptos Bold" charset="1" panose="020B0004020202020204"/>
      <p:regular r:id="rId18"/>
    </p:embeddedFont>
    <p:embeddedFont>
      <p:font typeface="Aptos" charset="1" panose="020B0004020202020204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3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903416" y="-555784"/>
            <a:ext cx="3168967" cy="3168967"/>
            <a:chOff x="0" y="0"/>
            <a:chExt cx="4225290" cy="422529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9525" y="9525"/>
              <a:ext cx="4206240" cy="4206240"/>
            </a:xfrm>
            <a:custGeom>
              <a:avLst/>
              <a:gdLst/>
              <a:ahLst/>
              <a:cxnLst/>
              <a:rect r="r" b="b" t="t" l="l"/>
              <a:pathLst>
                <a:path h="4206240" w="4206240">
                  <a:moveTo>
                    <a:pt x="0" y="2103120"/>
                  </a:moveTo>
                  <a:cubicBezTo>
                    <a:pt x="0" y="941578"/>
                    <a:pt x="941578" y="0"/>
                    <a:pt x="2103120" y="0"/>
                  </a:cubicBezTo>
                  <a:cubicBezTo>
                    <a:pt x="3264662" y="0"/>
                    <a:pt x="4206240" y="941578"/>
                    <a:pt x="4206240" y="2103120"/>
                  </a:cubicBezTo>
                  <a:cubicBezTo>
                    <a:pt x="4206240" y="3264662"/>
                    <a:pt x="3264662" y="4206240"/>
                    <a:pt x="2103120" y="4206240"/>
                  </a:cubicBezTo>
                  <a:cubicBezTo>
                    <a:pt x="941578" y="4206240"/>
                    <a:pt x="0" y="3264662"/>
                    <a:pt x="0" y="2103120"/>
                  </a:cubicBezTo>
                  <a:close/>
                </a:path>
              </a:pathLst>
            </a:custGeom>
            <a:solidFill>
              <a:srgbClr val="283732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25290" cy="4225290"/>
            </a:xfrm>
            <a:custGeom>
              <a:avLst/>
              <a:gdLst/>
              <a:ahLst/>
              <a:cxnLst/>
              <a:rect r="r" b="b" t="t" l="l"/>
              <a:pathLst>
                <a:path h="4225290" w="4225290">
                  <a:moveTo>
                    <a:pt x="0" y="2112645"/>
                  </a:moveTo>
                  <a:cubicBezTo>
                    <a:pt x="0" y="945896"/>
                    <a:pt x="945896" y="0"/>
                    <a:pt x="2112645" y="0"/>
                  </a:cubicBezTo>
                  <a:lnTo>
                    <a:pt x="2112645" y="9525"/>
                  </a:lnTo>
                  <a:lnTo>
                    <a:pt x="2112645" y="0"/>
                  </a:lnTo>
                  <a:cubicBezTo>
                    <a:pt x="3279394" y="0"/>
                    <a:pt x="4225290" y="945896"/>
                    <a:pt x="4225290" y="2112645"/>
                  </a:cubicBezTo>
                  <a:lnTo>
                    <a:pt x="4215765" y="2112645"/>
                  </a:lnTo>
                  <a:lnTo>
                    <a:pt x="4225290" y="2112645"/>
                  </a:lnTo>
                  <a:cubicBezTo>
                    <a:pt x="4225290" y="3279394"/>
                    <a:pt x="3279394" y="4225290"/>
                    <a:pt x="2112645" y="4225290"/>
                  </a:cubicBezTo>
                  <a:lnTo>
                    <a:pt x="2112645" y="4215765"/>
                  </a:lnTo>
                  <a:lnTo>
                    <a:pt x="2112645" y="4225290"/>
                  </a:lnTo>
                  <a:cubicBezTo>
                    <a:pt x="945896" y="4225290"/>
                    <a:pt x="0" y="3279394"/>
                    <a:pt x="0" y="2112645"/>
                  </a:cubicBezTo>
                  <a:lnTo>
                    <a:pt x="9525" y="2112645"/>
                  </a:lnTo>
                  <a:lnTo>
                    <a:pt x="19050" y="2112645"/>
                  </a:lnTo>
                  <a:lnTo>
                    <a:pt x="9525" y="2112645"/>
                  </a:lnTo>
                  <a:lnTo>
                    <a:pt x="0" y="2112645"/>
                  </a:lnTo>
                  <a:moveTo>
                    <a:pt x="19050" y="2112645"/>
                  </a:moveTo>
                  <a:cubicBezTo>
                    <a:pt x="19050" y="2117852"/>
                    <a:pt x="14732" y="2122170"/>
                    <a:pt x="9525" y="2122170"/>
                  </a:cubicBezTo>
                  <a:cubicBezTo>
                    <a:pt x="4318" y="2122170"/>
                    <a:pt x="0" y="2117852"/>
                    <a:pt x="0" y="2112645"/>
                  </a:cubicBezTo>
                  <a:cubicBezTo>
                    <a:pt x="0" y="2107438"/>
                    <a:pt x="4318" y="2103120"/>
                    <a:pt x="9525" y="2103120"/>
                  </a:cubicBezTo>
                  <a:cubicBezTo>
                    <a:pt x="14732" y="2103120"/>
                    <a:pt x="19050" y="2107438"/>
                    <a:pt x="19050" y="2112645"/>
                  </a:cubicBezTo>
                  <a:cubicBezTo>
                    <a:pt x="19050" y="3268853"/>
                    <a:pt x="956437" y="4206240"/>
                    <a:pt x="2112645" y="4206240"/>
                  </a:cubicBezTo>
                  <a:cubicBezTo>
                    <a:pt x="3268853" y="4206240"/>
                    <a:pt x="4206240" y="3268853"/>
                    <a:pt x="4206240" y="2112645"/>
                  </a:cubicBezTo>
                  <a:cubicBezTo>
                    <a:pt x="4206240" y="956437"/>
                    <a:pt x="3268853" y="19050"/>
                    <a:pt x="2112645" y="19050"/>
                  </a:cubicBezTo>
                  <a:lnTo>
                    <a:pt x="2112645" y="9525"/>
                  </a:lnTo>
                  <a:lnTo>
                    <a:pt x="2112645" y="19050"/>
                  </a:lnTo>
                  <a:cubicBezTo>
                    <a:pt x="956437" y="19050"/>
                    <a:pt x="19050" y="956437"/>
                    <a:pt x="19050" y="2112645"/>
                  </a:cubicBezTo>
                  <a:close/>
                </a:path>
              </a:pathLst>
            </a:custGeom>
            <a:solidFill>
              <a:srgbClr val="283732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-1104424" y="8359616"/>
            <a:ext cx="2757488" cy="2757488"/>
            <a:chOff x="0" y="0"/>
            <a:chExt cx="3676650" cy="367665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9525" y="9525"/>
              <a:ext cx="3657600" cy="3657600"/>
            </a:xfrm>
            <a:custGeom>
              <a:avLst/>
              <a:gdLst/>
              <a:ahLst/>
              <a:cxnLst/>
              <a:rect r="r" b="b" t="t" l="l"/>
              <a:pathLst>
                <a:path h="3657600" w="3657600">
                  <a:moveTo>
                    <a:pt x="0" y="1828800"/>
                  </a:moveTo>
                  <a:cubicBezTo>
                    <a:pt x="0" y="818769"/>
                    <a:pt x="818769" y="0"/>
                    <a:pt x="1828800" y="0"/>
                  </a:cubicBezTo>
                  <a:cubicBezTo>
                    <a:pt x="2838831" y="0"/>
                    <a:pt x="3657600" y="818769"/>
                    <a:pt x="3657600" y="1828800"/>
                  </a:cubicBezTo>
                  <a:cubicBezTo>
                    <a:pt x="3657600" y="2838831"/>
                    <a:pt x="2838831" y="3657600"/>
                    <a:pt x="1828800" y="3657600"/>
                  </a:cubicBezTo>
                  <a:cubicBezTo>
                    <a:pt x="818769" y="3657600"/>
                    <a:pt x="0" y="2838831"/>
                    <a:pt x="0" y="1828800"/>
                  </a:cubicBezTo>
                  <a:close/>
                </a:path>
              </a:pathLst>
            </a:custGeom>
            <a:solidFill>
              <a:srgbClr val="21322D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676650" cy="3676650"/>
            </a:xfrm>
            <a:custGeom>
              <a:avLst/>
              <a:gdLst/>
              <a:ahLst/>
              <a:cxnLst/>
              <a:rect r="r" b="b" t="t" l="l"/>
              <a:pathLst>
                <a:path h="3676650" w="3676650">
                  <a:moveTo>
                    <a:pt x="0" y="1838325"/>
                  </a:moveTo>
                  <a:cubicBezTo>
                    <a:pt x="0" y="823087"/>
                    <a:pt x="823087" y="0"/>
                    <a:pt x="1838325" y="0"/>
                  </a:cubicBezTo>
                  <a:lnTo>
                    <a:pt x="1838325" y="9525"/>
                  </a:lnTo>
                  <a:lnTo>
                    <a:pt x="1838325" y="0"/>
                  </a:lnTo>
                  <a:cubicBezTo>
                    <a:pt x="2853563" y="0"/>
                    <a:pt x="3676650" y="823087"/>
                    <a:pt x="3676650" y="1838325"/>
                  </a:cubicBezTo>
                  <a:cubicBezTo>
                    <a:pt x="3676650" y="2853563"/>
                    <a:pt x="2853563" y="3676650"/>
                    <a:pt x="1838325" y="3676650"/>
                  </a:cubicBezTo>
                  <a:lnTo>
                    <a:pt x="1838325" y="3667125"/>
                  </a:lnTo>
                  <a:lnTo>
                    <a:pt x="1838325" y="3676650"/>
                  </a:lnTo>
                  <a:cubicBezTo>
                    <a:pt x="823087" y="3676650"/>
                    <a:pt x="0" y="2853563"/>
                    <a:pt x="0" y="1838325"/>
                  </a:cubicBezTo>
                  <a:lnTo>
                    <a:pt x="9525" y="1838325"/>
                  </a:lnTo>
                  <a:lnTo>
                    <a:pt x="17526" y="1843532"/>
                  </a:lnTo>
                  <a:cubicBezTo>
                    <a:pt x="15240" y="1847088"/>
                    <a:pt x="10922" y="1848739"/>
                    <a:pt x="6858" y="1847469"/>
                  </a:cubicBezTo>
                  <a:cubicBezTo>
                    <a:pt x="2794" y="1846199"/>
                    <a:pt x="0" y="1842516"/>
                    <a:pt x="0" y="1838325"/>
                  </a:cubicBezTo>
                  <a:moveTo>
                    <a:pt x="19050" y="1838325"/>
                  </a:moveTo>
                  <a:lnTo>
                    <a:pt x="9525" y="1838325"/>
                  </a:lnTo>
                  <a:lnTo>
                    <a:pt x="1524" y="1833118"/>
                  </a:lnTo>
                  <a:cubicBezTo>
                    <a:pt x="3810" y="1829562"/>
                    <a:pt x="8128" y="1827911"/>
                    <a:pt x="12192" y="1829181"/>
                  </a:cubicBezTo>
                  <a:cubicBezTo>
                    <a:pt x="16256" y="1830451"/>
                    <a:pt x="19050" y="1834134"/>
                    <a:pt x="19050" y="1838325"/>
                  </a:cubicBezTo>
                  <a:cubicBezTo>
                    <a:pt x="19050" y="2843022"/>
                    <a:pt x="833628" y="3657600"/>
                    <a:pt x="1838325" y="3657600"/>
                  </a:cubicBezTo>
                  <a:cubicBezTo>
                    <a:pt x="2843022" y="3657600"/>
                    <a:pt x="3657600" y="2843022"/>
                    <a:pt x="3657600" y="1838325"/>
                  </a:cubicBezTo>
                  <a:lnTo>
                    <a:pt x="3667125" y="1838325"/>
                  </a:lnTo>
                  <a:lnTo>
                    <a:pt x="3657600" y="1838325"/>
                  </a:lnTo>
                  <a:cubicBezTo>
                    <a:pt x="3657600" y="833628"/>
                    <a:pt x="2843022" y="19050"/>
                    <a:pt x="1838325" y="19050"/>
                  </a:cubicBezTo>
                  <a:lnTo>
                    <a:pt x="1838325" y="9525"/>
                  </a:lnTo>
                  <a:lnTo>
                    <a:pt x="1838325" y="19050"/>
                  </a:lnTo>
                  <a:cubicBezTo>
                    <a:pt x="833628" y="19050"/>
                    <a:pt x="19050" y="833628"/>
                    <a:pt x="19050" y="1838325"/>
                  </a:cubicBezTo>
                  <a:close/>
                </a:path>
              </a:pathLst>
            </a:custGeom>
            <a:solidFill>
              <a:srgbClr val="21322D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747236" y="678656"/>
            <a:ext cx="864680" cy="82868"/>
            <a:chOff x="0" y="0"/>
            <a:chExt cx="1152906" cy="11049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9525" y="9525"/>
              <a:ext cx="1133856" cy="91440"/>
            </a:xfrm>
            <a:custGeom>
              <a:avLst/>
              <a:gdLst/>
              <a:ahLst/>
              <a:cxnLst/>
              <a:rect r="r" b="b" t="t" l="l"/>
              <a:pathLst>
                <a:path h="91440" w="1133856">
                  <a:moveTo>
                    <a:pt x="0" y="0"/>
                  </a:moveTo>
                  <a:lnTo>
                    <a:pt x="1133856" y="0"/>
                  </a:lnTo>
                  <a:lnTo>
                    <a:pt x="1133856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74DE62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52906" cy="110490"/>
            </a:xfrm>
            <a:custGeom>
              <a:avLst/>
              <a:gdLst/>
              <a:ahLst/>
              <a:cxnLst/>
              <a:rect r="r" b="b" t="t" l="l"/>
              <a:pathLst>
                <a:path h="110490" w="1152906">
                  <a:moveTo>
                    <a:pt x="9525" y="0"/>
                  </a:moveTo>
                  <a:lnTo>
                    <a:pt x="1143381" y="0"/>
                  </a:lnTo>
                  <a:cubicBezTo>
                    <a:pt x="1148588" y="0"/>
                    <a:pt x="1152906" y="4318"/>
                    <a:pt x="1152906" y="9525"/>
                  </a:cubicBezTo>
                  <a:lnTo>
                    <a:pt x="1152906" y="100965"/>
                  </a:lnTo>
                  <a:cubicBezTo>
                    <a:pt x="1152906" y="106172"/>
                    <a:pt x="1148588" y="110490"/>
                    <a:pt x="1143381" y="110490"/>
                  </a:cubicBezTo>
                  <a:lnTo>
                    <a:pt x="9525" y="110490"/>
                  </a:lnTo>
                  <a:cubicBezTo>
                    <a:pt x="4318" y="110490"/>
                    <a:pt x="0" y="106172"/>
                    <a:pt x="0" y="100965"/>
                  </a:cubicBezTo>
                  <a:lnTo>
                    <a:pt x="0" y="9525"/>
                  </a:lnTo>
                  <a:cubicBezTo>
                    <a:pt x="0" y="4318"/>
                    <a:pt x="4318" y="0"/>
                    <a:pt x="9525" y="0"/>
                  </a:cubicBezTo>
                  <a:moveTo>
                    <a:pt x="9525" y="19050"/>
                  </a:moveTo>
                  <a:lnTo>
                    <a:pt x="9525" y="9525"/>
                  </a:lnTo>
                  <a:lnTo>
                    <a:pt x="19050" y="9525"/>
                  </a:lnTo>
                  <a:lnTo>
                    <a:pt x="19050" y="100965"/>
                  </a:lnTo>
                  <a:lnTo>
                    <a:pt x="9525" y="100965"/>
                  </a:lnTo>
                  <a:lnTo>
                    <a:pt x="9525" y="91440"/>
                  </a:lnTo>
                  <a:lnTo>
                    <a:pt x="1143381" y="91440"/>
                  </a:lnTo>
                  <a:lnTo>
                    <a:pt x="1143381" y="100965"/>
                  </a:lnTo>
                  <a:lnTo>
                    <a:pt x="1133856" y="100965"/>
                  </a:lnTo>
                  <a:lnTo>
                    <a:pt x="1133856" y="9525"/>
                  </a:lnTo>
                  <a:lnTo>
                    <a:pt x="1143381" y="9525"/>
                  </a:lnTo>
                  <a:lnTo>
                    <a:pt x="1143381" y="19050"/>
                  </a:lnTo>
                  <a:lnTo>
                    <a:pt x="9525" y="19050"/>
                  </a:lnTo>
                  <a:close/>
                </a:path>
              </a:pathLst>
            </a:custGeom>
            <a:solidFill>
              <a:srgbClr val="74DE62"/>
            </a:solidFill>
          </p:spPr>
        </p:sp>
      </p:grpSp>
      <p:sp>
        <p:nvSpPr>
          <p:cNvPr name="Freeform 11" id="11"/>
          <p:cNvSpPr/>
          <p:nvPr/>
        </p:nvSpPr>
        <p:spPr>
          <a:xfrm flipH="false" flipV="false" rot="1163354">
            <a:off x="12921988" y="3204505"/>
            <a:ext cx="2507244" cy="4408341"/>
          </a:xfrm>
          <a:custGeom>
            <a:avLst/>
            <a:gdLst/>
            <a:ahLst/>
            <a:cxnLst/>
            <a:rect r="r" b="b" t="t" l="l"/>
            <a:pathLst>
              <a:path h="4408341" w="2507244">
                <a:moveTo>
                  <a:pt x="0" y="0"/>
                </a:moveTo>
                <a:lnTo>
                  <a:pt x="2507244" y="0"/>
                </a:lnTo>
                <a:lnTo>
                  <a:pt x="2507244" y="4408342"/>
                </a:lnTo>
                <a:lnTo>
                  <a:pt x="0" y="440834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-1332971">
            <a:off x="10329591" y="2600000"/>
            <a:ext cx="1753150" cy="3082461"/>
          </a:xfrm>
          <a:custGeom>
            <a:avLst/>
            <a:gdLst/>
            <a:ahLst/>
            <a:cxnLst/>
            <a:rect r="r" b="b" t="t" l="l"/>
            <a:pathLst>
              <a:path h="3082461" w="1753150">
                <a:moveTo>
                  <a:pt x="0" y="0"/>
                </a:moveTo>
                <a:lnTo>
                  <a:pt x="1753150" y="0"/>
                </a:lnTo>
                <a:lnTo>
                  <a:pt x="1753150" y="3082462"/>
                </a:lnTo>
                <a:lnTo>
                  <a:pt x="0" y="30824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987552" y="1960180"/>
            <a:ext cx="7900416" cy="1060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39"/>
              </a:lnSpc>
            </a:pPr>
            <a:r>
              <a:rPr lang="en-US" sz="6450" b="true">
                <a:solidFill>
                  <a:srgbClr val="F6FAF7"/>
                </a:solidFill>
                <a:latin typeface="Aptos Bold"/>
                <a:ea typeface="Aptos Bold"/>
                <a:cs typeface="Aptos Bold"/>
                <a:sym typeface="Aptos Bold"/>
              </a:rPr>
              <a:t>RBP-Score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56132" y="3289108"/>
            <a:ext cx="9249156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7"/>
              </a:lnSpc>
            </a:pPr>
            <a:r>
              <a:rPr lang="en-US" sz="2497">
                <a:solidFill>
                  <a:srgbClr val="BECDC3"/>
                </a:solidFill>
                <a:latin typeface="Aptos"/>
                <a:ea typeface="Aptos"/>
                <a:cs typeface="Aptos"/>
                <a:sym typeface="Aptos"/>
              </a:rPr>
              <a:t>RBP-Score: An integrative bioinformatic pipeline for the identification of phage Receptor Binding Proteins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56132" y="4335715"/>
            <a:ext cx="6815760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0"/>
              </a:lnSpc>
            </a:pPr>
            <a:r>
              <a:rPr lang="en-US" sz="2175" b="true">
                <a:solidFill>
                  <a:srgbClr val="74DE62"/>
                </a:solidFill>
                <a:latin typeface="Aptos Bold"/>
                <a:ea typeface="Aptos Bold"/>
                <a:cs typeface="Aptos Bold"/>
                <a:sym typeface="Aptos Bold"/>
              </a:rPr>
              <a:t>Sequence · Phylogeny · Structure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028700" y="5899482"/>
            <a:ext cx="7562850" cy="1829562"/>
            <a:chOff x="0" y="0"/>
            <a:chExt cx="10083800" cy="2439416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0" y="0"/>
              <a:ext cx="10083800" cy="2439416"/>
              <a:chOff x="0" y="0"/>
              <a:chExt cx="10083800" cy="2439416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12700" y="18537"/>
                <a:ext cx="10058400" cy="2402343"/>
              </a:xfrm>
              <a:custGeom>
                <a:avLst/>
                <a:gdLst/>
                <a:ahLst/>
                <a:cxnLst/>
                <a:rect r="r" b="b" t="t" l="l"/>
                <a:pathLst>
                  <a:path h="2402343" w="10058400">
                    <a:moveTo>
                      <a:pt x="0" y="400390"/>
                    </a:moveTo>
                    <a:cubicBezTo>
                      <a:pt x="0" y="179248"/>
                      <a:pt x="124460" y="0"/>
                      <a:pt x="277876" y="0"/>
                    </a:cubicBezTo>
                    <a:lnTo>
                      <a:pt x="9780524" y="0"/>
                    </a:lnTo>
                    <a:cubicBezTo>
                      <a:pt x="9933940" y="0"/>
                      <a:pt x="10058400" y="179248"/>
                      <a:pt x="10058400" y="400390"/>
                    </a:cubicBezTo>
                    <a:lnTo>
                      <a:pt x="10058400" y="2001952"/>
                    </a:lnTo>
                    <a:cubicBezTo>
                      <a:pt x="10058400" y="2223094"/>
                      <a:pt x="9933940" y="2402343"/>
                      <a:pt x="9780524" y="2402343"/>
                    </a:cubicBezTo>
                    <a:lnTo>
                      <a:pt x="277876" y="2402343"/>
                    </a:lnTo>
                    <a:cubicBezTo>
                      <a:pt x="124460" y="2402343"/>
                      <a:pt x="0" y="2223094"/>
                      <a:pt x="0" y="2001952"/>
                    </a:cubicBezTo>
                    <a:close/>
                  </a:path>
                </a:pathLst>
              </a:custGeom>
              <a:solidFill>
                <a:srgbClr val="0A1E12"/>
              </a:solidFill>
            </p:spPr>
          </p:sp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10083800" cy="2439416"/>
              </a:xfrm>
              <a:custGeom>
                <a:avLst/>
                <a:gdLst/>
                <a:ahLst/>
                <a:cxnLst/>
                <a:rect r="r" b="b" t="t" l="l"/>
                <a:pathLst>
                  <a:path h="2439416" w="10083800">
                    <a:moveTo>
                      <a:pt x="0" y="418927"/>
                    </a:moveTo>
                    <a:cubicBezTo>
                      <a:pt x="0" y="187405"/>
                      <a:pt x="130302" y="0"/>
                      <a:pt x="290576" y="0"/>
                    </a:cubicBezTo>
                    <a:lnTo>
                      <a:pt x="9793224" y="0"/>
                    </a:lnTo>
                    <a:lnTo>
                      <a:pt x="9793224" y="18537"/>
                    </a:lnTo>
                    <a:lnTo>
                      <a:pt x="9793224" y="0"/>
                    </a:lnTo>
                    <a:cubicBezTo>
                      <a:pt x="9953498" y="0"/>
                      <a:pt x="10083800" y="187405"/>
                      <a:pt x="10083800" y="418927"/>
                    </a:cubicBezTo>
                    <a:lnTo>
                      <a:pt x="10071100" y="418927"/>
                    </a:lnTo>
                    <a:lnTo>
                      <a:pt x="10083800" y="418927"/>
                    </a:lnTo>
                    <a:lnTo>
                      <a:pt x="10083800" y="2020489"/>
                    </a:lnTo>
                    <a:lnTo>
                      <a:pt x="10071100" y="2020489"/>
                    </a:lnTo>
                    <a:lnTo>
                      <a:pt x="10083800" y="2020489"/>
                    </a:lnTo>
                    <a:cubicBezTo>
                      <a:pt x="10083800" y="2252011"/>
                      <a:pt x="9953498" y="2439416"/>
                      <a:pt x="9793224" y="2439416"/>
                    </a:cubicBezTo>
                    <a:lnTo>
                      <a:pt x="9793224" y="2420880"/>
                    </a:lnTo>
                    <a:lnTo>
                      <a:pt x="9793224" y="2439416"/>
                    </a:lnTo>
                    <a:lnTo>
                      <a:pt x="290576" y="2439416"/>
                    </a:lnTo>
                    <a:lnTo>
                      <a:pt x="290576" y="2420880"/>
                    </a:lnTo>
                    <a:lnTo>
                      <a:pt x="290576" y="2439416"/>
                    </a:lnTo>
                    <a:cubicBezTo>
                      <a:pt x="130302" y="2439416"/>
                      <a:pt x="0" y="2252011"/>
                      <a:pt x="0" y="2020489"/>
                    </a:cubicBezTo>
                    <a:lnTo>
                      <a:pt x="0" y="418927"/>
                    </a:lnTo>
                    <a:lnTo>
                      <a:pt x="12700" y="418927"/>
                    </a:lnTo>
                    <a:lnTo>
                      <a:pt x="0" y="418927"/>
                    </a:lnTo>
                    <a:moveTo>
                      <a:pt x="25400" y="418927"/>
                    </a:moveTo>
                    <a:lnTo>
                      <a:pt x="25400" y="2020489"/>
                    </a:lnTo>
                    <a:lnTo>
                      <a:pt x="12700" y="2020489"/>
                    </a:lnTo>
                    <a:lnTo>
                      <a:pt x="25400" y="2020489"/>
                    </a:lnTo>
                    <a:cubicBezTo>
                      <a:pt x="25400" y="2231250"/>
                      <a:pt x="144018" y="2402343"/>
                      <a:pt x="290576" y="2402343"/>
                    </a:cubicBezTo>
                    <a:lnTo>
                      <a:pt x="9793224" y="2402343"/>
                    </a:lnTo>
                    <a:cubicBezTo>
                      <a:pt x="9939782" y="2402343"/>
                      <a:pt x="10058400" y="2231065"/>
                      <a:pt x="10058400" y="2020489"/>
                    </a:cubicBezTo>
                    <a:lnTo>
                      <a:pt x="10058400" y="418927"/>
                    </a:lnTo>
                    <a:cubicBezTo>
                      <a:pt x="10058400" y="208351"/>
                      <a:pt x="9939782" y="37073"/>
                      <a:pt x="9793224" y="37073"/>
                    </a:cubicBezTo>
                    <a:lnTo>
                      <a:pt x="290576" y="37073"/>
                    </a:lnTo>
                    <a:lnTo>
                      <a:pt x="290576" y="18537"/>
                    </a:lnTo>
                    <a:lnTo>
                      <a:pt x="290576" y="37073"/>
                    </a:lnTo>
                    <a:cubicBezTo>
                      <a:pt x="144018" y="37073"/>
                      <a:pt x="25400" y="208351"/>
                      <a:pt x="25400" y="418927"/>
                    </a:cubicBezTo>
                    <a:close/>
                  </a:path>
                </a:pathLst>
              </a:custGeom>
              <a:solidFill>
                <a:srgbClr val="74DE62"/>
              </a:solidFill>
            </p:spPr>
          </p:sp>
        </p:grpSp>
        <p:sp>
          <p:nvSpPr>
            <p:cNvPr name="TextBox 20" id="20"/>
            <p:cNvSpPr txBox="true"/>
            <p:nvPr/>
          </p:nvSpPr>
          <p:spPr>
            <a:xfrm rot="0">
              <a:off x="378460" y="339217"/>
              <a:ext cx="9326880" cy="45377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96"/>
                </a:lnSpc>
              </a:pPr>
              <a:r>
                <a:rPr lang="en-US" sz="1830" b="true">
                  <a:solidFill>
                    <a:srgbClr val="74DE62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Project in Bioinformatics · 2025–2026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378460" y="1033399"/>
              <a:ext cx="9326880" cy="5093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16"/>
                </a:lnSpc>
              </a:pPr>
              <a:r>
                <a:rPr lang="en-US" sz="1680">
                  <a:solidFill>
                    <a:srgbClr val="F6FAF7"/>
                  </a:solidFill>
                  <a:latin typeface="Aptos"/>
                  <a:ea typeface="Aptos"/>
                  <a:cs typeface="Aptos"/>
                  <a:sym typeface="Aptos"/>
                </a:rPr>
                <a:t>Centre of Biological Engineering · University of Minho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397764" y="1731645"/>
              <a:ext cx="9326880" cy="3397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16"/>
                </a:lnSpc>
              </a:pPr>
              <a:r>
                <a:rPr lang="en-US" sz="1680">
                  <a:solidFill>
                    <a:srgbClr val="F6FAF7"/>
                  </a:solidFill>
                  <a:latin typeface="Aptos"/>
                  <a:ea typeface="Aptos"/>
                  <a:cs typeface="Aptos"/>
                  <a:sym typeface="Aptos"/>
                </a:rPr>
                <a:t>André Gomes &amp; Sílvio Santos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8268031" y="8789083"/>
            <a:ext cx="9365742" cy="428319"/>
            <a:chOff x="0" y="0"/>
            <a:chExt cx="12487656" cy="571092"/>
          </a:xfrm>
        </p:grpSpPr>
        <p:grpSp>
          <p:nvGrpSpPr>
            <p:cNvPr name="Group 24" id="24"/>
            <p:cNvGrpSpPr/>
            <p:nvPr/>
          </p:nvGrpSpPr>
          <p:grpSpPr>
            <a:xfrm rot="0">
              <a:off x="2543556" y="0"/>
              <a:ext cx="2305050" cy="557625"/>
              <a:chOff x="0" y="0"/>
              <a:chExt cx="10083800" cy="2439416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12700" y="18537"/>
                <a:ext cx="10058400" cy="2402343"/>
              </a:xfrm>
              <a:custGeom>
                <a:avLst/>
                <a:gdLst/>
                <a:ahLst/>
                <a:cxnLst/>
                <a:rect r="r" b="b" t="t" l="l"/>
                <a:pathLst>
                  <a:path h="2402343" w="10058400">
                    <a:moveTo>
                      <a:pt x="0" y="400390"/>
                    </a:moveTo>
                    <a:cubicBezTo>
                      <a:pt x="0" y="179248"/>
                      <a:pt x="124460" y="0"/>
                      <a:pt x="277876" y="0"/>
                    </a:cubicBezTo>
                    <a:lnTo>
                      <a:pt x="9780524" y="0"/>
                    </a:lnTo>
                    <a:cubicBezTo>
                      <a:pt x="9933940" y="0"/>
                      <a:pt x="10058400" y="179248"/>
                      <a:pt x="10058400" y="400390"/>
                    </a:cubicBezTo>
                    <a:lnTo>
                      <a:pt x="10058400" y="2001952"/>
                    </a:lnTo>
                    <a:cubicBezTo>
                      <a:pt x="10058400" y="2223094"/>
                      <a:pt x="9933940" y="2402343"/>
                      <a:pt x="9780524" y="2402343"/>
                    </a:cubicBezTo>
                    <a:lnTo>
                      <a:pt x="277876" y="2402343"/>
                    </a:lnTo>
                    <a:cubicBezTo>
                      <a:pt x="124460" y="2402343"/>
                      <a:pt x="0" y="2223094"/>
                      <a:pt x="0" y="2001952"/>
                    </a:cubicBezTo>
                    <a:close/>
                  </a:path>
                </a:pathLst>
              </a:custGeom>
              <a:solidFill>
                <a:srgbClr val="0C2D1C"/>
              </a:solidFill>
            </p:spPr>
          </p:sp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10083800" cy="2439416"/>
              </a:xfrm>
              <a:custGeom>
                <a:avLst/>
                <a:gdLst/>
                <a:ahLst/>
                <a:cxnLst/>
                <a:rect r="r" b="b" t="t" l="l"/>
                <a:pathLst>
                  <a:path h="2439416" w="10083800">
                    <a:moveTo>
                      <a:pt x="0" y="418927"/>
                    </a:moveTo>
                    <a:cubicBezTo>
                      <a:pt x="0" y="187405"/>
                      <a:pt x="130302" y="0"/>
                      <a:pt x="290576" y="0"/>
                    </a:cubicBezTo>
                    <a:lnTo>
                      <a:pt x="9793224" y="0"/>
                    </a:lnTo>
                    <a:lnTo>
                      <a:pt x="9793224" y="18537"/>
                    </a:lnTo>
                    <a:lnTo>
                      <a:pt x="9793224" y="0"/>
                    </a:lnTo>
                    <a:cubicBezTo>
                      <a:pt x="9953498" y="0"/>
                      <a:pt x="10083800" y="187405"/>
                      <a:pt x="10083800" y="418927"/>
                    </a:cubicBezTo>
                    <a:lnTo>
                      <a:pt x="10071100" y="418927"/>
                    </a:lnTo>
                    <a:lnTo>
                      <a:pt x="10083800" y="418927"/>
                    </a:lnTo>
                    <a:lnTo>
                      <a:pt x="10083800" y="2020489"/>
                    </a:lnTo>
                    <a:lnTo>
                      <a:pt x="10071100" y="2020489"/>
                    </a:lnTo>
                    <a:lnTo>
                      <a:pt x="10083800" y="2020489"/>
                    </a:lnTo>
                    <a:cubicBezTo>
                      <a:pt x="10083800" y="2252011"/>
                      <a:pt x="9953498" y="2439416"/>
                      <a:pt x="9793224" y="2439416"/>
                    </a:cubicBezTo>
                    <a:lnTo>
                      <a:pt x="9793224" y="2420880"/>
                    </a:lnTo>
                    <a:lnTo>
                      <a:pt x="9793224" y="2439416"/>
                    </a:lnTo>
                    <a:lnTo>
                      <a:pt x="290576" y="2439416"/>
                    </a:lnTo>
                    <a:lnTo>
                      <a:pt x="290576" y="2420880"/>
                    </a:lnTo>
                    <a:lnTo>
                      <a:pt x="290576" y="2439416"/>
                    </a:lnTo>
                    <a:cubicBezTo>
                      <a:pt x="130302" y="2439416"/>
                      <a:pt x="0" y="2252011"/>
                      <a:pt x="0" y="2020489"/>
                    </a:cubicBezTo>
                    <a:lnTo>
                      <a:pt x="0" y="418927"/>
                    </a:lnTo>
                    <a:lnTo>
                      <a:pt x="12700" y="418927"/>
                    </a:lnTo>
                    <a:lnTo>
                      <a:pt x="0" y="418927"/>
                    </a:lnTo>
                    <a:moveTo>
                      <a:pt x="25400" y="418927"/>
                    </a:moveTo>
                    <a:lnTo>
                      <a:pt x="25400" y="2020489"/>
                    </a:lnTo>
                    <a:lnTo>
                      <a:pt x="12700" y="2020489"/>
                    </a:lnTo>
                    <a:lnTo>
                      <a:pt x="25400" y="2020489"/>
                    </a:lnTo>
                    <a:cubicBezTo>
                      <a:pt x="25400" y="2231250"/>
                      <a:pt x="144018" y="2402343"/>
                      <a:pt x="290576" y="2402343"/>
                    </a:cubicBezTo>
                    <a:lnTo>
                      <a:pt x="9793224" y="2402343"/>
                    </a:lnTo>
                    <a:cubicBezTo>
                      <a:pt x="9939782" y="2402343"/>
                      <a:pt x="10058400" y="2231065"/>
                      <a:pt x="10058400" y="2020489"/>
                    </a:cubicBezTo>
                    <a:lnTo>
                      <a:pt x="10058400" y="418927"/>
                    </a:lnTo>
                    <a:cubicBezTo>
                      <a:pt x="10058400" y="208351"/>
                      <a:pt x="9939782" y="37073"/>
                      <a:pt x="9793224" y="37073"/>
                    </a:cubicBezTo>
                    <a:lnTo>
                      <a:pt x="290576" y="37073"/>
                    </a:lnTo>
                    <a:lnTo>
                      <a:pt x="290576" y="18537"/>
                    </a:lnTo>
                    <a:lnTo>
                      <a:pt x="290576" y="37073"/>
                    </a:lnTo>
                    <a:cubicBezTo>
                      <a:pt x="144018" y="37073"/>
                      <a:pt x="25400" y="208351"/>
                      <a:pt x="25400" y="418927"/>
                    </a:cubicBezTo>
                    <a:close/>
                  </a:path>
                </a:pathLst>
              </a:custGeom>
              <a:solidFill>
                <a:srgbClr val="74DE62"/>
              </a:solidFill>
            </p:spPr>
          </p:sp>
        </p:grpSp>
        <p:sp>
          <p:nvSpPr>
            <p:cNvPr name="TextBox 27" id="27"/>
            <p:cNvSpPr txBox="true"/>
            <p:nvPr/>
          </p:nvSpPr>
          <p:spPr>
            <a:xfrm rot="0">
              <a:off x="3178847" y="126412"/>
              <a:ext cx="1034468" cy="304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en-US" sz="1500" b="true">
                  <a:solidFill>
                    <a:srgbClr val="74DE62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MUSCLE</a:t>
              </a:r>
            </a:p>
          </p:txBody>
        </p:sp>
        <p:grpSp>
          <p:nvGrpSpPr>
            <p:cNvPr name="Group 28" id="28"/>
            <p:cNvGrpSpPr/>
            <p:nvPr/>
          </p:nvGrpSpPr>
          <p:grpSpPr>
            <a:xfrm rot="0">
              <a:off x="5089906" y="0"/>
              <a:ext cx="2305050" cy="557625"/>
              <a:chOff x="0" y="0"/>
              <a:chExt cx="10083800" cy="2439416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12700" y="18537"/>
                <a:ext cx="10058400" cy="2402343"/>
              </a:xfrm>
              <a:custGeom>
                <a:avLst/>
                <a:gdLst/>
                <a:ahLst/>
                <a:cxnLst/>
                <a:rect r="r" b="b" t="t" l="l"/>
                <a:pathLst>
                  <a:path h="2402343" w="10058400">
                    <a:moveTo>
                      <a:pt x="0" y="400390"/>
                    </a:moveTo>
                    <a:cubicBezTo>
                      <a:pt x="0" y="179248"/>
                      <a:pt x="124460" y="0"/>
                      <a:pt x="277876" y="0"/>
                    </a:cubicBezTo>
                    <a:lnTo>
                      <a:pt x="9780524" y="0"/>
                    </a:lnTo>
                    <a:cubicBezTo>
                      <a:pt x="9933940" y="0"/>
                      <a:pt x="10058400" y="179248"/>
                      <a:pt x="10058400" y="400390"/>
                    </a:cubicBezTo>
                    <a:lnTo>
                      <a:pt x="10058400" y="2001952"/>
                    </a:lnTo>
                    <a:cubicBezTo>
                      <a:pt x="10058400" y="2223094"/>
                      <a:pt x="9933940" y="2402343"/>
                      <a:pt x="9780524" y="2402343"/>
                    </a:cubicBezTo>
                    <a:lnTo>
                      <a:pt x="277876" y="2402343"/>
                    </a:lnTo>
                    <a:cubicBezTo>
                      <a:pt x="124460" y="2402343"/>
                      <a:pt x="0" y="2223094"/>
                      <a:pt x="0" y="2001952"/>
                    </a:cubicBezTo>
                    <a:close/>
                  </a:path>
                </a:pathLst>
              </a:custGeom>
              <a:solidFill>
                <a:srgbClr val="0C2D1C"/>
              </a:solidFill>
            </p:spPr>
          </p:sp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10083800" cy="2439416"/>
              </a:xfrm>
              <a:custGeom>
                <a:avLst/>
                <a:gdLst/>
                <a:ahLst/>
                <a:cxnLst/>
                <a:rect r="r" b="b" t="t" l="l"/>
                <a:pathLst>
                  <a:path h="2439416" w="10083800">
                    <a:moveTo>
                      <a:pt x="0" y="418927"/>
                    </a:moveTo>
                    <a:cubicBezTo>
                      <a:pt x="0" y="187405"/>
                      <a:pt x="130302" y="0"/>
                      <a:pt x="290576" y="0"/>
                    </a:cubicBezTo>
                    <a:lnTo>
                      <a:pt x="9793224" y="0"/>
                    </a:lnTo>
                    <a:lnTo>
                      <a:pt x="9793224" y="18537"/>
                    </a:lnTo>
                    <a:lnTo>
                      <a:pt x="9793224" y="0"/>
                    </a:lnTo>
                    <a:cubicBezTo>
                      <a:pt x="9953498" y="0"/>
                      <a:pt x="10083800" y="187405"/>
                      <a:pt x="10083800" y="418927"/>
                    </a:cubicBezTo>
                    <a:lnTo>
                      <a:pt x="10071100" y="418927"/>
                    </a:lnTo>
                    <a:lnTo>
                      <a:pt x="10083800" y="418927"/>
                    </a:lnTo>
                    <a:lnTo>
                      <a:pt x="10083800" y="2020489"/>
                    </a:lnTo>
                    <a:lnTo>
                      <a:pt x="10071100" y="2020489"/>
                    </a:lnTo>
                    <a:lnTo>
                      <a:pt x="10083800" y="2020489"/>
                    </a:lnTo>
                    <a:cubicBezTo>
                      <a:pt x="10083800" y="2252011"/>
                      <a:pt x="9953498" y="2439416"/>
                      <a:pt x="9793224" y="2439416"/>
                    </a:cubicBezTo>
                    <a:lnTo>
                      <a:pt x="9793224" y="2420880"/>
                    </a:lnTo>
                    <a:lnTo>
                      <a:pt x="9793224" y="2439416"/>
                    </a:lnTo>
                    <a:lnTo>
                      <a:pt x="290576" y="2439416"/>
                    </a:lnTo>
                    <a:lnTo>
                      <a:pt x="290576" y="2420880"/>
                    </a:lnTo>
                    <a:lnTo>
                      <a:pt x="290576" y="2439416"/>
                    </a:lnTo>
                    <a:cubicBezTo>
                      <a:pt x="130302" y="2439416"/>
                      <a:pt x="0" y="2252011"/>
                      <a:pt x="0" y="2020489"/>
                    </a:cubicBezTo>
                    <a:lnTo>
                      <a:pt x="0" y="418927"/>
                    </a:lnTo>
                    <a:lnTo>
                      <a:pt x="12700" y="418927"/>
                    </a:lnTo>
                    <a:lnTo>
                      <a:pt x="0" y="418927"/>
                    </a:lnTo>
                    <a:moveTo>
                      <a:pt x="25400" y="418927"/>
                    </a:moveTo>
                    <a:lnTo>
                      <a:pt x="25400" y="2020489"/>
                    </a:lnTo>
                    <a:lnTo>
                      <a:pt x="12700" y="2020489"/>
                    </a:lnTo>
                    <a:lnTo>
                      <a:pt x="25400" y="2020489"/>
                    </a:lnTo>
                    <a:cubicBezTo>
                      <a:pt x="25400" y="2231250"/>
                      <a:pt x="144018" y="2402343"/>
                      <a:pt x="290576" y="2402343"/>
                    </a:cubicBezTo>
                    <a:lnTo>
                      <a:pt x="9793224" y="2402343"/>
                    </a:lnTo>
                    <a:cubicBezTo>
                      <a:pt x="9939782" y="2402343"/>
                      <a:pt x="10058400" y="2231065"/>
                      <a:pt x="10058400" y="2020489"/>
                    </a:cubicBezTo>
                    <a:lnTo>
                      <a:pt x="10058400" y="418927"/>
                    </a:lnTo>
                    <a:cubicBezTo>
                      <a:pt x="10058400" y="208351"/>
                      <a:pt x="9939782" y="37073"/>
                      <a:pt x="9793224" y="37073"/>
                    </a:cubicBezTo>
                    <a:lnTo>
                      <a:pt x="290576" y="37073"/>
                    </a:lnTo>
                    <a:lnTo>
                      <a:pt x="290576" y="18537"/>
                    </a:lnTo>
                    <a:lnTo>
                      <a:pt x="290576" y="37073"/>
                    </a:lnTo>
                    <a:cubicBezTo>
                      <a:pt x="144018" y="37073"/>
                      <a:pt x="25400" y="208351"/>
                      <a:pt x="25400" y="418927"/>
                    </a:cubicBezTo>
                    <a:close/>
                  </a:path>
                </a:pathLst>
              </a:custGeom>
              <a:solidFill>
                <a:srgbClr val="74DE62"/>
              </a:solidFill>
            </p:spPr>
          </p:sp>
        </p:grpSp>
        <p:sp>
          <p:nvSpPr>
            <p:cNvPr name="TextBox 31" id="31"/>
            <p:cNvSpPr txBox="true"/>
            <p:nvPr/>
          </p:nvSpPr>
          <p:spPr>
            <a:xfrm rot="0">
              <a:off x="5775997" y="126412"/>
              <a:ext cx="1034468" cy="304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en-US" sz="1500" b="true">
                  <a:solidFill>
                    <a:srgbClr val="74DE62"/>
                  </a:solidFill>
                  <a:latin typeface="Aptos Bold"/>
                  <a:ea typeface="Aptos Bold"/>
                  <a:cs typeface="Aptos Bold"/>
                  <a:sym typeface="Aptos Bold"/>
                </a:rPr>
                <a:t>FastTree</a:t>
              </a:r>
            </a:p>
          </p:txBody>
        </p:sp>
        <p:grpSp>
          <p:nvGrpSpPr>
            <p:cNvPr name="Group 32" id="32"/>
            <p:cNvGrpSpPr/>
            <p:nvPr/>
          </p:nvGrpSpPr>
          <p:grpSpPr>
            <a:xfrm rot="0">
              <a:off x="7636256" y="13467"/>
              <a:ext cx="2305050" cy="557625"/>
              <a:chOff x="0" y="0"/>
              <a:chExt cx="10083800" cy="2439416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12700" y="18537"/>
                <a:ext cx="10058400" cy="2402343"/>
              </a:xfrm>
              <a:custGeom>
                <a:avLst/>
                <a:gdLst/>
                <a:ahLst/>
                <a:cxnLst/>
                <a:rect r="r" b="b" t="t" l="l"/>
                <a:pathLst>
                  <a:path h="2402343" w="10058400">
                    <a:moveTo>
                      <a:pt x="0" y="400390"/>
                    </a:moveTo>
                    <a:cubicBezTo>
                      <a:pt x="0" y="179248"/>
                      <a:pt x="124460" y="0"/>
                      <a:pt x="277876" y="0"/>
                    </a:cubicBezTo>
                    <a:lnTo>
                      <a:pt x="9780524" y="0"/>
                    </a:lnTo>
                    <a:cubicBezTo>
                      <a:pt x="9933940" y="0"/>
                      <a:pt x="10058400" y="179248"/>
                      <a:pt x="10058400" y="400390"/>
                    </a:cubicBezTo>
                    <a:lnTo>
                      <a:pt x="10058400" y="2001952"/>
                    </a:lnTo>
                    <a:cubicBezTo>
                      <a:pt x="10058400" y="2223094"/>
                      <a:pt x="9933940" y="2402343"/>
                      <a:pt x="9780524" y="2402343"/>
                    </a:cubicBezTo>
                    <a:lnTo>
                      <a:pt x="277876" y="2402343"/>
                    </a:lnTo>
                    <a:cubicBezTo>
                      <a:pt x="124460" y="2402343"/>
                      <a:pt x="0" y="2223094"/>
                      <a:pt x="0" y="2001952"/>
                    </a:cubicBezTo>
                    <a:close/>
                  </a:path>
                </a:pathLst>
              </a:custGeom>
              <a:solidFill>
                <a:srgbClr val="0C2D1C"/>
              </a:solidFill>
            </p:spPr>
          </p:sp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10083800" cy="2439416"/>
              </a:xfrm>
              <a:custGeom>
                <a:avLst/>
                <a:gdLst/>
                <a:ahLst/>
                <a:cxnLst/>
                <a:rect r="r" b="b" t="t" l="l"/>
                <a:pathLst>
                  <a:path h="2439416" w="10083800">
                    <a:moveTo>
                      <a:pt x="0" y="418927"/>
                    </a:moveTo>
                    <a:cubicBezTo>
                      <a:pt x="0" y="187405"/>
                      <a:pt x="130302" y="0"/>
                      <a:pt x="290576" y="0"/>
                    </a:cubicBezTo>
                    <a:lnTo>
                      <a:pt x="9793224" y="0"/>
                    </a:lnTo>
                    <a:lnTo>
                      <a:pt x="9793224" y="18537"/>
                    </a:lnTo>
                    <a:lnTo>
                      <a:pt x="9793224" y="0"/>
                    </a:lnTo>
                    <a:cubicBezTo>
                      <a:pt x="9953498" y="0"/>
                      <a:pt x="10083800" y="187405"/>
                      <a:pt x="10083800" y="418927"/>
                    </a:cubicBezTo>
                    <a:lnTo>
                      <a:pt x="10071100" y="418927"/>
                    </a:lnTo>
                    <a:lnTo>
                      <a:pt x="10083800" y="418927"/>
                    </a:lnTo>
                    <a:lnTo>
                      <a:pt x="10083800" y="2020489"/>
                    </a:lnTo>
                    <a:lnTo>
                      <a:pt x="10071100" y="2020489"/>
                    </a:lnTo>
                    <a:lnTo>
                      <a:pt x="10083800" y="2020489"/>
                    </a:lnTo>
                    <a:cubicBezTo>
                      <a:pt x="10083800" y="2252011"/>
                      <a:pt x="9953498" y="2439416"/>
                      <a:pt x="9793224" y="2439416"/>
                    </a:cubicBezTo>
                    <a:lnTo>
                      <a:pt x="9793224" y="2420880"/>
                    </a:lnTo>
                    <a:lnTo>
                      <a:pt x="9793224" y="2439416"/>
                    </a:lnTo>
                    <a:lnTo>
                      <a:pt x="290576" y="2439416"/>
                    </a:lnTo>
                    <a:lnTo>
                      <a:pt x="290576" y="2420880"/>
                    </a:lnTo>
                    <a:lnTo>
                      <a:pt x="290576" y="2439416"/>
                    </a:lnTo>
                    <a:cubicBezTo>
                      <a:pt x="130302" y="2439416"/>
                      <a:pt x="0" y="2252011"/>
                      <a:pt x="0" y="2020489"/>
                    </a:cubicBezTo>
                    <a:lnTo>
                      <a:pt x="0" y="418927"/>
                    </a:lnTo>
                    <a:lnTo>
                      <a:pt x="12700" y="418927"/>
                    </a:lnTo>
                    <a:lnTo>
                      <a:pt x="0" y="418927"/>
                    </a:lnTo>
                    <a:moveTo>
                      <a:pt x="25400" y="418927"/>
                    </a:moveTo>
                    <a:lnTo>
                      <a:pt x="25400" y="2020489"/>
                    </a:lnTo>
                    <a:lnTo>
                      <a:pt x="12700" y="2020489"/>
                    </a:lnTo>
                    <a:lnTo>
                      <a:pt x="25400" y="2020489"/>
                    </a:lnTo>
                    <a:cubicBezTo>
                      <a:pt x="25400" y="2231250"/>
                      <a:pt x="144018" y="2402343"/>
                      <a:pt x="290576" y="2402343"/>
                    </a:cubicBezTo>
                    <a:lnTo>
                      <a:pt x="9793224" y="2402343"/>
                    </a:lnTo>
                    <a:cubicBezTo>
                      <a:pt x="9939782" y="2402343"/>
                      <a:pt x="10058400" y="2231065"/>
                      <a:pt x="10058400" y="2020489"/>
                    </a:cubicBezTo>
                    <a:lnTo>
                      <a:pt x="10058400" y="418927"/>
                    </a:lnTo>
                    <a:cubicBezTo>
                      <a:pt x="10058400" y="208351"/>
                      <a:pt x="9939782" y="37073"/>
                      <a:pt x="9793224" y="37073"/>
                    </a:cubicBezTo>
                    <a:lnTo>
                      <a:pt x="290576" y="37073"/>
                    </a:lnTo>
                    <a:lnTo>
                      <a:pt x="290576" y="18537"/>
                    </a:lnTo>
                    <a:lnTo>
                      <a:pt x="290576" y="37073"/>
                    </a:lnTo>
                    <a:cubicBezTo>
                      <a:pt x="144018" y="37073"/>
                      <a:pt x="25400" y="208351"/>
                      <a:pt x="25400" y="418927"/>
                    </a:cubicBezTo>
                    <a:close/>
                  </a:path>
                </a:pathLst>
              </a:custGeom>
              <a:solidFill>
                <a:srgbClr val="74DE62"/>
              </a:solidFill>
            </p:spPr>
          </p:sp>
        </p:grpSp>
        <p:sp>
          <p:nvSpPr>
            <p:cNvPr name="TextBox 35" id="35"/>
            <p:cNvSpPr txBox="true"/>
            <p:nvPr/>
          </p:nvSpPr>
          <p:spPr>
            <a:xfrm rot="0">
              <a:off x="8166695" y="139879"/>
              <a:ext cx="1244173" cy="304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en-US" sz="1500" b="true">
                  <a:solidFill>
                    <a:srgbClr val="74DE62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ColabFold</a:t>
              </a:r>
            </a:p>
          </p:txBody>
        </p:sp>
        <p:grpSp>
          <p:nvGrpSpPr>
            <p:cNvPr name="Group 36" id="36"/>
            <p:cNvGrpSpPr/>
            <p:nvPr/>
          </p:nvGrpSpPr>
          <p:grpSpPr>
            <a:xfrm rot="0">
              <a:off x="0" y="0"/>
              <a:ext cx="2305050" cy="557625"/>
              <a:chOff x="0" y="0"/>
              <a:chExt cx="10083800" cy="2439416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12700" y="18537"/>
                <a:ext cx="10058400" cy="2402343"/>
              </a:xfrm>
              <a:custGeom>
                <a:avLst/>
                <a:gdLst/>
                <a:ahLst/>
                <a:cxnLst/>
                <a:rect r="r" b="b" t="t" l="l"/>
                <a:pathLst>
                  <a:path h="2402343" w="10058400">
                    <a:moveTo>
                      <a:pt x="0" y="400390"/>
                    </a:moveTo>
                    <a:cubicBezTo>
                      <a:pt x="0" y="179248"/>
                      <a:pt x="124460" y="0"/>
                      <a:pt x="277876" y="0"/>
                    </a:cubicBezTo>
                    <a:lnTo>
                      <a:pt x="9780524" y="0"/>
                    </a:lnTo>
                    <a:cubicBezTo>
                      <a:pt x="9933940" y="0"/>
                      <a:pt x="10058400" y="179248"/>
                      <a:pt x="10058400" y="400390"/>
                    </a:cubicBezTo>
                    <a:lnTo>
                      <a:pt x="10058400" y="2001952"/>
                    </a:lnTo>
                    <a:cubicBezTo>
                      <a:pt x="10058400" y="2223094"/>
                      <a:pt x="9933940" y="2402343"/>
                      <a:pt x="9780524" y="2402343"/>
                    </a:cubicBezTo>
                    <a:lnTo>
                      <a:pt x="277876" y="2402343"/>
                    </a:lnTo>
                    <a:cubicBezTo>
                      <a:pt x="124460" y="2402343"/>
                      <a:pt x="0" y="2223094"/>
                      <a:pt x="0" y="2001952"/>
                    </a:cubicBezTo>
                    <a:close/>
                  </a:path>
                </a:pathLst>
              </a:custGeom>
              <a:solidFill>
                <a:srgbClr val="0C2D1C"/>
              </a:solidFill>
            </p:spPr>
          </p:sp>
          <p:sp>
            <p:nvSpPr>
              <p:cNvPr name="Freeform 38" id="38"/>
              <p:cNvSpPr/>
              <p:nvPr/>
            </p:nvSpPr>
            <p:spPr>
              <a:xfrm flipH="false" flipV="false" rot="0">
                <a:off x="0" y="0"/>
                <a:ext cx="10083800" cy="2439416"/>
              </a:xfrm>
              <a:custGeom>
                <a:avLst/>
                <a:gdLst/>
                <a:ahLst/>
                <a:cxnLst/>
                <a:rect r="r" b="b" t="t" l="l"/>
                <a:pathLst>
                  <a:path h="2439416" w="10083800">
                    <a:moveTo>
                      <a:pt x="0" y="418927"/>
                    </a:moveTo>
                    <a:cubicBezTo>
                      <a:pt x="0" y="187405"/>
                      <a:pt x="130302" y="0"/>
                      <a:pt x="290576" y="0"/>
                    </a:cubicBezTo>
                    <a:lnTo>
                      <a:pt x="9793224" y="0"/>
                    </a:lnTo>
                    <a:lnTo>
                      <a:pt x="9793224" y="18537"/>
                    </a:lnTo>
                    <a:lnTo>
                      <a:pt x="9793224" y="0"/>
                    </a:lnTo>
                    <a:cubicBezTo>
                      <a:pt x="9953498" y="0"/>
                      <a:pt x="10083800" y="187405"/>
                      <a:pt x="10083800" y="418927"/>
                    </a:cubicBezTo>
                    <a:lnTo>
                      <a:pt x="10071100" y="418927"/>
                    </a:lnTo>
                    <a:lnTo>
                      <a:pt x="10083800" y="418927"/>
                    </a:lnTo>
                    <a:lnTo>
                      <a:pt x="10083800" y="2020489"/>
                    </a:lnTo>
                    <a:lnTo>
                      <a:pt x="10071100" y="2020489"/>
                    </a:lnTo>
                    <a:lnTo>
                      <a:pt x="10083800" y="2020489"/>
                    </a:lnTo>
                    <a:cubicBezTo>
                      <a:pt x="10083800" y="2252011"/>
                      <a:pt x="9953498" y="2439416"/>
                      <a:pt x="9793224" y="2439416"/>
                    </a:cubicBezTo>
                    <a:lnTo>
                      <a:pt x="9793224" y="2420880"/>
                    </a:lnTo>
                    <a:lnTo>
                      <a:pt x="9793224" y="2439416"/>
                    </a:lnTo>
                    <a:lnTo>
                      <a:pt x="290576" y="2439416"/>
                    </a:lnTo>
                    <a:lnTo>
                      <a:pt x="290576" y="2420880"/>
                    </a:lnTo>
                    <a:lnTo>
                      <a:pt x="290576" y="2439416"/>
                    </a:lnTo>
                    <a:cubicBezTo>
                      <a:pt x="130302" y="2439416"/>
                      <a:pt x="0" y="2252011"/>
                      <a:pt x="0" y="2020489"/>
                    </a:cubicBezTo>
                    <a:lnTo>
                      <a:pt x="0" y="418927"/>
                    </a:lnTo>
                    <a:lnTo>
                      <a:pt x="12700" y="418927"/>
                    </a:lnTo>
                    <a:lnTo>
                      <a:pt x="0" y="418927"/>
                    </a:lnTo>
                    <a:moveTo>
                      <a:pt x="25400" y="418927"/>
                    </a:moveTo>
                    <a:lnTo>
                      <a:pt x="25400" y="2020489"/>
                    </a:lnTo>
                    <a:lnTo>
                      <a:pt x="12700" y="2020489"/>
                    </a:lnTo>
                    <a:lnTo>
                      <a:pt x="25400" y="2020489"/>
                    </a:lnTo>
                    <a:cubicBezTo>
                      <a:pt x="25400" y="2231250"/>
                      <a:pt x="144018" y="2402343"/>
                      <a:pt x="290576" y="2402343"/>
                    </a:cubicBezTo>
                    <a:lnTo>
                      <a:pt x="9793224" y="2402343"/>
                    </a:lnTo>
                    <a:cubicBezTo>
                      <a:pt x="9939782" y="2402343"/>
                      <a:pt x="10058400" y="2231065"/>
                      <a:pt x="10058400" y="2020489"/>
                    </a:cubicBezTo>
                    <a:lnTo>
                      <a:pt x="10058400" y="418927"/>
                    </a:lnTo>
                    <a:cubicBezTo>
                      <a:pt x="10058400" y="208351"/>
                      <a:pt x="9939782" y="37073"/>
                      <a:pt x="9793224" y="37073"/>
                    </a:cubicBezTo>
                    <a:lnTo>
                      <a:pt x="290576" y="37073"/>
                    </a:lnTo>
                    <a:lnTo>
                      <a:pt x="290576" y="18537"/>
                    </a:lnTo>
                    <a:lnTo>
                      <a:pt x="290576" y="37073"/>
                    </a:lnTo>
                    <a:cubicBezTo>
                      <a:pt x="144018" y="37073"/>
                      <a:pt x="25400" y="208351"/>
                      <a:pt x="25400" y="418927"/>
                    </a:cubicBezTo>
                    <a:close/>
                  </a:path>
                </a:pathLst>
              </a:custGeom>
              <a:solidFill>
                <a:srgbClr val="74DE62"/>
              </a:solidFill>
            </p:spPr>
          </p:sp>
        </p:grpSp>
        <p:sp>
          <p:nvSpPr>
            <p:cNvPr name="TextBox 39" id="39"/>
            <p:cNvSpPr txBox="true"/>
            <p:nvPr/>
          </p:nvSpPr>
          <p:spPr>
            <a:xfrm rot="0">
              <a:off x="696726" y="126412"/>
              <a:ext cx="1034468" cy="304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en-US" sz="1500" b="true">
                  <a:solidFill>
                    <a:srgbClr val="74DE62"/>
                  </a:solidFill>
                  <a:latin typeface="Aptos Bold"/>
                  <a:ea typeface="Aptos Bold"/>
                  <a:cs typeface="Aptos Bold"/>
                  <a:sym typeface="Aptos Bold"/>
                </a:rPr>
                <a:t>BLASTp</a:t>
              </a:r>
            </a:p>
          </p:txBody>
        </p:sp>
        <p:grpSp>
          <p:nvGrpSpPr>
            <p:cNvPr name="Group 40" id="40"/>
            <p:cNvGrpSpPr/>
            <p:nvPr/>
          </p:nvGrpSpPr>
          <p:grpSpPr>
            <a:xfrm rot="0">
              <a:off x="10182606" y="0"/>
              <a:ext cx="2305050" cy="557625"/>
              <a:chOff x="0" y="0"/>
              <a:chExt cx="10083800" cy="2439416"/>
            </a:xfrm>
          </p:grpSpPr>
          <p:sp>
            <p:nvSpPr>
              <p:cNvPr name="Freeform 41" id="41"/>
              <p:cNvSpPr/>
              <p:nvPr/>
            </p:nvSpPr>
            <p:spPr>
              <a:xfrm flipH="false" flipV="false" rot="0">
                <a:off x="12700" y="18537"/>
                <a:ext cx="10058400" cy="2402343"/>
              </a:xfrm>
              <a:custGeom>
                <a:avLst/>
                <a:gdLst/>
                <a:ahLst/>
                <a:cxnLst/>
                <a:rect r="r" b="b" t="t" l="l"/>
                <a:pathLst>
                  <a:path h="2402343" w="10058400">
                    <a:moveTo>
                      <a:pt x="0" y="400390"/>
                    </a:moveTo>
                    <a:cubicBezTo>
                      <a:pt x="0" y="179248"/>
                      <a:pt x="124460" y="0"/>
                      <a:pt x="277876" y="0"/>
                    </a:cubicBezTo>
                    <a:lnTo>
                      <a:pt x="9780524" y="0"/>
                    </a:lnTo>
                    <a:cubicBezTo>
                      <a:pt x="9933940" y="0"/>
                      <a:pt x="10058400" y="179248"/>
                      <a:pt x="10058400" y="400390"/>
                    </a:cubicBezTo>
                    <a:lnTo>
                      <a:pt x="10058400" y="2001952"/>
                    </a:lnTo>
                    <a:cubicBezTo>
                      <a:pt x="10058400" y="2223094"/>
                      <a:pt x="9933940" y="2402343"/>
                      <a:pt x="9780524" y="2402343"/>
                    </a:cubicBezTo>
                    <a:lnTo>
                      <a:pt x="277876" y="2402343"/>
                    </a:lnTo>
                    <a:cubicBezTo>
                      <a:pt x="124460" y="2402343"/>
                      <a:pt x="0" y="2223094"/>
                      <a:pt x="0" y="2001952"/>
                    </a:cubicBezTo>
                    <a:close/>
                  </a:path>
                </a:pathLst>
              </a:custGeom>
              <a:solidFill>
                <a:srgbClr val="0C2D1C"/>
              </a:solidFill>
            </p:spPr>
          </p:sp>
          <p:sp>
            <p:nvSpPr>
              <p:cNvPr name="Freeform 42" id="42"/>
              <p:cNvSpPr/>
              <p:nvPr/>
            </p:nvSpPr>
            <p:spPr>
              <a:xfrm flipH="false" flipV="false" rot="0">
                <a:off x="0" y="0"/>
                <a:ext cx="10083800" cy="2439416"/>
              </a:xfrm>
              <a:custGeom>
                <a:avLst/>
                <a:gdLst/>
                <a:ahLst/>
                <a:cxnLst/>
                <a:rect r="r" b="b" t="t" l="l"/>
                <a:pathLst>
                  <a:path h="2439416" w="10083800">
                    <a:moveTo>
                      <a:pt x="0" y="418927"/>
                    </a:moveTo>
                    <a:cubicBezTo>
                      <a:pt x="0" y="187405"/>
                      <a:pt x="130302" y="0"/>
                      <a:pt x="290576" y="0"/>
                    </a:cubicBezTo>
                    <a:lnTo>
                      <a:pt x="9793224" y="0"/>
                    </a:lnTo>
                    <a:lnTo>
                      <a:pt x="9793224" y="18537"/>
                    </a:lnTo>
                    <a:lnTo>
                      <a:pt x="9793224" y="0"/>
                    </a:lnTo>
                    <a:cubicBezTo>
                      <a:pt x="9953498" y="0"/>
                      <a:pt x="10083800" y="187405"/>
                      <a:pt x="10083800" y="418927"/>
                    </a:cubicBezTo>
                    <a:lnTo>
                      <a:pt x="10071100" y="418927"/>
                    </a:lnTo>
                    <a:lnTo>
                      <a:pt x="10083800" y="418927"/>
                    </a:lnTo>
                    <a:lnTo>
                      <a:pt x="10083800" y="2020489"/>
                    </a:lnTo>
                    <a:lnTo>
                      <a:pt x="10071100" y="2020489"/>
                    </a:lnTo>
                    <a:lnTo>
                      <a:pt x="10083800" y="2020489"/>
                    </a:lnTo>
                    <a:cubicBezTo>
                      <a:pt x="10083800" y="2252011"/>
                      <a:pt x="9953498" y="2439416"/>
                      <a:pt x="9793224" y="2439416"/>
                    </a:cubicBezTo>
                    <a:lnTo>
                      <a:pt x="9793224" y="2420880"/>
                    </a:lnTo>
                    <a:lnTo>
                      <a:pt x="9793224" y="2439416"/>
                    </a:lnTo>
                    <a:lnTo>
                      <a:pt x="290576" y="2439416"/>
                    </a:lnTo>
                    <a:lnTo>
                      <a:pt x="290576" y="2420880"/>
                    </a:lnTo>
                    <a:lnTo>
                      <a:pt x="290576" y="2439416"/>
                    </a:lnTo>
                    <a:cubicBezTo>
                      <a:pt x="130302" y="2439416"/>
                      <a:pt x="0" y="2252011"/>
                      <a:pt x="0" y="2020489"/>
                    </a:cubicBezTo>
                    <a:lnTo>
                      <a:pt x="0" y="418927"/>
                    </a:lnTo>
                    <a:lnTo>
                      <a:pt x="12700" y="418927"/>
                    </a:lnTo>
                    <a:lnTo>
                      <a:pt x="0" y="418927"/>
                    </a:lnTo>
                    <a:moveTo>
                      <a:pt x="25400" y="418927"/>
                    </a:moveTo>
                    <a:lnTo>
                      <a:pt x="25400" y="2020489"/>
                    </a:lnTo>
                    <a:lnTo>
                      <a:pt x="12700" y="2020489"/>
                    </a:lnTo>
                    <a:lnTo>
                      <a:pt x="25400" y="2020489"/>
                    </a:lnTo>
                    <a:cubicBezTo>
                      <a:pt x="25400" y="2231250"/>
                      <a:pt x="144018" y="2402343"/>
                      <a:pt x="290576" y="2402343"/>
                    </a:cubicBezTo>
                    <a:lnTo>
                      <a:pt x="9793224" y="2402343"/>
                    </a:lnTo>
                    <a:cubicBezTo>
                      <a:pt x="9939782" y="2402343"/>
                      <a:pt x="10058400" y="2231065"/>
                      <a:pt x="10058400" y="2020489"/>
                    </a:cubicBezTo>
                    <a:lnTo>
                      <a:pt x="10058400" y="418927"/>
                    </a:lnTo>
                    <a:cubicBezTo>
                      <a:pt x="10058400" y="208351"/>
                      <a:pt x="9939782" y="37073"/>
                      <a:pt x="9793224" y="37073"/>
                    </a:cubicBezTo>
                    <a:lnTo>
                      <a:pt x="290576" y="37073"/>
                    </a:lnTo>
                    <a:lnTo>
                      <a:pt x="290576" y="18537"/>
                    </a:lnTo>
                    <a:lnTo>
                      <a:pt x="290576" y="37073"/>
                    </a:lnTo>
                    <a:cubicBezTo>
                      <a:pt x="144018" y="37073"/>
                      <a:pt x="25400" y="208351"/>
                      <a:pt x="25400" y="418927"/>
                    </a:cubicBezTo>
                    <a:close/>
                  </a:path>
                </a:pathLst>
              </a:custGeom>
              <a:solidFill>
                <a:srgbClr val="74DE62"/>
              </a:solidFill>
            </p:spPr>
          </p:sp>
        </p:grpSp>
        <p:sp>
          <p:nvSpPr>
            <p:cNvPr name="TextBox 43" id="43"/>
            <p:cNvSpPr txBox="true"/>
            <p:nvPr/>
          </p:nvSpPr>
          <p:spPr>
            <a:xfrm rot="0">
              <a:off x="10727153" y="126412"/>
              <a:ext cx="1215957" cy="304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en-US" sz="1500" b="true">
                  <a:solidFill>
                    <a:srgbClr val="74DE62"/>
                  </a:solidFill>
                  <a:latin typeface="Aptos Bold"/>
                  <a:ea typeface="Aptos Bold"/>
                  <a:cs typeface="Aptos Bold"/>
                  <a:sym typeface="Aptos Bold"/>
                </a:rPr>
                <a:t>Foldseek</a:t>
              </a:r>
            </a:p>
          </p:txBody>
        </p:sp>
      </p:grpSp>
      <p:sp>
        <p:nvSpPr>
          <p:cNvPr name="Freeform 44" id="44"/>
          <p:cNvSpPr/>
          <p:nvPr/>
        </p:nvSpPr>
        <p:spPr>
          <a:xfrm flipH="false" flipV="false" rot="-2895264">
            <a:off x="9918725" y="5944452"/>
            <a:ext cx="1087770" cy="1912562"/>
          </a:xfrm>
          <a:custGeom>
            <a:avLst/>
            <a:gdLst/>
            <a:ahLst/>
            <a:cxnLst/>
            <a:rect r="r" b="b" t="t" l="l"/>
            <a:pathLst>
              <a:path h="1912562" w="1087770">
                <a:moveTo>
                  <a:pt x="0" y="0"/>
                </a:moveTo>
                <a:lnTo>
                  <a:pt x="1087770" y="0"/>
                </a:lnTo>
                <a:lnTo>
                  <a:pt x="1087770" y="1912562"/>
                </a:lnTo>
                <a:lnTo>
                  <a:pt x="0" y="19125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5" id="45"/>
          <p:cNvSpPr txBox="true"/>
          <p:nvPr/>
        </p:nvSpPr>
        <p:spPr>
          <a:xfrm rot="0">
            <a:off x="16692372" y="9454896"/>
            <a:ext cx="905256" cy="210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439"/>
              </a:lnSpc>
            </a:pPr>
            <a:r>
              <a:rPr lang="en-US" sz="1200">
                <a:solidFill>
                  <a:srgbClr val="BECDC3"/>
                </a:solidFill>
                <a:latin typeface="Aptos"/>
                <a:ea typeface="Aptos"/>
                <a:cs typeface="Aptos"/>
                <a:sym typeface="Aptos"/>
              </a:rPr>
              <a:t>01/12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3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903416" y="-555784"/>
            <a:ext cx="3168967" cy="3168967"/>
            <a:chOff x="0" y="0"/>
            <a:chExt cx="4225290" cy="422529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9525" y="9525"/>
              <a:ext cx="4206240" cy="4206240"/>
            </a:xfrm>
            <a:custGeom>
              <a:avLst/>
              <a:gdLst/>
              <a:ahLst/>
              <a:cxnLst/>
              <a:rect r="r" b="b" t="t" l="l"/>
              <a:pathLst>
                <a:path h="4206240" w="4206240">
                  <a:moveTo>
                    <a:pt x="0" y="2103120"/>
                  </a:moveTo>
                  <a:cubicBezTo>
                    <a:pt x="0" y="941578"/>
                    <a:pt x="941578" y="0"/>
                    <a:pt x="2103120" y="0"/>
                  </a:cubicBezTo>
                  <a:cubicBezTo>
                    <a:pt x="3264662" y="0"/>
                    <a:pt x="4206240" y="941578"/>
                    <a:pt x="4206240" y="2103120"/>
                  </a:cubicBezTo>
                  <a:cubicBezTo>
                    <a:pt x="4206240" y="3264662"/>
                    <a:pt x="3264662" y="4206240"/>
                    <a:pt x="2103120" y="4206240"/>
                  </a:cubicBezTo>
                  <a:cubicBezTo>
                    <a:pt x="941578" y="4206240"/>
                    <a:pt x="0" y="3264662"/>
                    <a:pt x="0" y="2103120"/>
                  </a:cubicBezTo>
                  <a:close/>
                </a:path>
              </a:pathLst>
            </a:custGeom>
            <a:solidFill>
              <a:srgbClr val="283732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25290" cy="4225290"/>
            </a:xfrm>
            <a:custGeom>
              <a:avLst/>
              <a:gdLst/>
              <a:ahLst/>
              <a:cxnLst/>
              <a:rect r="r" b="b" t="t" l="l"/>
              <a:pathLst>
                <a:path h="4225290" w="4225290">
                  <a:moveTo>
                    <a:pt x="0" y="2112645"/>
                  </a:moveTo>
                  <a:cubicBezTo>
                    <a:pt x="0" y="945896"/>
                    <a:pt x="945896" y="0"/>
                    <a:pt x="2112645" y="0"/>
                  </a:cubicBezTo>
                  <a:lnTo>
                    <a:pt x="2112645" y="9525"/>
                  </a:lnTo>
                  <a:lnTo>
                    <a:pt x="2112645" y="0"/>
                  </a:lnTo>
                  <a:cubicBezTo>
                    <a:pt x="3279394" y="0"/>
                    <a:pt x="4225290" y="945896"/>
                    <a:pt x="4225290" y="2112645"/>
                  </a:cubicBezTo>
                  <a:lnTo>
                    <a:pt x="4215765" y="2112645"/>
                  </a:lnTo>
                  <a:lnTo>
                    <a:pt x="4225290" y="2112645"/>
                  </a:lnTo>
                  <a:cubicBezTo>
                    <a:pt x="4225290" y="3279394"/>
                    <a:pt x="3279394" y="4225290"/>
                    <a:pt x="2112645" y="4225290"/>
                  </a:cubicBezTo>
                  <a:lnTo>
                    <a:pt x="2112645" y="4215765"/>
                  </a:lnTo>
                  <a:lnTo>
                    <a:pt x="2112645" y="4225290"/>
                  </a:lnTo>
                  <a:cubicBezTo>
                    <a:pt x="945896" y="4225290"/>
                    <a:pt x="0" y="3279394"/>
                    <a:pt x="0" y="2112645"/>
                  </a:cubicBezTo>
                  <a:lnTo>
                    <a:pt x="9525" y="2112645"/>
                  </a:lnTo>
                  <a:lnTo>
                    <a:pt x="19050" y="2112645"/>
                  </a:lnTo>
                  <a:lnTo>
                    <a:pt x="9525" y="2112645"/>
                  </a:lnTo>
                  <a:lnTo>
                    <a:pt x="0" y="2112645"/>
                  </a:lnTo>
                  <a:moveTo>
                    <a:pt x="19050" y="2112645"/>
                  </a:moveTo>
                  <a:cubicBezTo>
                    <a:pt x="19050" y="2117852"/>
                    <a:pt x="14732" y="2122170"/>
                    <a:pt x="9525" y="2122170"/>
                  </a:cubicBezTo>
                  <a:cubicBezTo>
                    <a:pt x="4318" y="2122170"/>
                    <a:pt x="0" y="2117852"/>
                    <a:pt x="0" y="2112645"/>
                  </a:cubicBezTo>
                  <a:cubicBezTo>
                    <a:pt x="0" y="2107438"/>
                    <a:pt x="4318" y="2103120"/>
                    <a:pt x="9525" y="2103120"/>
                  </a:cubicBezTo>
                  <a:cubicBezTo>
                    <a:pt x="14732" y="2103120"/>
                    <a:pt x="19050" y="2107438"/>
                    <a:pt x="19050" y="2112645"/>
                  </a:cubicBezTo>
                  <a:cubicBezTo>
                    <a:pt x="19050" y="3268853"/>
                    <a:pt x="956437" y="4206240"/>
                    <a:pt x="2112645" y="4206240"/>
                  </a:cubicBezTo>
                  <a:cubicBezTo>
                    <a:pt x="3268853" y="4206240"/>
                    <a:pt x="4206240" y="3268853"/>
                    <a:pt x="4206240" y="2112645"/>
                  </a:cubicBezTo>
                  <a:cubicBezTo>
                    <a:pt x="4206240" y="956437"/>
                    <a:pt x="3268853" y="19050"/>
                    <a:pt x="2112645" y="19050"/>
                  </a:cubicBezTo>
                  <a:lnTo>
                    <a:pt x="2112645" y="9525"/>
                  </a:lnTo>
                  <a:lnTo>
                    <a:pt x="2112645" y="19050"/>
                  </a:lnTo>
                  <a:cubicBezTo>
                    <a:pt x="956437" y="19050"/>
                    <a:pt x="19050" y="956437"/>
                    <a:pt x="19050" y="2112645"/>
                  </a:cubicBezTo>
                  <a:close/>
                </a:path>
              </a:pathLst>
            </a:custGeom>
            <a:solidFill>
              <a:srgbClr val="283732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-1104424" y="8359616"/>
            <a:ext cx="2757488" cy="2757488"/>
            <a:chOff x="0" y="0"/>
            <a:chExt cx="3676650" cy="367665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9525" y="9525"/>
              <a:ext cx="3657600" cy="3657600"/>
            </a:xfrm>
            <a:custGeom>
              <a:avLst/>
              <a:gdLst/>
              <a:ahLst/>
              <a:cxnLst/>
              <a:rect r="r" b="b" t="t" l="l"/>
              <a:pathLst>
                <a:path h="3657600" w="3657600">
                  <a:moveTo>
                    <a:pt x="0" y="1828800"/>
                  </a:moveTo>
                  <a:cubicBezTo>
                    <a:pt x="0" y="818769"/>
                    <a:pt x="818769" y="0"/>
                    <a:pt x="1828800" y="0"/>
                  </a:cubicBezTo>
                  <a:cubicBezTo>
                    <a:pt x="2838831" y="0"/>
                    <a:pt x="3657600" y="818769"/>
                    <a:pt x="3657600" y="1828800"/>
                  </a:cubicBezTo>
                  <a:cubicBezTo>
                    <a:pt x="3657600" y="2838831"/>
                    <a:pt x="2838831" y="3657600"/>
                    <a:pt x="1828800" y="3657600"/>
                  </a:cubicBezTo>
                  <a:cubicBezTo>
                    <a:pt x="818769" y="3657600"/>
                    <a:pt x="0" y="2838831"/>
                    <a:pt x="0" y="1828800"/>
                  </a:cubicBezTo>
                  <a:close/>
                </a:path>
              </a:pathLst>
            </a:custGeom>
            <a:solidFill>
              <a:srgbClr val="21322D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676650" cy="3676650"/>
            </a:xfrm>
            <a:custGeom>
              <a:avLst/>
              <a:gdLst/>
              <a:ahLst/>
              <a:cxnLst/>
              <a:rect r="r" b="b" t="t" l="l"/>
              <a:pathLst>
                <a:path h="3676650" w="3676650">
                  <a:moveTo>
                    <a:pt x="0" y="1838325"/>
                  </a:moveTo>
                  <a:cubicBezTo>
                    <a:pt x="0" y="823087"/>
                    <a:pt x="823087" y="0"/>
                    <a:pt x="1838325" y="0"/>
                  </a:cubicBezTo>
                  <a:lnTo>
                    <a:pt x="1838325" y="9525"/>
                  </a:lnTo>
                  <a:lnTo>
                    <a:pt x="1838325" y="0"/>
                  </a:lnTo>
                  <a:cubicBezTo>
                    <a:pt x="2853563" y="0"/>
                    <a:pt x="3676650" y="823087"/>
                    <a:pt x="3676650" y="1838325"/>
                  </a:cubicBezTo>
                  <a:cubicBezTo>
                    <a:pt x="3676650" y="2853563"/>
                    <a:pt x="2853563" y="3676650"/>
                    <a:pt x="1838325" y="3676650"/>
                  </a:cubicBezTo>
                  <a:lnTo>
                    <a:pt x="1838325" y="3667125"/>
                  </a:lnTo>
                  <a:lnTo>
                    <a:pt x="1838325" y="3676650"/>
                  </a:lnTo>
                  <a:cubicBezTo>
                    <a:pt x="823087" y="3676650"/>
                    <a:pt x="0" y="2853563"/>
                    <a:pt x="0" y="1838325"/>
                  </a:cubicBezTo>
                  <a:lnTo>
                    <a:pt x="9525" y="1838325"/>
                  </a:lnTo>
                  <a:lnTo>
                    <a:pt x="17526" y="1843532"/>
                  </a:lnTo>
                  <a:cubicBezTo>
                    <a:pt x="15240" y="1847088"/>
                    <a:pt x="10922" y="1848739"/>
                    <a:pt x="6858" y="1847469"/>
                  </a:cubicBezTo>
                  <a:cubicBezTo>
                    <a:pt x="2794" y="1846199"/>
                    <a:pt x="0" y="1842516"/>
                    <a:pt x="0" y="1838325"/>
                  </a:cubicBezTo>
                  <a:moveTo>
                    <a:pt x="19050" y="1838325"/>
                  </a:moveTo>
                  <a:lnTo>
                    <a:pt x="9525" y="1838325"/>
                  </a:lnTo>
                  <a:lnTo>
                    <a:pt x="1524" y="1833118"/>
                  </a:lnTo>
                  <a:cubicBezTo>
                    <a:pt x="3810" y="1829562"/>
                    <a:pt x="8128" y="1827911"/>
                    <a:pt x="12192" y="1829181"/>
                  </a:cubicBezTo>
                  <a:cubicBezTo>
                    <a:pt x="16256" y="1830451"/>
                    <a:pt x="19050" y="1834134"/>
                    <a:pt x="19050" y="1838325"/>
                  </a:cubicBezTo>
                  <a:cubicBezTo>
                    <a:pt x="19050" y="2843022"/>
                    <a:pt x="833628" y="3657600"/>
                    <a:pt x="1838325" y="3657600"/>
                  </a:cubicBezTo>
                  <a:cubicBezTo>
                    <a:pt x="2843022" y="3657600"/>
                    <a:pt x="3657600" y="2843022"/>
                    <a:pt x="3657600" y="1838325"/>
                  </a:cubicBezTo>
                  <a:lnTo>
                    <a:pt x="3667125" y="1838325"/>
                  </a:lnTo>
                  <a:lnTo>
                    <a:pt x="3657600" y="1838325"/>
                  </a:lnTo>
                  <a:cubicBezTo>
                    <a:pt x="3657600" y="833628"/>
                    <a:pt x="2843022" y="19050"/>
                    <a:pt x="1838325" y="19050"/>
                  </a:cubicBezTo>
                  <a:lnTo>
                    <a:pt x="1838325" y="9525"/>
                  </a:lnTo>
                  <a:lnTo>
                    <a:pt x="1838325" y="19050"/>
                  </a:lnTo>
                  <a:cubicBezTo>
                    <a:pt x="833628" y="19050"/>
                    <a:pt x="19050" y="833628"/>
                    <a:pt x="19050" y="1838325"/>
                  </a:cubicBezTo>
                  <a:close/>
                </a:path>
              </a:pathLst>
            </a:custGeom>
            <a:solidFill>
              <a:srgbClr val="21322D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747236" y="678656"/>
            <a:ext cx="864680" cy="82868"/>
            <a:chOff x="0" y="0"/>
            <a:chExt cx="1152906" cy="11049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9525" y="9525"/>
              <a:ext cx="1133856" cy="91440"/>
            </a:xfrm>
            <a:custGeom>
              <a:avLst/>
              <a:gdLst/>
              <a:ahLst/>
              <a:cxnLst/>
              <a:rect r="r" b="b" t="t" l="l"/>
              <a:pathLst>
                <a:path h="91440" w="1133856">
                  <a:moveTo>
                    <a:pt x="0" y="0"/>
                  </a:moveTo>
                  <a:lnTo>
                    <a:pt x="1133856" y="0"/>
                  </a:lnTo>
                  <a:lnTo>
                    <a:pt x="1133856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74DE62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52906" cy="110490"/>
            </a:xfrm>
            <a:custGeom>
              <a:avLst/>
              <a:gdLst/>
              <a:ahLst/>
              <a:cxnLst/>
              <a:rect r="r" b="b" t="t" l="l"/>
              <a:pathLst>
                <a:path h="110490" w="1152906">
                  <a:moveTo>
                    <a:pt x="9525" y="0"/>
                  </a:moveTo>
                  <a:lnTo>
                    <a:pt x="1143381" y="0"/>
                  </a:lnTo>
                  <a:cubicBezTo>
                    <a:pt x="1148588" y="0"/>
                    <a:pt x="1152906" y="4318"/>
                    <a:pt x="1152906" y="9525"/>
                  </a:cubicBezTo>
                  <a:lnTo>
                    <a:pt x="1152906" y="100965"/>
                  </a:lnTo>
                  <a:cubicBezTo>
                    <a:pt x="1152906" y="106172"/>
                    <a:pt x="1148588" y="110490"/>
                    <a:pt x="1143381" y="110490"/>
                  </a:cubicBezTo>
                  <a:lnTo>
                    <a:pt x="9525" y="110490"/>
                  </a:lnTo>
                  <a:cubicBezTo>
                    <a:pt x="4318" y="110490"/>
                    <a:pt x="0" y="106172"/>
                    <a:pt x="0" y="100965"/>
                  </a:cubicBezTo>
                  <a:lnTo>
                    <a:pt x="0" y="9525"/>
                  </a:lnTo>
                  <a:cubicBezTo>
                    <a:pt x="0" y="4318"/>
                    <a:pt x="4318" y="0"/>
                    <a:pt x="9525" y="0"/>
                  </a:cubicBezTo>
                  <a:moveTo>
                    <a:pt x="9525" y="19050"/>
                  </a:moveTo>
                  <a:lnTo>
                    <a:pt x="9525" y="9525"/>
                  </a:lnTo>
                  <a:lnTo>
                    <a:pt x="19050" y="9525"/>
                  </a:lnTo>
                  <a:lnTo>
                    <a:pt x="19050" y="100965"/>
                  </a:lnTo>
                  <a:lnTo>
                    <a:pt x="9525" y="100965"/>
                  </a:lnTo>
                  <a:lnTo>
                    <a:pt x="9525" y="91440"/>
                  </a:lnTo>
                  <a:lnTo>
                    <a:pt x="1143381" y="91440"/>
                  </a:lnTo>
                  <a:lnTo>
                    <a:pt x="1143381" y="100965"/>
                  </a:lnTo>
                  <a:lnTo>
                    <a:pt x="1133856" y="100965"/>
                  </a:lnTo>
                  <a:lnTo>
                    <a:pt x="1133856" y="9525"/>
                  </a:lnTo>
                  <a:lnTo>
                    <a:pt x="1143381" y="9525"/>
                  </a:lnTo>
                  <a:lnTo>
                    <a:pt x="1143381" y="19050"/>
                  </a:lnTo>
                  <a:lnTo>
                    <a:pt x="9525" y="19050"/>
                  </a:lnTo>
                  <a:close/>
                </a:path>
              </a:pathLst>
            </a:custGeom>
            <a:solidFill>
              <a:srgbClr val="74DE62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619882" y="5795772"/>
            <a:ext cx="6602730" cy="2563844"/>
            <a:chOff x="0" y="0"/>
            <a:chExt cx="8803640" cy="341845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2700" y="22314"/>
              <a:ext cx="8778240" cy="3373832"/>
            </a:xfrm>
            <a:custGeom>
              <a:avLst/>
              <a:gdLst/>
              <a:ahLst/>
              <a:cxnLst/>
              <a:rect r="r" b="b" t="t" l="l"/>
              <a:pathLst>
                <a:path h="3373832" w="8778240">
                  <a:moveTo>
                    <a:pt x="0" y="562305"/>
                  </a:moveTo>
                  <a:cubicBezTo>
                    <a:pt x="0" y="251698"/>
                    <a:pt x="144780" y="0"/>
                    <a:pt x="323342" y="0"/>
                  </a:cubicBezTo>
                  <a:lnTo>
                    <a:pt x="8454898" y="0"/>
                  </a:lnTo>
                  <a:cubicBezTo>
                    <a:pt x="8633460" y="0"/>
                    <a:pt x="8778240" y="251698"/>
                    <a:pt x="8778240" y="562305"/>
                  </a:cubicBezTo>
                  <a:lnTo>
                    <a:pt x="8778240" y="2811526"/>
                  </a:lnTo>
                  <a:cubicBezTo>
                    <a:pt x="8778240" y="3122133"/>
                    <a:pt x="8633460" y="3373831"/>
                    <a:pt x="8454898" y="3373831"/>
                  </a:cubicBezTo>
                  <a:lnTo>
                    <a:pt x="323342" y="3373831"/>
                  </a:lnTo>
                  <a:cubicBezTo>
                    <a:pt x="144780" y="3373831"/>
                    <a:pt x="0" y="3122133"/>
                    <a:pt x="0" y="2811526"/>
                  </a:cubicBezTo>
                  <a:close/>
                </a:path>
              </a:pathLst>
            </a:custGeom>
            <a:solidFill>
              <a:srgbClr val="0A1E12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803640" cy="3418459"/>
            </a:xfrm>
            <a:custGeom>
              <a:avLst/>
              <a:gdLst/>
              <a:ahLst/>
              <a:cxnLst/>
              <a:rect r="r" b="b" t="t" l="l"/>
              <a:pathLst>
                <a:path h="3418459" w="8803640">
                  <a:moveTo>
                    <a:pt x="0" y="584619"/>
                  </a:moveTo>
                  <a:cubicBezTo>
                    <a:pt x="0" y="261517"/>
                    <a:pt x="150622" y="0"/>
                    <a:pt x="336042" y="0"/>
                  </a:cubicBezTo>
                  <a:lnTo>
                    <a:pt x="8467598" y="0"/>
                  </a:lnTo>
                  <a:lnTo>
                    <a:pt x="8467598" y="22314"/>
                  </a:lnTo>
                  <a:lnTo>
                    <a:pt x="8467598" y="0"/>
                  </a:lnTo>
                  <a:cubicBezTo>
                    <a:pt x="8653018" y="0"/>
                    <a:pt x="8803640" y="261517"/>
                    <a:pt x="8803640" y="584619"/>
                  </a:cubicBezTo>
                  <a:lnTo>
                    <a:pt x="8790940" y="584619"/>
                  </a:lnTo>
                  <a:lnTo>
                    <a:pt x="8803640" y="584619"/>
                  </a:lnTo>
                  <a:lnTo>
                    <a:pt x="8803640" y="2833840"/>
                  </a:lnTo>
                  <a:lnTo>
                    <a:pt x="8790940" y="2833840"/>
                  </a:lnTo>
                  <a:lnTo>
                    <a:pt x="8803640" y="2833840"/>
                  </a:lnTo>
                  <a:cubicBezTo>
                    <a:pt x="8803640" y="3156942"/>
                    <a:pt x="8653018" y="3418459"/>
                    <a:pt x="8467598" y="3418459"/>
                  </a:cubicBezTo>
                  <a:lnTo>
                    <a:pt x="8467598" y="3396145"/>
                  </a:lnTo>
                  <a:lnTo>
                    <a:pt x="8467598" y="3418459"/>
                  </a:lnTo>
                  <a:lnTo>
                    <a:pt x="336042" y="3418459"/>
                  </a:lnTo>
                  <a:lnTo>
                    <a:pt x="336042" y="3396145"/>
                  </a:lnTo>
                  <a:lnTo>
                    <a:pt x="336042" y="3418459"/>
                  </a:lnTo>
                  <a:cubicBezTo>
                    <a:pt x="150622" y="3418459"/>
                    <a:pt x="0" y="3156942"/>
                    <a:pt x="0" y="2833840"/>
                  </a:cubicBezTo>
                  <a:lnTo>
                    <a:pt x="0" y="584619"/>
                  </a:lnTo>
                  <a:lnTo>
                    <a:pt x="12700" y="584619"/>
                  </a:lnTo>
                  <a:lnTo>
                    <a:pt x="0" y="584619"/>
                  </a:lnTo>
                  <a:moveTo>
                    <a:pt x="25400" y="584619"/>
                  </a:moveTo>
                  <a:lnTo>
                    <a:pt x="25400" y="2833840"/>
                  </a:lnTo>
                  <a:lnTo>
                    <a:pt x="12700" y="2833840"/>
                  </a:lnTo>
                  <a:lnTo>
                    <a:pt x="25400" y="2833840"/>
                  </a:lnTo>
                  <a:cubicBezTo>
                    <a:pt x="25400" y="3131951"/>
                    <a:pt x="164338" y="3373832"/>
                    <a:pt x="336042" y="3373832"/>
                  </a:cubicBezTo>
                  <a:lnTo>
                    <a:pt x="8467598" y="3373832"/>
                  </a:lnTo>
                  <a:cubicBezTo>
                    <a:pt x="8639302" y="3373832"/>
                    <a:pt x="8778240" y="3131951"/>
                    <a:pt x="8778240" y="2833840"/>
                  </a:cubicBezTo>
                  <a:lnTo>
                    <a:pt x="8778240" y="584619"/>
                  </a:lnTo>
                  <a:cubicBezTo>
                    <a:pt x="8778240" y="286508"/>
                    <a:pt x="8639302" y="44627"/>
                    <a:pt x="8467598" y="44627"/>
                  </a:cubicBezTo>
                  <a:lnTo>
                    <a:pt x="336042" y="44627"/>
                  </a:lnTo>
                  <a:lnTo>
                    <a:pt x="336042" y="22314"/>
                  </a:lnTo>
                  <a:lnTo>
                    <a:pt x="336042" y="44627"/>
                  </a:lnTo>
                  <a:cubicBezTo>
                    <a:pt x="164338" y="44627"/>
                    <a:pt x="25400" y="286508"/>
                    <a:pt x="25400" y="584619"/>
                  </a:cubicBezTo>
                  <a:close/>
                </a:path>
              </a:pathLst>
            </a:custGeom>
            <a:solidFill>
              <a:srgbClr val="74DE62"/>
            </a:solid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9834372" y="3019331"/>
            <a:ext cx="6958336" cy="4319967"/>
          </a:xfrm>
          <a:custGeom>
            <a:avLst/>
            <a:gdLst/>
            <a:ahLst/>
            <a:cxnLst/>
            <a:rect r="r" b="b" t="t" l="l"/>
            <a:pathLst>
              <a:path h="4319967" w="6958336">
                <a:moveTo>
                  <a:pt x="0" y="0"/>
                </a:moveTo>
                <a:lnTo>
                  <a:pt x="6958336" y="0"/>
                </a:lnTo>
                <a:lnTo>
                  <a:pt x="6958336" y="4319966"/>
                </a:lnTo>
                <a:lnTo>
                  <a:pt x="0" y="43199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w="19050" cap="sq">
            <a:solidFill>
              <a:srgbClr val="00A600"/>
            </a:solidFill>
            <a:prstDash val="solid"/>
            <a:miter/>
          </a:ln>
        </p:spPr>
      </p:sp>
      <p:sp>
        <p:nvSpPr>
          <p:cNvPr name="TextBox 15" id="15"/>
          <p:cNvSpPr txBox="true"/>
          <p:nvPr/>
        </p:nvSpPr>
        <p:spPr>
          <a:xfrm rot="0">
            <a:off x="781812" y="402336"/>
            <a:ext cx="6117336" cy="2377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86"/>
              </a:lnSpc>
            </a:pPr>
            <a:r>
              <a:rPr lang="en-US" sz="1155" b="true">
                <a:solidFill>
                  <a:srgbClr val="74DE62"/>
                </a:solidFill>
                <a:latin typeface="Aptos Bold"/>
                <a:ea typeface="Aptos Bold"/>
                <a:cs typeface="Aptos Bold"/>
                <a:sym typeface="Aptos Bold"/>
              </a:rPr>
              <a:t>CONTEXT · MOTIVATION · OBJECTIVES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81812" y="1046988"/>
            <a:ext cx="14758416" cy="7589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true">
                <a:solidFill>
                  <a:srgbClr val="F6FAF7"/>
                </a:solidFill>
                <a:latin typeface="Aptos Bold"/>
                <a:ea typeface="Aptos Bold"/>
                <a:cs typeface="Aptos Bold"/>
                <a:sym typeface="Aptos Bold"/>
              </a:rPr>
              <a:t>Biological motivation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22960" y="1856232"/>
            <a:ext cx="15307056" cy="4846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BECDC3"/>
                </a:solidFill>
                <a:latin typeface="Aptos"/>
                <a:ea typeface="Aptos"/>
                <a:cs typeface="Aptos"/>
                <a:sym typeface="Aptos"/>
              </a:rPr>
              <a:t>Phage host specificity is largely mediated by receptor-binding proteins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77824" y="3560064"/>
            <a:ext cx="8086846" cy="1295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6"/>
              </a:lnSpc>
            </a:pPr>
            <a:r>
              <a:rPr lang="en-US" sz="2130">
                <a:solidFill>
                  <a:srgbClr val="F6FAF7"/>
                </a:solidFill>
                <a:latin typeface="Aptos"/>
                <a:ea typeface="Aptos"/>
                <a:cs typeface="Aptos"/>
                <a:sym typeface="Aptos"/>
              </a:rPr>
              <a:t>Phage infection starts with adsorption to bacterial surface receptors.</a:t>
            </a:r>
          </a:p>
          <a:p>
            <a:pPr algn="l">
              <a:lnSpc>
                <a:spcPts val="2556"/>
              </a:lnSpc>
            </a:pPr>
            <a:r>
              <a:rPr lang="en-US" sz="2130">
                <a:solidFill>
                  <a:srgbClr val="F6FAF7"/>
                </a:solidFill>
                <a:latin typeface="Aptos"/>
                <a:ea typeface="Aptos"/>
                <a:cs typeface="Aptos"/>
                <a:sym typeface="Aptos"/>
              </a:rPr>
              <a:t>RBPs are typically located in distal virion structures, such as tail fibers, tail spikes or baseplate components.</a:t>
            </a:r>
          </a:p>
          <a:p>
            <a:pPr algn="l">
              <a:lnSpc>
                <a:spcPts val="2556"/>
              </a:lnSpc>
            </a:pPr>
          </a:p>
        </p:txBody>
      </p:sp>
      <p:sp>
        <p:nvSpPr>
          <p:cNvPr name="TextBox 19" id="19"/>
          <p:cNvSpPr txBox="true"/>
          <p:nvPr/>
        </p:nvSpPr>
        <p:spPr>
          <a:xfrm rot="0">
            <a:off x="1903727" y="6056376"/>
            <a:ext cx="6035040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75"/>
              </a:lnSpc>
            </a:pPr>
            <a:r>
              <a:rPr lang="en-US" sz="2229" b="true">
                <a:solidFill>
                  <a:srgbClr val="74DE62"/>
                </a:solidFill>
                <a:latin typeface="Aptos Bold"/>
                <a:ea typeface="Aptos Bold"/>
                <a:cs typeface="Aptos Bold"/>
                <a:sym typeface="Aptos Bold"/>
              </a:rPr>
              <a:t>Why identify RBPs?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844802" y="6674753"/>
            <a:ext cx="5877309" cy="13290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1042" indent="-240521" lvl="1">
              <a:lnSpc>
                <a:spcPts val="2673"/>
              </a:lnSpc>
              <a:buFont typeface="Arial"/>
              <a:buChar char="•"/>
            </a:pPr>
            <a:r>
              <a:rPr lang="en-US" sz="2228">
                <a:solidFill>
                  <a:srgbClr val="F6FAF7"/>
                </a:solidFill>
                <a:latin typeface="Aptos"/>
                <a:ea typeface="Aptos"/>
                <a:cs typeface="Aptos"/>
                <a:sym typeface="Aptos"/>
              </a:rPr>
              <a:t>Host-range determination</a:t>
            </a:r>
          </a:p>
          <a:p>
            <a:pPr algn="l" marL="481042" indent="-240521" lvl="1">
              <a:lnSpc>
                <a:spcPts val="2673"/>
              </a:lnSpc>
              <a:buFont typeface="Arial"/>
              <a:buChar char="•"/>
            </a:pPr>
            <a:r>
              <a:rPr lang="en-US" sz="2228">
                <a:solidFill>
                  <a:srgbClr val="F6FAF7"/>
                </a:solidFill>
                <a:latin typeface="Aptos"/>
                <a:ea typeface="Aptos"/>
                <a:cs typeface="Aptos"/>
                <a:sym typeface="Aptos"/>
              </a:rPr>
              <a:t>Phage engineering</a:t>
            </a:r>
          </a:p>
          <a:p>
            <a:pPr algn="l" marL="481042" indent="-240521" lvl="1">
              <a:lnSpc>
                <a:spcPts val="2673"/>
              </a:lnSpc>
              <a:buFont typeface="Arial"/>
              <a:buChar char="•"/>
            </a:pPr>
            <a:r>
              <a:rPr lang="en-US" sz="2228">
                <a:solidFill>
                  <a:srgbClr val="F6FAF7"/>
                </a:solidFill>
                <a:latin typeface="Aptos"/>
                <a:ea typeface="Aptos"/>
                <a:cs typeface="Aptos"/>
                <a:sym typeface="Aptos"/>
              </a:rPr>
              <a:t>Candidate prioritization in phage genomes</a:t>
            </a:r>
          </a:p>
          <a:p>
            <a:pPr algn="l">
              <a:lnSpc>
                <a:spcPts val="2673"/>
              </a:lnSpc>
            </a:pPr>
          </a:p>
        </p:txBody>
      </p:sp>
      <p:sp>
        <p:nvSpPr>
          <p:cNvPr name="TextBox 21" id="21"/>
          <p:cNvSpPr txBox="true"/>
          <p:nvPr/>
        </p:nvSpPr>
        <p:spPr>
          <a:xfrm rot="0">
            <a:off x="877824" y="9500235"/>
            <a:ext cx="1933956" cy="2198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4"/>
              </a:lnSpc>
            </a:pPr>
            <a:r>
              <a:rPr lang="en-US" sz="1170" b="true">
                <a:solidFill>
                  <a:srgbClr val="74DE62"/>
                </a:solidFill>
                <a:latin typeface="Aptos Bold"/>
                <a:ea typeface="Aptos Bold"/>
                <a:cs typeface="Aptos Bold"/>
                <a:sym typeface="Aptos Bold"/>
              </a:rPr>
              <a:t>KEY MESSAGE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523744" y="9427464"/>
            <a:ext cx="14621256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F6FAF7"/>
                </a:solidFill>
                <a:latin typeface="Aptos"/>
                <a:ea typeface="Aptos"/>
                <a:cs typeface="Aptos"/>
                <a:sym typeface="Aptos"/>
              </a:rPr>
              <a:t>RBPs determine host specificity but remain difficult to identify computationally.</a:t>
            </a:r>
          </a:p>
          <a:p>
            <a:pPr algn="l">
              <a:lnSpc>
                <a:spcPts val="1980"/>
              </a:lnSpc>
            </a:pPr>
          </a:p>
        </p:txBody>
      </p:sp>
      <p:sp>
        <p:nvSpPr>
          <p:cNvPr name="TextBox 23" id="23"/>
          <p:cNvSpPr txBox="true"/>
          <p:nvPr/>
        </p:nvSpPr>
        <p:spPr>
          <a:xfrm rot="0">
            <a:off x="16692372" y="9454896"/>
            <a:ext cx="905256" cy="210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439"/>
              </a:lnSpc>
            </a:pPr>
            <a:r>
              <a:rPr lang="en-US" sz="1200">
                <a:solidFill>
                  <a:srgbClr val="BECDC3"/>
                </a:solidFill>
                <a:latin typeface="Aptos"/>
                <a:ea typeface="Aptos"/>
                <a:cs typeface="Aptos"/>
                <a:sym typeface="Aptos"/>
              </a:rPr>
              <a:t>02/12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1228918" y="7403592"/>
            <a:ext cx="4169244" cy="14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99"/>
              </a:lnSpc>
              <a:spcBef>
                <a:spcPct val="0"/>
              </a:spcBef>
            </a:pPr>
            <a:r>
              <a:rPr lang="en-US" sz="999">
                <a:solidFill>
                  <a:srgbClr val="F6FAF7"/>
                </a:solidFill>
                <a:latin typeface="Aptos"/>
                <a:ea typeface="Aptos"/>
                <a:cs typeface="Aptos"/>
                <a:sym typeface="Aptos"/>
              </a:rPr>
              <a:t>Source: Leprinc</a:t>
            </a:r>
            <a:r>
              <a:rPr lang="en-US" sz="999">
                <a:solidFill>
                  <a:srgbClr val="F6FAF7"/>
                </a:solidFill>
                <a:latin typeface="Aptos"/>
                <a:ea typeface="Aptos"/>
                <a:cs typeface="Aptos"/>
                <a:sym typeface="Aptos"/>
              </a:rPr>
              <a:t>e &amp; Mahillon, Viruses, 2023;15:196. DOI: 10.3390/v15010196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0513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903416" y="-555784"/>
            <a:ext cx="3168967" cy="3168967"/>
            <a:chOff x="0" y="0"/>
            <a:chExt cx="4225290" cy="422529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9525" y="9525"/>
              <a:ext cx="4206240" cy="4206240"/>
            </a:xfrm>
            <a:custGeom>
              <a:avLst/>
              <a:gdLst/>
              <a:ahLst/>
              <a:cxnLst/>
              <a:rect r="r" b="b" t="t" l="l"/>
              <a:pathLst>
                <a:path h="4206240" w="4206240">
                  <a:moveTo>
                    <a:pt x="0" y="2103120"/>
                  </a:moveTo>
                  <a:cubicBezTo>
                    <a:pt x="0" y="941578"/>
                    <a:pt x="941578" y="0"/>
                    <a:pt x="2103120" y="0"/>
                  </a:cubicBezTo>
                  <a:cubicBezTo>
                    <a:pt x="3264662" y="0"/>
                    <a:pt x="4206240" y="941578"/>
                    <a:pt x="4206240" y="2103120"/>
                  </a:cubicBezTo>
                  <a:cubicBezTo>
                    <a:pt x="4206240" y="3264662"/>
                    <a:pt x="3264662" y="4206240"/>
                    <a:pt x="2103120" y="4206240"/>
                  </a:cubicBezTo>
                  <a:cubicBezTo>
                    <a:pt x="941578" y="4206240"/>
                    <a:pt x="0" y="3264662"/>
                    <a:pt x="0" y="2103120"/>
                  </a:cubicBezTo>
                  <a:close/>
                </a:path>
              </a:pathLst>
            </a:custGeom>
            <a:solidFill>
              <a:srgbClr val="283732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25290" cy="4225290"/>
            </a:xfrm>
            <a:custGeom>
              <a:avLst/>
              <a:gdLst/>
              <a:ahLst/>
              <a:cxnLst/>
              <a:rect r="r" b="b" t="t" l="l"/>
              <a:pathLst>
                <a:path h="4225290" w="4225290">
                  <a:moveTo>
                    <a:pt x="0" y="2112645"/>
                  </a:moveTo>
                  <a:cubicBezTo>
                    <a:pt x="0" y="945896"/>
                    <a:pt x="945896" y="0"/>
                    <a:pt x="2112645" y="0"/>
                  </a:cubicBezTo>
                  <a:lnTo>
                    <a:pt x="2112645" y="9525"/>
                  </a:lnTo>
                  <a:lnTo>
                    <a:pt x="2112645" y="0"/>
                  </a:lnTo>
                  <a:cubicBezTo>
                    <a:pt x="3279394" y="0"/>
                    <a:pt x="4225290" y="945896"/>
                    <a:pt x="4225290" y="2112645"/>
                  </a:cubicBezTo>
                  <a:lnTo>
                    <a:pt x="4215765" y="2112645"/>
                  </a:lnTo>
                  <a:lnTo>
                    <a:pt x="4225290" y="2112645"/>
                  </a:lnTo>
                  <a:cubicBezTo>
                    <a:pt x="4225290" y="3279394"/>
                    <a:pt x="3279394" y="4225290"/>
                    <a:pt x="2112645" y="4225290"/>
                  </a:cubicBezTo>
                  <a:lnTo>
                    <a:pt x="2112645" y="4215765"/>
                  </a:lnTo>
                  <a:lnTo>
                    <a:pt x="2112645" y="4225290"/>
                  </a:lnTo>
                  <a:cubicBezTo>
                    <a:pt x="945896" y="4225290"/>
                    <a:pt x="0" y="3279394"/>
                    <a:pt x="0" y="2112645"/>
                  </a:cubicBezTo>
                  <a:lnTo>
                    <a:pt x="9525" y="2112645"/>
                  </a:lnTo>
                  <a:lnTo>
                    <a:pt x="19050" y="2112645"/>
                  </a:lnTo>
                  <a:lnTo>
                    <a:pt x="9525" y="2112645"/>
                  </a:lnTo>
                  <a:lnTo>
                    <a:pt x="0" y="2112645"/>
                  </a:lnTo>
                  <a:moveTo>
                    <a:pt x="19050" y="2112645"/>
                  </a:moveTo>
                  <a:cubicBezTo>
                    <a:pt x="19050" y="2117852"/>
                    <a:pt x="14732" y="2122170"/>
                    <a:pt x="9525" y="2122170"/>
                  </a:cubicBezTo>
                  <a:cubicBezTo>
                    <a:pt x="4318" y="2122170"/>
                    <a:pt x="0" y="2117852"/>
                    <a:pt x="0" y="2112645"/>
                  </a:cubicBezTo>
                  <a:cubicBezTo>
                    <a:pt x="0" y="2107438"/>
                    <a:pt x="4318" y="2103120"/>
                    <a:pt x="9525" y="2103120"/>
                  </a:cubicBezTo>
                  <a:cubicBezTo>
                    <a:pt x="14732" y="2103120"/>
                    <a:pt x="19050" y="2107438"/>
                    <a:pt x="19050" y="2112645"/>
                  </a:cubicBezTo>
                  <a:cubicBezTo>
                    <a:pt x="19050" y="3268853"/>
                    <a:pt x="956437" y="4206240"/>
                    <a:pt x="2112645" y="4206240"/>
                  </a:cubicBezTo>
                  <a:cubicBezTo>
                    <a:pt x="3268853" y="4206240"/>
                    <a:pt x="4206240" y="3268853"/>
                    <a:pt x="4206240" y="2112645"/>
                  </a:cubicBezTo>
                  <a:cubicBezTo>
                    <a:pt x="4206240" y="956437"/>
                    <a:pt x="3268853" y="19050"/>
                    <a:pt x="2112645" y="19050"/>
                  </a:cubicBezTo>
                  <a:lnTo>
                    <a:pt x="2112645" y="9525"/>
                  </a:lnTo>
                  <a:lnTo>
                    <a:pt x="2112645" y="19050"/>
                  </a:lnTo>
                  <a:cubicBezTo>
                    <a:pt x="956437" y="19050"/>
                    <a:pt x="19050" y="956437"/>
                    <a:pt x="19050" y="2112645"/>
                  </a:cubicBezTo>
                  <a:close/>
                </a:path>
              </a:pathLst>
            </a:custGeom>
            <a:solidFill>
              <a:srgbClr val="283732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-1104424" y="8359616"/>
            <a:ext cx="2757488" cy="2757488"/>
            <a:chOff x="0" y="0"/>
            <a:chExt cx="3676650" cy="367665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9525" y="9525"/>
              <a:ext cx="3657600" cy="3657600"/>
            </a:xfrm>
            <a:custGeom>
              <a:avLst/>
              <a:gdLst/>
              <a:ahLst/>
              <a:cxnLst/>
              <a:rect r="r" b="b" t="t" l="l"/>
              <a:pathLst>
                <a:path h="3657600" w="3657600">
                  <a:moveTo>
                    <a:pt x="0" y="1828800"/>
                  </a:moveTo>
                  <a:cubicBezTo>
                    <a:pt x="0" y="818769"/>
                    <a:pt x="818769" y="0"/>
                    <a:pt x="1828800" y="0"/>
                  </a:cubicBezTo>
                  <a:cubicBezTo>
                    <a:pt x="2838831" y="0"/>
                    <a:pt x="3657600" y="818769"/>
                    <a:pt x="3657600" y="1828800"/>
                  </a:cubicBezTo>
                  <a:cubicBezTo>
                    <a:pt x="3657600" y="2838831"/>
                    <a:pt x="2838831" y="3657600"/>
                    <a:pt x="1828800" y="3657600"/>
                  </a:cubicBezTo>
                  <a:cubicBezTo>
                    <a:pt x="818769" y="3657600"/>
                    <a:pt x="0" y="2838831"/>
                    <a:pt x="0" y="1828800"/>
                  </a:cubicBezTo>
                  <a:close/>
                </a:path>
              </a:pathLst>
            </a:custGeom>
            <a:solidFill>
              <a:srgbClr val="21322D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676650" cy="3676650"/>
            </a:xfrm>
            <a:custGeom>
              <a:avLst/>
              <a:gdLst/>
              <a:ahLst/>
              <a:cxnLst/>
              <a:rect r="r" b="b" t="t" l="l"/>
              <a:pathLst>
                <a:path h="3676650" w="3676650">
                  <a:moveTo>
                    <a:pt x="0" y="1838325"/>
                  </a:moveTo>
                  <a:cubicBezTo>
                    <a:pt x="0" y="823087"/>
                    <a:pt x="823087" y="0"/>
                    <a:pt x="1838325" y="0"/>
                  </a:cubicBezTo>
                  <a:lnTo>
                    <a:pt x="1838325" y="9525"/>
                  </a:lnTo>
                  <a:lnTo>
                    <a:pt x="1838325" y="0"/>
                  </a:lnTo>
                  <a:cubicBezTo>
                    <a:pt x="2853563" y="0"/>
                    <a:pt x="3676650" y="823087"/>
                    <a:pt x="3676650" y="1838325"/>
                  </a:cubicBezTo>
                  <a:cubicBezTo>
                    <a:pt x="3676650" y="2853563"/>
                    <a:pt x="2853563" y="3676650"/>
                    <a:pt x="1838325" y="3676650"/>
                  </a:cubicBezTo>
                  <a:lnTo>
                    <a:pt x="1838325" y="3667125"/>
                  </a:lnTo>
                  <a:lnTo>
                    <a:pt x="1838325" y="3676650"/>
                  </a:lnTo>
                  <a:cubicBezTo>
                    <a:pt x="823087" y="3676650"/>
                    <a:pt x="0" y="2853563"/>
                    <a:pt x="0" y="1838325"/>
                  </a:cubicBezTo>
                  <a:lnTo>
                    <a:pt x="9525" y="1838325"/>
                  </a:lnTo>
                  <a:lnTo>
                    <a:pt x="17526" y="1843532"/>
                  </a:lnTo>
                  <a:cubicBezTo>
                    <a:pt x="15240" y="1847088"/>
                    <a:pt x="10922" y="1848739"/>
                    <a:pt x="6858" y="1847469"/>
                  </a:cubicBezTo>
                  <a:cubicBezTo>
                    <a:pt x="2794" y="1846199"/>
                    <a:pt x="0" y="1842516"/>
                    <a:pt x="0" y="1838325"/>
                  </a:cubicBezTo>
                  <a:moveTo>
                    <a:pt x="19050" y="1838325"/>
                  </a:moveTo>
                  <a:lnTo>
                    <a:pt x="9525" y="1838325"/>
                  </a:lnTo>
                  <a:lnTo>
                    <a:pt x="1524" y="1833118"/>
                  </a:lnTo>
                  <a:cubicBezTo>
                    <a:pt x="3810" y="1829562"/>
                    <a:pt x="8128" y="1827911"/>
                    <a:pt x="12192" y="1829181"/>
                  </a:cubicBezTo>
                  <a:cubicBezTo>
                    <a:pt x="16256" y="1830451"/>
                    <a:pt x="19050" y="1834134"/>
                    <a:pt x="19050" y="1838325"/>
                  </a:cubicBezTo>
                  <a:cubicBezTo>
                    <a:pt x="19050" y="2843022"/>
                    <a:pt x="833628" y="3657600"/>
                    <a:pt x="1838325" y="3657600"/>
                  </a:cubicBezTo>
                  <a:cubicBezTo>
                    <a:pt x="2843022" y="3657600"/>
                    <a:pt x="3657600" y="2843022"/>
                    <a:pt x="3657600" y="1838325"/>
                  </a:cubicBezTo>
                  <a:lnTo>
                    <a:pt x="3667125" y="1838325"/>
                  </a:lnTo>
                  <a:lnTo>
                    <a:pt x="3657600" y="1838325"/>
                  </a:lnTo>
                  <a:cubicBezTo>
                    <a:pt x="3657600" y="833628"/>
                    <a:pt x="2843022" y="19050"/>
                    <a:pt x="1838325" y="19050"/>
                  </a:cubicBezTo>
                  <a:lnTo>
                    <a:pt x="1838325" y="9525"/>
                  </a:lnTo>
                  <a:lnTo>
                    <a:pt x="1838325" y="19050"/>
                  </a:lnTo>
                  <a:cubicBezTo>
                    <a:pt x="833628" y="19050"/>
                    <a:pt x="19050" y="833628"/>
                    <a:pt x="19050" y="1838325"/>
                  </a:cubicBezTo>
                  <a:close/>
                </a:path>
              </a:pathLst>
            </a:custGeom>
            <a:solidFill>
              <a:srgbClr val="21322D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747236" y="678656"/>
            <a:ext cx="864680" cy="82868"/>
            <a:chOff x="0" y="0"/>
            <a:chExt cx="1152906" cy="11049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9525" y="9525"/>
              <a:ext cx="1133856" cy="91440"/>
            </a:xfrm>
            <a:custGeom>
              <a:avLst/>
              <a:gdLst/>
              <a:ahLst/>
              <a:cxnLst/>
              <a:rect r="r" b="b" t="t" l="l"/>
              <a:pathLst>
                <a:path h="91440" w="1133856">
                  <a:moveTo>
                    <a:pt x="0" y="0"/>
                  </a:moveTo>
                  <a:lnTo>
                    <a:pt x="1133856" y="0"/>
                  </a:lnTo>
                  <a:lnTo>
                    <a:pt x="1133856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74DE62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52906" cy="110490"/>
            </a:xfrm>
            <a:custGeom>
              <a:avLst/>
              <a:gdLst/>
              <a:ahLst/>
              <a:cxnLst/>
              <a:rect r="r" b="b" t="t" l="l"/>
              <a:pathLst>
                <a:path h="110490" w="1152906">
                  <a:moveTo>
                    <a:pt x="9525" y="0"/>
                  </a:moveTo>
                  <a:lnTo>
                    <a:pt x="1143381" y="0"/>
                  </a:lnTo>
                  <a:cubicBezTo>
                    <a:pt x="1148588" y="0"/>
                    <a:pt x="1152906" y="4318"/>
                    <a:pt x="1152906" y="9525"/>
                  </a:cubicBezTo>
                  <a:lnTo>
                    <a:pt x="1152906" y="100965"/>
                  </a:lnTo>
                  <a:cubicBezTo>
                    <a:pt x="1152906" y="106172"/>
                    <a:pt x="1148588" y="110490"/>
                    <a:pt x="1143381" y="110490"/>
                  </a:cubicBezTo>
                  <a:lnTo>
                    <a:pt x="9525" y="110490"/>
                  </a:lnTo>
                  <a:cubicBezTo>
                    <a:pt x="4318" y="110490"/>
                    <a:pt x="0" y="106172"/>
                    <a:pt x="0" y="100965"/>
                  </a:cubicBezTo>
                  <a:lnTo>
                    <a:pt x="0" y="9525"/>
                  </a:lnTo>
                  <a:cubicBezTo>
                    <a:pt x="0" y="4318"/>
                    <a:pt x="4318" y="0"/>
                    <a:pt x="9525" y="0"/>
                  </a:cubicBezTo>
                  <a:moveTo>
                    <a:pt x="9525" y="19050"/>
                  </a:moveTo>
                  <a:lnTo>
                    <a:pt x="9525" y="9525"/>
                  </a:lnTo>
                  <a:lnTo>
                    <a:pt x="19050" y="9525"/>
                  </a:lnTo>
                  <a:lnTo>
                    <a:pt x="19050" y="100965"/>
                  </a:lnTo>
                  <a:lnTo>
                    <a:pt x="9525" y="100965"/>
                  </a:lnTo>
                  <a:lnTo>
                    <a:pt x="9525" y="91440"/>
                  </a:lnTo>
                  <a:lnTo>
                    <a:pt x="1143381" y="91440"/>
                  </a:lnTo>
                  <a:lnTo>
                    <a:pt x="1143381" y="100965"/>
                  </a:lnTo>
                  <a:lnTo>
                    <a:pt x="1133856" y="100965"/>
                  </a:lnTo>
                  <a:lnTo>
                    <a:pt x="1133856" y="9525"/>
                  </a:lnTo>
                  <a:lnTo>
                    <a:pt x="1143381" y="9525"/>
                  </a:lnTo>
                  <a:lnTo>
                    <a:pt x="1143381" y="19050"/>
                  </a:lnTo>
                  <a:lnTo>
                    <a:pt x="9525" y="19050"/>
                  </a:lnTo>
                  <a:close/>
                </a:path>
              </a:pathLst>
            </a:custGeom>
            <a:solidFill>
              <a:srgbClr val="74DE62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781812" y="402336"/>
            <a:ext cx="6117336" cy="2377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86"/>
              </a:lnSpc>
            </a:pPr>
            <a:r>
              <a:rPr lang="en-US" sz="1155" b="true">
                <a:solidFill>
                  <a:srgbClr val="74DE62"/>
                </a:solidFill>
                <a:latin typeface="Aptos Bold"/>
                <a:ea typeface="Aptos Bold"/>
                <a:cs typeface="Aptos Bold"/>
                <a:sym typeface="Aptos Bold"/>
              </a:rPr>
              <a:t>CONTEXT · MOTIVATION · OBJECTIVES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81812" y="1046988"/>
            <a:ext cx="14758416" cy="7589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true">
                <a:solidFill>
                  <a:srgbClr val="F6FAF7"/>
                </a:solidFill>
                <a:latin typeface="Aptos Bold"/>
                <a:ea typeface="Aptos Bold"/>
                <a:cs typeface="Aptos Bold"/>
                <a:sym typeface="Aptos Bold"/>
              </a:rPr>
              <a:t>Computational challenge and objective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22960" y="1856232"/>
            <a:ext cx="15307056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BECDC3"/>
                </a:solidFill>
                <a:latin typeface="Aptos"/>
                <a:ea typeface="Aptos"/>
                <a:cs typeface="Aptos"/>
                <a:sym typeface="Aptos"/>
              </a:rPr>
              <a:t>Why sequence homology alone is not enough?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087755" y="3498342"/>
            <a:ext cx="4956810" cy="2213610"/>
            <a:chOff x="0" y="0"/>
            <a:chExt cx="6609080" cy="295148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2700" y="12700"/>
              <a:ext cx="6583680" cy="2926080"/>
            </a:xfrm>
            <a:custGeom>
              <a:avLst/>
              <a:gdLst/>
              <a:ahLst/>
              <a:cxnLst/>
              <a:rect r="r" b="b" t="t" l="l"/>
              <a:pathLst>
                <a:path h="2926080" w="6583680">
                  <a:moveTo>
                    <a:pt x="0" y="487680"/>
                  </a:moveTo>
                  <a:cubicBezTo>
                    <a:pt x="0" y="218313"/>
                    <a:pt x="219456" y="0"/>
                    <a:pt x="490093" y="0"/>
                  </a:cubicBezTo>
                  <a:lnTo>
                    <a:pt x="6093587" y="0"/>
                  </a:lnTo>
                  <a:cubicBezTo>
                    <a:pt x="6364224" y="0"/>
                    <a:pt x="6583680" y="218313"/>
                    <a:pt x="6583680" y="487680"/>
                  </a:cubicBezTo>
                  <a:lnTo>
                    <a:pt x="6583680" y="2438400"/>
                  </a:lnTo>
                  <a:cubicBezTo>
                    <a:pt x="6583680" y="2707767"/>
                    <a:pt x="6364224" y="2926080"/>
                    <a:pt x="6093587" y="2926080"/>
                  </a:cubicBezTo>
                  <a:lnTo>
                    <a:pt x="490093" y="2926080"/>
                  </a:lnTo>
                  <a:cubicBezTo>
                    <a:pt x="219456" y="2926080"/>
                    <a:pt x="0" y="2707767"/>
                    <a:pt x="0" y="2438400"/>
                  </a:cubicBezTo>
                  <a:close/>
                </a:path>
              </a:pathLst>
            </a:custGeom>
            <a:solidFill>
              <a:srgbClr val="0A1E12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609080" cy="2951480"/>
            </a:xfrm>
            <a:custGeom>
              <a:avLst/>
              <a:gdLst/>
              <a:ahLst/>
              <a:cxnLst/>
              <a:rect r="r" b="b" t="t" l="l"/>
              <a:pathLst>
                <a:path h="2951480" w="6609080">
                  <a:moveTo>
                    <a:pt x="0" y="500380"/>
                  </a:moveTo>
                  <a:cubicBezTo>
                    <a:pt x="0" y="224028"/>
                    <a:pt x="225171" y="0"/>
                    <a:pt x="502793" y="0"/>
                  </a:cubicBezTo>
                  <a:lnTo>
                    <a:pt x="6106287" y="0"/>
                  </a:lnTo>
                  <a:lnTo>
                    <a:pt x="6106287" y="12700"/>
                  </a:lnTo>
                  <a:lnTo>
                    <a:pt x="6106287" y="0"/>
                  </a:lnTo>
                  <a:cubicBezTo>
                    <a:pt x="6383909" y="0"/>
                    <a:pt x="6609080" y="224028"/>
                    <a:pt x="6609080" y="500380"/>
                  </a:cubicBezTo>
                  <a:lnTo>
                    <a:pt x="6596380" y="500380"/>
                  </a:lnTo>
                  <a:lnTo>
                    <a:pt x="6609080" y="500380"/>
                  </a:lnTo>
                  <a:lnTo>
                    <a:pt x="6609080" y="2451100"/>
                  </a:lnTo>
                  <a:lnTo>
                    <a:pt x="6596380" y="2451100"/>
                  </a:lnTo>
                  <a:lnTo>
                    <a:pt x="6609080" y="2451100"/>
                  </a:lnTo>
                  <a:cubicBezTo>
                    <a:pt x="6609080" y="2727452"/>
                    <a:pt x="6383909" y="2951480"/>
                    <a:pt x="6106287" y="2951480"/>
                  </a:cubicBezTo>
                  <a:lnTo>
                    <a:pt x="6106287" y="2938780"/>
                  </a:lnTo>
                  <a:lnTo>
                    <a:pt x="6106287" y="2951480"/>
                  </a:lnTo>
                  <a:lnTo>
                    <a:pt x="502793" y="2951480"/>
                  </a:lnTo>
                  <a:lnTo>
                    <a:pt x="502793" y="2938780"/>
                  </a:lnTo>
                  <a:lnTo>
                    <a:pt x="502793" y="2951480"/>
                  </a:lnTo>
                  <a:cubicBezTo>
                    <a:pt x="225171" y="2951480"/>
                    <a:pt x="0" y="2727452"/>
                    <a:pt x="0" y="2451100"/>
                  </a:cubicBezTo>
                  <a:lnTo>
                    <a:pt x="0" y="500380"/>
                  </a:lnTo>
                  <a:lnTo>
                    <a:pt x="12700" y="500380"/>
                  </a:lnTo>
                  <a:lnTo>
                    <a:pt x="0" y="500380"/>
                  </a:lnTo>
                  <a:moveTo>
                    <a:pt x="25400" y="500380"/>
                  </a:moveTo>
                  <a:lnTo>
                    <a:pt x="25400" y="2451100"/>
                  </a:lnTo>
                  <a:lnTo>
                    <a:pt x="12700" y="2451100"/>
                  </a:lnTo>
                  <a:lnTo>
                    <a:pt x="25400" y="2451100"/>
                  </a:lnTo>
                  <a:cubicBezTo>
                    <a:pt x="25400" y="2713355"/>
                    <a:pt x="239014" y="2926080"/>
                    <a:pt x="502793" y="2926080"/>
                  </a:cubicBezTo>
                  <a:lnTo>
                    <a:pt x="6106287" y="2926080"/>
                  </a:lnTo>
                  <a:cubicBezTo>
                    <a:pt x="6369939" y="2926080"/>
                    <a:pt x="6583680" y="2713355"/>
                    <a:pt x="6583680" y="2451100"/>
                  </a:cubicBezTo>
                  <a:lnTo>
                    <a:pt x="6583680" y="500380"/>
                  </a:lnTo>
                  <a:cubicBezTo>
                    <a:pt x="6583680" y="238125"/>
                    <a:pt x="6370066" y="25400"/>
                    <a:pt x="6106287" y="25400"/>
                  </a:cubicBezTo>
                  <a:lnTo>
                    <a:pt x="502793" y="25400"/>
                  </a:lnTo>
                  <a:lnTo>
                    <a:pt x="502793" y="12700"/>
                  </a:lnTo>
                  <a:lnTo>
                    <a:pt x="502793" y="25400"/>
                  </a:lnTo>
                  <a:cubicBezTo>
                    <a:pt x="239014" y="25400"/>
                    <a:pt x="25400" y="238125"/>
                    <a:pt x="25400" y="500380"/>
                  </a:cubicBezTo>
                  <a:close/>
                </a:path>
              </a:pathLst>
            </a:custGeom>
            <a:solidFill>
              <a:srgbClr val="74DE62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371600" y="3736086"/>
            <a:ext cx="4389120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15"/>
              </a:lnSpc>
            </a:pPr>
            <a:r>
              <a:rPr lang="en-US" sz="2429" b="true">
                <a:solidFill>
                  <a:srgbClr val="74DE62"/>
                </a:solidFill>
                <a:latin typeface="Aptos Bold"/>
                <a:ea typeface="Aptos Bold"/>
                <a:cs typeface="Aptos Bold"/>
                <a:sym typeface="Aptos Bold"/>
              </a:rPr>
              <a:t>Sequence divergence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71600" y="4280535"/>
            <a:ext cx="4389120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5"/>
              </a:lnSpc>
            </a:pPr>
            <a:r>
              <a:rPr lang="en-US" sz="2279">
                <a:solidFill>
                  <a:srgbClr val="F6FAF7"/>
                </a:solidFill>
                <a:latin typeface="Aptos"/>
                <a:ea typeface="Aptos"/>
                <a:cs typeface="Aptos"/>
                <a:sym typeface="Aptos"/>
              </a:rPr>
              <a:t>RBPs are often poorly conserved at the amino-acid level.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6368415" y="3498342"/>
            <a:ext cx="4956810" cy="2213610"/>
            <a:chOff x="0" y="0"/>
            <a:chExt cx="6609080" cy="295148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12700" y="12700"/>
              <a:ext cx="6583680" cy="2926080"/>
            </a:xfrm>
            <a:custGeom>
              <a:avLst/>
              <a:gdLst/>
              <a:ahLst/>
              <a:cxnLst/>
              <a:rect r="r" b="b" t="t" l="l"/>
              <a:pathLst>
                <a:path h="2926080" w="6583680">
                  <a:moveTo>
                    <a:pt x="0" y="487680"/>
                  </a:moveTo>
                  <a:cubicBezTo>
                    <a:pt x="0" y="218313"/>
                    <a:pt x="219456" y="0"/>
                    <a:pt x="490093" y="0"/>
                  </a:cubicBezTo>
                  <a:lnTo>
                    <a:pt x="6093587" y="0"/>
                  </a:lnTo>
                  <a:cubicBezTo>
                    <a:pt x="6364224" y="0"/>
                    <a:pt x="6583680" y="218313"/>
                    <a:pt x="6583680" y="487680"/>
                  </a:cubicBezTo>
                  <a:lnTo>
                    <a:pt x="6583680" y="2438400"/>
                  </a:lnTo>
                  <a:cubicBezTo>
                    <a:pt x="6583680" y="2707767"/>
                    <a:pt x="6364224" y="2926080"/>
                    <a:pt x="6093587" y="2926080"/>
                  </a:cubicBezTo>
                  <a:lnTo>
                    <a:pt x="490093" y="2926080"/>
                  </a:lnTo>
                  <a:cubicBezTo>
                    <a:pt x="219456" y="2926080"/>
                    <a:pt x="0" y="2707767"/>
                    <a:pt x="0" y="2438400"/>
                  </a:cubicBezTo>
                  <a:close/>
                </a:path>
              </a:pathLst>
            </a:custGeom>
            <a:solidFill>
              <a:srgbClr val="0A1E12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609080" cy="2951480"/>
            </a:xfrm>
            <a:custGeom>
              <a:avLst/>
              <a:gdLst/>
              <a:ahLst/>
              <a:cxnLst/>
              <a:rect r="r" b="b" t="t" l="l"/>
              <a:pathLst>
                <a:path h="2951480" w="6609080">
                  <a:moveTo>
                    <a:pt x="0" y="500380"/>
                  </a:moveTo>
                  <a:cubicBezTo>
                    <a:pt x="0" y="224028"/>
                    <a:pt x="225171" y="0"/>
                    <a:pt x="502793" y="0"/>
                  </a:cubicBezTo>
                  <a:lnTo>
                    <a:pt x="6106287" y="0"/>
                  </a:lnTo>
                  <a:lnTo>
                    <a:pt x="6106287" y="12700"/>
                  </a:lnTo>
                  <a:lnTo>
                    <a:pt x="6106287" y="0"/>
                  </a:lnTo>
                  <a:cubicBezTo>
                    <a:pt x="6383909" y="0"/>
                    <a:pt x="6609080" y="224028"/>
                    <a:pt x="6609080" y="500380"/>
                  </a:cubicBezTo>
                  <a:lnTo>
                    <a:pt x="6596380" y="500380"/>
                  </a:lnTo>
                  <a:lnTo>
                    <a:pt x="6609080" y="500380"/>
                  </a:lnTo>
                  <a:lnTo>
                    <a:pt x="6609080" y="2451100"/>
                  </a:lnTo>
                  <a:lnTo>
                    <a:pt x="6596380" y="2451100"/>
                  </a:lnTo>
                  <a:lnTo>
                    <a:pt x="6609080" y="2451100"/>
                  </a:lnTo>
                  <a:cubicBezTo>
                    <a:pt x="6609080" y="2727452"/>
                    <a:pt x="6383909" y="2951480"/>
                    <a:pt x="6106287" y="2951480"/>
                  </a:cubicBezTo>
                  <a:lnTo>
                    <a:pt x="6106287" y="2938780"/>
                  </a:lnTo>
                  <a:lnTo>
                    <a:pt x="6106287" y="2951480"/>
                  </a:lnTo>
                  <a:lnTo>
                    <a:pt x="502793" y="2951480"/>
                  </a:lnTo>
                  <a:lnTo>
                    <a:pt x="502793" y="2938780"/>
                  </a:lnTo>
                  <a:lnTo>
                    <a:pt x="502793" y="2951480"/>
                  </a:lnTo>
                  <a:cubicBezTo>
                    <a:pt x="225171" y="2951480"/>
                    <a:pt x="0" y="2727452"/>
                    <a:pt x="0" y="2451100"/>
                  </a:cubicBezTo>
                  <a:lnTo>
                    <a:pt x="0" y="500380"/>
                  </a:lnTo>
                  <a:lnTo>
                    <a:pt x="12700" y="500380"/>
                  </a:lnTo>
                  <a:lnTo>
                    <a:pt x="0" y="500380"/>
                  </a:lnTo>
                  <a:moveTo>
                    <a:pt x="25400" y="500380"/>
                  </a:moveTo>
                  <a:lnTo>
                    <a:pt x="25400" y="2451100"/>
                  </a:lnTo>
                  <a:lnTo>
                    <a:pt x="12700" y="2451100"/>
                  </a:lnTo>
                  <a:lnTo>
                    <a:pt x="25400" y="2451100"/>
                  </a:lnTo>
                  <a:cubicBezTo>
                    <a:pt x="25400" y="2713355"/>
                    <a:pt x="239014" y="2926080"/>
                    <a:pt x="502793" y="2926080"/>
                  </a:cubicBezTo>
                  <a:lnTo>
                    <a:pt x="6106287" y="2926080"/>
                  </a:lnTo>
                  <a:cubicBezTo>
                    <a:pt x="6369939" y="2926080"/>
                    <a:pt x="6583680" y="2713355"/>
                    <a:pt x="6583680" y="2451100"/>
                  </a:cubicBezTo>
                  <a:lnTo>
                    <a:pt x="6583680" y="500380"/>
                  </a:lnTo>
                  <a:cubicBezTo>
                    <a:pt x="6583680" y="238125"/>
                    <a:pt x="6370066" y="25400"/>
                    <a:pt x="6106287" y="25400"/>
                  </a:cubicBezTo>
                  <a:lnTo>
                    <a:pt x="502793" y="25400"/>
                  </a:lnTo>
                  <a:lnTo>
                    <a:pt x="502793" y="12700"/>
                  </a:lnTo>
                  <a:lnTo>
                    <a:pt x="502793" y="25400"/>
                  </a:lnTo>
                  <a:cubicBezTo>
                    <a:pt x="239014" y="25400"/>
                    <a:pt x="25400" y="238125"/>
                    <a:pt x="25400" y="500380"/>
                  </a:cubicBezTo>
                  <a:close/>
                </a:path>
              </a:pathLst>
            </a:custGeom>
            <a:solidFill>
              <a:srgbClr val="74DE62"/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6652260" y="3736086"/>
            <a:ext cx="4389120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15"/>
              </a:lnSpc>
            </a:pPr>
            <a:r>
              <a:rPr lang="en-US" sz="2429" b="true">
                <a:solidFill>
                  <a:srgbClr val="74DE62"/>
                </a:solidFill>
                <a:latin typeface="Aptos Bold"/>
                <a:ea typeface="Aptos Bold"/>
                <a:cs typeface="Aptos Bold"/>
                <a:sym typeface="Aptos Bold"/>
              </a:rPr>
              <a:t>Annotation gap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652260" y="4280535"/>
            <a:ext cx="4389120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5"/>
              </a:lnSpc>
            </a:pPr>
            <a:r>
              <a:rPr lang="en-US" sz="2279">
                <a:solidFill>
                  <a:srgbClr val="F6FAF7"/>
                </a:solidFill>
                <a:latin typeface="Aptos"/>
                <a:ea typeface="Aptos"/>
                <a:cs typeface="Aptos"/>
                <a:sym typeface="Aptos"/>
              </a:rPr>
              <a:t>Many phage proteins remain hypothetical or inconsistently annotated.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1649075" y="3498342"/>
            <a:ext cx="4956810" cy="2213610"/>
            <a:chOff x="0" y="0"/>
            <a:chExt cx="6609080" cy="295148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12700" y="12700"/>
              <a:ext cx="6583680" cy="2926080"/>
            </a:xfrm>
            <a:custGeom>
              <a:avLst/>
              <a:gdLst/>
              <a:ahLst/>
              <a:cxnLst/>
              <a:rect r="r" b="b" t="t" l="l"/>
              <a:pathLst>
                <a:path h="2926080" w="6583680">
                  <a:moveTo>
                    <a:pt x="0" y="487680"/>
                  </a:moveTo>
                  <a:cubicBezTo>
                    <a:pt x="0" y="218313"/>
                    <a:pt x="219456" y="0"/>
                    <a:pt x="490093" y="0"/>
                  </a:cubicBezTo>
                  <a:lnTo>
                    <a:pt x="6093587" y="0"/>
                  </a:lnTo>
                  <a:cubicBezTo>
                    <a:pt x="6364224" y="0"/>
                    <a:pt x="6583680" y="218313"/>
                    <a:pt x="6583680" y="487680"/>
                  </a:cubicBezTo>
                  <a:lnTo>
                    <a:pt x="6583680" y="2438400"/>
                  </a:lnTo>
                  <a:cubicBezTo>
                    <a:pt x="6583680" y="2707767"/>
                    <a:pt x="6364224" y="2926080"/>
                    <a:pt x="6093587" y="2926080"/>
                  </a:cubicBezTo>
                  <a:lnTo>
                    <a:pt x="490093" y="2926080"/>
                  </a:lnTo>
                  <a:cubicBezTo>
                    <a:pt x="219456" y="2926080"/>
                    <a:pt x="0" y="2707767"/>
                    <a:pt x="0" y="2438400"/>
                  </a:cubicBezTo>
                  <a:close/>
                </a:path>
              </a:pathLst>
            </a:custGeom>
            <a:solidFill>
              <a:srgbClr val="0A1E12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609080" cy="2951480"/>
            </a:xfrm>
            <a:custGeom>
              <a:avLst/>
              <a:gdLst/>
              <a:ahLst/>
              <a:cxnLst/>
              <a:rect r="r" b="b" t="t" l="l"/>
              <a:pathLst>
                <a:path h="2951480" w="6609080">
                  <a:moveTo>
                    <a:pt x="0" y="500380"/>
                  </a:moveTo>
                  <a:cubicBezTo>
                    <a:pt x="0" y="224028"/>
                    <a:pt x="225171" y="0"/>
                    <a:pt x="502793" y="0"/>
                  </a:cubicBezTo>
                  <a:lnTo>
                    <a:pt x="6106287" y="0"/>
                  </a:lnTo>
                  <a:lnTo>
                    <a:pt x="6106287" y="12700"/>
                  </a:lnTo>
                  <a:lnTo>
                    <a:pt x="6106287" y="0"/>
                  </a:lnTo>
                  <a:cubicBezTo>
                    <a:pt x="6383909" y="0"/>
                    <a:pt x="6609080" y="224028"/>
                    <a:pt x="6609080" y="500380"/>
                  </a:cubicBezTo>
                  <a:lnTo>
                    <a:pt x="6596380" y="500380"/>
                  </a:lnTo>
                  <a:lnTo>
                    <a:pt x="6609080" y="500380"/>
                  </a:lnTo>
                  <a:lnTo>
                    <a:pt x="6609080" y="2451100"/>
                  </a:lnTo>
                  <a:lnTo>
                    <a:pt x="6596380" y="2451100"/>
                  </a:lnTo>
                  <a:lnTo>
                    <a:pt x="6609080" y="2451100"/>
                  </a:lnTo>
                  <a:cubicBezTo>
                    <a:pt x="6609080" y="2727452"/>
                    <a:pt x="6383909" y="2951480"/>
                    <a:pt x="6106287" y="2951480"/>
                  </a:cubicBezTo>
                  <a:lnTo>
                    <a:pt x="6106287" y="2938780"/>
                  </a:lnTo>
                  <a:lnTo>
                    <a:pt x="6106287" y="2951480"/>
                  </a:lnTo>
                  <a:lnTo>
                    <a:pt x="502793" y="2951480"/>
                  </a:lnTo>
                  <a:lnTo>
                    <a:pt x="502793" y="2938780"/>
                  </a:lnTo>
                  <a:lnTo>
                    <a:pt x="502793" y="2951480"/>
                  </a:lnTo>
                  <a:cubicBezTo>
                    <a:pt x="225171" y="2951480"/>
                    <a:pt x="0" y="2727452"/>
                    <a:pt x="0" y="2451100"/>
                  </a:cubicBezTo>
                  <a:lnTo>
                    <a:pt x="0" y="500380"/>
                  </a:lnTo>
                  <a:lnTo>
                    <a:pt x="12700" y="500380"/>
                  </a:lnTo>
                  <a:lnTo>
                    <a:pt x="0" y="500380"/>
                  </a:lnTo>
                  <a:moveTo>
                    <a:pt x="25400" y="500380"/>
                  </a:moveTo>
                  <a:lnTo>
                    <a:pt x="25400" y="2451100"/>
                  </a:lnTo>
                  <a:lnTo>
                    <a:pt x="12700" y="2451100"/>
                  </a:lnTo>
                  <a:lnTo>
                    <a:pt x="25400" y="2451100"/>
                  </a:lnTo>
                  <a:cubicBezTo>
                    <a:pt x="25400" y="2713355"/>
                    <a:pt x="239014" y="2926080"/>
                    <a:pt x="502793" y="2926080"/>
                  </a:cubicBezTo>
                  <a:lnTo>
                    <a:pt x="6106287" y="2926080"/>
                  </a:lnTo>
                  <a:cubicBezTo>
                    <a:pt x="6369939" y="2926080"/>
                    <a:pt x="6583680" y="2713355"/>
                    <a:pt x="6583680" y="2451100"/>
                  </a:cubicBezTo>
                  <a:lnTo>
                    <a:pt x="6583680" y="500380"/>
                  </a:lnTo>
                  <a:cubicBezTo>
                    <a:pt x="6583680" y="238125"/>
                    <a:pt x="6370066" y="25400"/>
                    <a:pt x="6106287" y="25400"/>
                  </a:cubicBezTo>
                  <a:lnTo>
                    <a:pt x="502793" y="25400"/>
                  </a:lnTo>
                  <a:lnTo>
                    <a:pt x="502793" y="12700"/>
                  </a:lnTo>
                  <a:lnTo>
                    <a:pt x="502793" y="25400"/>
                  </a:lnTo>
                  <a:cubicBezTo>
                    <a:pt x="239014" y="25400"/>
                    <a:pt x="25400" y="238125"/>
                    <a:pt x="25400" y="500380"/>
                  </a:cubicBezTo>
                  <a:close/>
                </a:path>
              </a:pathLst>
            </a:custGeom>
            <a:solidFill>
              <a:srgbClr val="74DE62"/>
            </a:solid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11934825" y="3736086"/>
            <a:ext cx="4389120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15"/>
              </a:lnSpc>
            </a:pPr>
            <a:r>
              <a:rPr lang="en-US" sz="2429" b="true">
                <a:solidFill>
                  <a:srgbClr val="74DE62"/>
                </a:solidFill>
                <a:latin typeface="Aptos Bold"/>
                <a:ea typeface="Aptos Bold"/>
                <a:cs typeface="Aptos Bold"/>
                <a:sym typeface="Aptos Bold"/>
              </a:rPr>
              <a:t>Project objective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1932920" y="4280535"/>
            <a:ext cx="4389120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5"/>
              </a:lnSpc>
            </a:pPr>
            <a:r>
              <a:rPr lang="en-US" sz="2279">
                <a:solidFill>
                  <a:srgbClr val="F6FAF7"/>
                </a:solidFill>
                <a:latin typeface="Aptos"/>
                <a:ea typeface="Aptos"/>
                <a:cs typeface="Aptos"/>
                <a:sym typeface="Aptos"/>
              </a:rPr>
              <a:t>Build a reproducible, interpretable prioritization workflow.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2179844" y="7049262"/>
            <a:ext cx="13928312" cy="933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19"/>
              </a:lnSpc>
            </a:pPr>
            <a:r>
              <a:rPr lang="en-US" sz="3099" b="true">
                <a:solidFill>
                  <a:srgbClr val="F6FAF7"/>
                </a:solidFill>
                <a:latin typeface="Aptos Bold"/>
                <a:ea typeface="Aptos Bold"/>
                <a:cs typeface="Aptos Bold"/>
                <a:sym typeface="Aptos Bold"/>
              </a:rPr>
              <a:t>RBP-Score addresses this challenge by integrating sequence, phylogenetic and structural evidence into a candidate prioritization workflow.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877824" y="9500235"/>
            <a:ext cx="1933956" cy="2198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4"/>
              </a:lnSpc>
            </a:pPr>
            <a:r>
              <a:rPr lang="en-US" sz="1170" b="true">
                <a:solidFill>
                  <a:srgbClr val="74DE62"/>
                </a:solidFill>
                <a:latin typeface="Aptos Bold"/>
                <a:ea typeface="Aptos Bold"/>
                <a:cs typeface="Aptos Bold"/>
                <a:sym typeface="Aptos Bold"/>
              </a:rPr>
              <a:t>KEY MESSAGE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2523744" y="9427464"/>
            <a:ext cx="14621256" cy="3749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F6FAF7"/>
                </a:solidFill>
                <a:latin typeface="Aptos"/>
                <a:ea typeface="Aptos"/>
                <a:cs typeface="Aptos"/>
                <a:sym typeface="Aptos"/>
              </a:rPr>
              <a:t>The pipeline integrates complementary evidence instead of relying on a single similarity measure.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6692372" y="9454896"/>
            <a:ext cx="905256" cy="210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439"/>
              </a:lnSpc>
            </a:pPr>
            <a:r>
              <a:rPr lang="en-US" sz="1200">
                <a:solidFill>
                  <a:srgbClr val="BECDC3"/>
                </a:solidFill>
                <a:latin typeface="Aptos"/>
                <a:ea typeface="Aptos"/>
                <a:cs typeface="Aptos"/>
                <a:sym typeface="Aptos"/>
              </a:rPr>
              <a:t>03/12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0513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903416" y="-555784"/>
            <a:ext cx="3168967" cy="3168967"/>
            <a:chOff x="0" y="0"/>
            <a:chExt cx="4225290" cy="422529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9525" y="9525"/>
              <a:ext cx="4206240" cy="4206240"/>
            </a:xfrm>
            <a:custGeom>
              <a:avLst/>
              <a:gdLst/>
              <a:ahLst/>
              <a:cxnLst/>
              <a:rect r="r" b="b" t="t" l="l"/>
              <a:pathLst>
                <a:path h="4206240" w="4206240">
                  <a:moveTo>
                    <a:pt x="0" y="2103120"/>
                  </a:moveTo>
                  <a:cubicBezTo>
                    <a:pt x="0" y="941578"/>
                    <a:pt x="941578" y="0"/>
                    <a:pt x="2103120" y="0"/>
                  </a:cubicBezTo>
                  <a:cubicBezTo>
                    <a:pt x="3264662" y="0"/>
                    <a:pt x="4206240" y="941578"/>
                    <a:pt x="4206240" y="2103120"/>
                  </a:cubicBezTo>
                  <a:cubicBezTo>
                    <a:pt x="4206240" y="3264662"/>
                    <a:pt x="3264662" y="4206240"/>
                    <a:pt x="2103120" y="4206240"/>
                  </a:cubicBezTo>
                  <a:cubicBezTo>
                    <a:pt x="941578" y="4206240"/>
                    <a:pt x="0" y="3264662"/>
                    <a:pt x="0" y="2103120"/>
                  </a:cubicBezTo>
                  <a:close/>
                </a:path>
              </a:pathLst>
            </a:custGeom>
            <a:solidFill>
              <a:srgbClr val="283732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25290" cy="4225290"/>
            </a:xfrm>
            <a:custGeom>
              <a:avLst/>
              <a:gdLst/>
              <a:ahLst/>
              <a:cxnLst/>
              <a:rect r="r" b="b" t="t" l="l"/>
              <a:pathLst>
                <a:path h="4225290" w="4225290">
                  <a:moveTo>
                    <a:pt x="0" y="2112645"/>
                  </a:moveTo>
                  <a:cubicBezTo>
                    <a:pt x="0" y="945896"/>
                    <a:pt x="945896" y="0"/>
                    <a:pt x="2112645" y="0"/>
                  </a:cubicBezTo>
                  <a:lnTo>
                    <a:pt x="2112645" y="9525"/>
                  </a:lnTo>
                  <a:lnTo>
                    <a:pt x="2112645" y="0"/>
                  </a:lnTo>
                  <a:cubicBezTo>
                    <a:pt x="3279394" y="0"/>
                    <a:pt x="4225290" y="945896"/>
                    <a:pt x="4225290" y="2112645"/>
                  </a:cubicBezTo>
                  <a:lnTo>
                    <a:pt x="4215765" y="2112645"/>
                  </a:lnTo>
                  <a:lnTo>
                    <a:pt x="4225290" y="2112645"/>
                  </a:lnTo>
                  <a:cubicBezTo>
                    <a:pt x="4225290" y="3279394"/>
                    <a:pt x="3279394" y="4225290"/>
                    <a:pt x="2112645" y="4225290"/>
                  </a:cubicBezTo>
                  <a:lnTo>
                    <a:pt x="2112645" y="4215765"/>
                  </a:lnTo>
                  <a:lnTo>
                    <a:pt x="2112645" y="4225290"/>
                  </a:lnTo>
                  <a:cubicBezTo>
                    <a:pt x="945896" y="4225290"/>
                    <a:pt x="0" y="3279394"/>
                    <a:pt x="0" y="2112645"/>
                  </a:cubicBezTo>
                  <a:lnTo>
                    <a:pt x="9525" y="2112645"/>
                  </a:lnTo>
                  <a:lnTo>
                    <a:pt x="19050" y="2112645"/>
                  </a:lnTo>
                  <a:lnTo>
                    <a:pt x="9525" y="2112645"/>
                  </a:lnTo>
                  <a:lnTo>
                    <a:pt x="0" y="2112645"/>
                  </a:lnTo>
                  <a:moveTo>
                    <a:pt x="19050" y="2112645"/>
                  </a:moveTo>
                  <a:cubicBezTo>
                    <a:pt x="19050" y="2117852"/>
                    <a:pt x="14732" y="2122170"/>
                    <a:pt x="9525" y="2122170"/>
                  </a:cubicBezTo>
                  <a:cubicBezTo>
                    <a:pt x="4318" y="2122170"/>
                    <a:pt x="0" y="2117852"/>
                    <a:pt x="0" y="2112645"/>
                  </a:cubicBezTo>
                  <a:cubicBezTo>
                    <a:pt x="0" y="2107438"/>
                    <a:pt x="4318" y="2103120"/>
                    <a:pt x="9525" y="2103120"/>
                  </a:cubicBezTo>
                  <a:cubicBezTo>
                    <a:pt x="14732" y="2103120"/>
                    <a:pt x="19050" y="2107438"/>
                    <a:pt x="19050" y="2112645"/>
                  </a:cubicBezTo>
                  <a:cubicBezTo>
                    <a:pt x="19050" y="3268853"/>
                    <a:pt x="956437" y="4206240"/>
                    <a:pt x="2112645" y="4206240"/>
                  </a:cubicBezTo>
                  <a:cubicBezTo>
                    <a:pt x="3268853" y="4206240"/>
                    <a:pt x="4206240" y="3268853"/>
                    <a:pt x="4206240" y="2112645"/>
                  </a:cubicBezTo>
                  <a:cubicBezTo>
                    <a:pt x="4206240" y="956437"/>
                    <a:pt x="3268853" y="19050"/>
                    <a:pt x="2112645" y="19050"/>
                  </a:cubicBezTo>
                  <a:lnTo>
                    <a:pt x="2112645" y="9525"/>
                  </a:lnTo>
                  <a:lnTo>
                    <a:pt x="2112645" y="19050"/>
                  </a:lnTo>
                  <a:cubicBezTo>
                    <a:pt x="956437" y="19050"/>
                    <a:pt x="19050" y="956437"/>
                    <a:pt x="19050" y="2112645"/>
                  </a:cubicBezTo>
                  <a:close/>
                </a:path>
              </a:pathLst>
            </a:custGeom>
            <a:solidFill>
              <a:srgbClr val="283732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-1104424" y="8359616"/>
            <a:ext cx="2757488" cy="2757488"/>
            <a:chOff x="0" y="0"/>
            <a:chExt cx="3676650" cy="367665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9525" y="9525"/>
              <a:ext cx="3657600" cy="3657600"/>
            </a:xfrm>
            <a:custGeom>
              <a:avLst/>
              <a:gdLst/>
              <a:ahLst/>
              <a:cxnLst/>
              <a:rect r="r" b="b" t="t" l="l"/>
              <a:pathLst>
                <a:path h="3657600" w="3657600">
                  <a:moveTo>
                    <a:pt x="0" y="1828800"/>
                  </a:moveTo>
                  <a:cubicBezTo>
                    <a:pt x="0" y="818769"/>
                    <a:pt x="818769" y="0"/>
                    <a:pt x="1828800" y="0"/>
                  </a:cubicBezTo>
                  <a:cubicBezTo>
                    <a:pt x="2838831" y="0"/>
                    <a:pt x="3657600" y="818769"/>
                    <a:pt x="3657600" y="1828800"/>
                  </a:cubicBezTo>
                  <a:cubicBezTo>
                    <a:pt x="3657600" y="2838831"/>
                    <a:pt x="2838831" y="3657600"/>
                    <a:pt x="1828800" y="3657600"/>
                  </a:cubicBezTo>
                  <a:cubicBezTo>
                    <a:pt x="818769" y="3657600"/>
                    <a:pt x="0" y="2838831"/>
                    <a:pt x="0" y="1828800"/>
                  </a:cubicBezTo>
                  <a:close/>
                </a:path>
              </a:pathLst>
            </a:custGeom>
            <a:solidFill>
              <a:srgbClr val="21322D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676650" cy="3676650"/>
            </a:xfrm>
            <a:custGeom>
              <a:avLst/>
              <a:gdLst/>
              <a:ahLst/>
              <a:cxnLst/>
              <a:rect r="r" b="b" t="t" l="l"/>
              <a:pathLst>
                <a:path h="3676650" w="3676650">
                  <a:moveTo>
                    <a:pt x="0" y="1838325"/>
                  </a:moveTo>
                  <a:cubicBezTo>
                    <a:pt x="0" y="823087"/>
                    <a:pt x="823087" y="0"/>
                    <a:pt x="1838325" y="0"/>
                  </a:cubicBezTo>
                  <a:lnTo>
                    <a:pt x="1838325" y="9525"/>
                  </a:lnTo>
                  <a:lnTo>
                    <a:pt x="1838325" y="0"/>
                  </a:lnTo>
                  <a:cubicBezTo>
                    <a:pt x="2853563" y="0"/>
                    <a:pt x="3676650" y="823087"/>
                    <a:pt x="3676650" y="1838325"/>
                  </a:cubicBezTo>
                  <a:cubicBezTo>
                    <a:pt x="3676650" y="2853563"/>
                    <a:pt x="2853563" y="3676650"/>
                    <a:pt x="1838325" y="3676650"/>
                  </a:cubicBezTo>
                  <a:lnTo>
                    <a:pt x="1838325" y="3667125"/>
                  </a:lnTo>
                  <a:lnTo>
                    <a:pt x="1838325" y="3676650"/>
                  </a:lnTo>
                  <a:cubicBezTo>
                    <a:pt x="823087" y="3676650"/>
                    <a:pt x="0" y="2853563"/>
                    <a:pt x="0" y="1838325"/>
                  </a:cubicBezTo>
                  <a:lnTo>
                    <a:pt x="9525" y="1838325"/>
                  </a:lnTo>
                  <a:lnTo>
                    <a:pt x="17526" y="1843532"/>
                  </a:lnTo>
                  <a:cubicBezTo>
                    <a:pt x="15240" y="1847088"/>
                    <a:pt x="10922" y="1848739"/>
                    <a:pt x="6858" y="1847469"/>
                  </a:cubicBezTo>
                  <a:cubicBezTo>
                    <a:pt x="2794" y="1846199"/>
                    <a:pt x="0" y="1842516"/>
                    <a:pt x="0" y="1838325"/>
                  </a:cubicBezTo>
                  <a:moveTo>
                    <a:pt x="19050" y="1838325"/>
                  </a:moveTo>
                  <a:lnTo>
                    <a:pt x="9525" y="1838325"/>
                  </a:lnTo>
                  <a:lnTo>
                    <a:pt x="1524" y="1833118"/>
                  </a:lnTo>
                  <a:cubicBezTo>
                    <a:pt x="3810" y="1829562"/>
                    <a:pt x="8128" y="1827911"/>
                    <a:pt x="12192" y="1829181"/>
                  </a:cubicBezTo>
                  <a:cubicBezTo>
                    <a:pt x="16256" y="1830451"/>
                    <a:pt x="19050" y="1834134"/>
                    <a:pt x="19050" y="1838325"/>
                  </a:cubicBezTo>
                  <a:cubicBezTo>
                    <a:pt x="19050" y="2843022"/>
                    <a:pt x="833628" y="3657600"/>
                    <a:pt x="1838325" y="3657600"/>
                  </a:cubicBezTo>
                  <a:cubicBezTo>
                    <a:pt x="2843022" y="3657600"/>
                    <a:pt x="3657600" y="2843022"/>
                    <a:pt x="3657600" y="1838325"/>
                  </a:cubicBezTo>
                  <a:lnTo>
                    <a:pt x="3667125" y="1838325"/>
                  </a:lnTo>
                  <a:lnTo>
                    <a:pt x="3657600" y="1838325"/>
                  </a:lnTo>
                  <a:cubicBezTo>
                    <a:pt x="3657600" y="833628"/>
                    <a:pt x="2843022" y="19050"/>
                    <a:pt x="1838325" y="19050"/>
                  </a:cubicBezTo>
                  <a:lnTo>
                    <a:pt x="1838325" y="9525"/>
                  </a:lnTo>
                  <a:lnTo>
                    <a:pt x="1838325" y="19050"/>
                  </a:lnTo>
                  <a:cubicBezTo>
                    <a:pt x="833628" y="19050"/>
                    <a:pt x="19050" y="833628"/>
                    <a:pt x="19050" y="1838325"/>
                  </a:cubicBezTo>
                  <a:close/>
                </a:path>
              </a:pathLst>
            </a:custGeom>
            <a:solidFill>
              <a:srgbClr val="21322D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747236" y="678656"/>
            <a:ext cx="864680" cy="82868"/>
            <a:chOff x="0" y="0"/>
            <a:chExt cx="1152906" cy="11049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9525" y="9525"/>
              <a:ext cx="1133856" cy="91440"/>
            </a:xfrm>
            <a:custGeom>
              <a:avLst/>
              <a:gdLst/>
              <a:ahLst/>
              <a:cxnLst/>
              <a:rect r="r" b="b" t="t" l="l"/>
              <a:pathLst>
                <a:path h="91440" w="1133856">
                  <a:moveTo>
                    <a:pt x="0" y="0"/>
                  </a:moveTo>
                  <a:lnTo>
                    <a:pt x="1133856" y="0"/>
                  </a:lnTo>
                  <a:lnTo>
                    <a:pt x="1133856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74DE62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52906" cy="110490"/>
            </a:xfrm>
            <a:custGeom>
              <a:avLst/>
              <a:gdLst/>
              <a:ahLst/>
              <a:cxnLst/>
              <a:rect r="r" b="b" t="t" l="l"/>
              <a:pathLst>
                <a:path h="110490" w="1152906">
                  <a:moveTo>
                    <a:pt x="9525" y="0"/>
                  </a:moveTo>
                  <a:lnTo>
                    <a:pt x="1143381" y="0"/>
                  </a:lnTo>
                  <a:cubicBezTo>
                    <a:pt x="1148588" y="0"/>
                    <a:pt x="1152906" y="4318"/>
                    <a:pt x="1152906" y="9525"/>
                  </a:cubicBezTo>
                  <a:lnTo>
                    <a:pt x="1152906" y="100965"/>
                  </a:lnTo>
                  <a:cubicBezTo>
                    <a:pt x="1152906" y="106172"/>
                    <a:pt x="1148588" y="110490"/>
                    <a:pt x="1143381" y="110490"/>
                  </a:cubicBezTo>
                  <a:lnTo>
                    <a:pt x="9525" y="110490"/>
                  </a:lnTo>
                  <a:cubicBezTo>
                    <a:pt x="4318" y="110490"/>
                    <a:pt x="0" y="106172"/>
                    <a:pt x="0" y="100965"/>
                  </a:cubicBezTo>
                  <a:lnTo>
                    <a:pt x="0" y="9525"/>
                  </a:lnTo>
                  <a:cubicBezTo>
                    <a:pt x="0" y="4318"/>
                    <a:pt x="4318" y="0"/>
                    <a:pt x="9525" y="0"/>
                  </a:cubicBezTo>
                  <a:moveTo>
                    <a:pt x="9525" y="19050"/>
                  </a:moveTo>
                  <a:lnTo>
                    <a:pt x="9525" y="9525"/>
                  </a:lnTo>
                  <a:lnTo>
                    <a:pt x="19050" y="9525"/>
                  </a:lnTo>
                  <a:lnTo>
                    <a:pt x="19050" y="100965"/>
                  </a:lnTo>
                  <a:lnTo>
                    <a:pt x="9525" y="100965"/>
                  </a:lnTo>
                  <a:lnTo>
                    <a:pt x="9525" y="91440"/>
                  </a:lnTo>
                  <a:lnTo>
                    <a:pt x="1143381" y="91440"/>
                  </a:lnTo>
                  <a:lnTo>
                    <a:pt x="1143381" y="100965"/>
                  </a:lnTo>
                  <a:lnTo>
                    <a:pt x="1133856" y="100965"/>
                  </a:lnTo>
                  <a:lnTo>
                    <a:pt x="1133856" y="9525"/>
                  </a:lnTo>
                  <a:lnTo>
                    <a:pt x="1143381" y="9525"/>
                  </a:lnTo>
                  <a:lnTo>
                    <a:pt x="1143381" y="19050"/>
                  </a:lnTo>
                  <a:lnTo>
                    <a:pt x="9525" y="19050"/>
                  </a:lnTo>
                  <a:close/>
                </a:path>
              </a:pathLst>
            </a:custGeom>
            <a:solidFill>
              <a:srgbClr val="74DE62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781812" y="402336"/>
            <a:ext cx="6117336" cy="2377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86"/>
              </a:lnSpc>
            </a:pPr>
            <a:r>
              <a:rPr lang="en-US" sz="1155" b="true">
                <a:solidFill>
                  <a:srgbClr val="74DE62"/>
                </a:solidFill>
                <a:latin typeface="Aptos Bold"/>
                <a:ea typeface="Aptos Bold"/>
                <a:cs typeface="Aptos Bold"/>
                <a:sym typeface="Aptos Bold"/>
              </a:rPr>
              <a:t>METHODOLOGY · DEVELOPMENT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81812" y="1046988"/>
            <a:ext cx="14758416" cy="7589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true">
                <a:solidFill>
                  <a:srgbClr val="F6FAF7"/>
                </a:solidFill>
                <a:latin typeface="Aptos Bold"/>
                <a:ea typeface="Aptos Bold"/>
                <a:cs typeface="Aptos Bold"/>
                <a:sym typeface="Aptos Bold"/>
              </a:rPr>
              <a:t>Reference database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22960" y="1856232"/>
            <a:ext cx="15307056" cy="4846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BECDC3"/>
                </a:solidFill>
                <a:latin typeface="Aptos"/>
                <a:ea typeface="Aptos"/>
                <a:cs typeface="Aptos"/>
                <a:sym typeface="Aptos"/>
              </a:rPr>
              <a:t>Curated RBP database and explicit metadata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22960" y="2947494"/>
            <a:ext cx="12325077" cy="1581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F6FAF7"/>
                </a:solidFill>
                <a:latin typeface="Aptos"/>
                <a:ea typeface="Aptos"/>
                <a:cs typeface="Aptos"/>
                <a:sym typeface="Aptos"/>
              </a:rPr>
              <a:t>58 experimentally validated RBPs from 52 bacteriophages.</a:t>
            </a:r>
          </a:p>
          <a:p>
            <a:pPr algn="l">
              <a:lnSpc>
                <a:spcPts val="2520"/>
              </a:lnSpc>
            </a:pP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F6FAF7"/>
                </a:solidFill>
                <a:latin typeface="Aptos"/>
                <a:ea typeface="Aptos"/>
                <a:cs typeface="Aptos"/>
                <a:sym typeface="Aptos"/>
              </a:rPr>
              <a:t>Headers encode accession, host, phage, morphotype and role.</a:t>
            </a:r>
          </a:p>
          <a:p>
            <a:pPr algn="l">
              <a:lnSpc>
                <a:spcPts val="2520"/>
              </a:lnSpc>
            </a:pP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F6FAF7"/>
                </a:solidFill>
                <a:latin typeface="Aptos"/>
                <a:ea typeface="Aptos"/>
                <a:cs typeface="Aptos"/>
                <a:sym typeface="Aptos"/>
              </a:rPr>
              <a:t>Non-RBP outgroups were added as negative controls.</a:t>
            </a:r>
          </a:p>
        </p:txBody>
      </p:sp>
      <p:graphicFrame>
        <p:nvGraphicFramePr>
          <p:cNvPr name="Table 15" id="15"/>
          <p:cNvGraphicFramePr>
            <a:graphicFrameLocks noGrp="true"/>
          </p:cNvGraphicFramePr>
          <p:nvPr/>
        </p:nvGraphicFramePr>
        <p:xfrm>
          <a:off x="6005322" y="5090619"/>
          <a:ext cx="7658100" cy="3771900"/>
        </p:xfrm>
        <a:graphic>
          <a:graphicData uri="http://schemas.openxmlformats.org/drawingml/2006/table">
            <a:tbl>
              <a:tblPr/>
              <a:tblGrid>
                <a:gridCol w="3829050"/>
                <a:gridCol w="3829050"/>
              </a:tblGrid>
              <a:tr h="6286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89"/>
                        </a:lnSpc>
                        <a:defRPr/>
                      </a:pPr>
                      <a:r>
                        <a:rPr lang="en-US" sz="1575" b="true">
                          <a:solidFill>
                            <a:srgbClr val="F6FAF7"/>
                          </a:solidFill>
                          <a:latin typeface="Aptos Bold"/>
                          <a:ea typeface="Aptos Bold"/>
                          <a:cs typeface="Aptos Bold"/>
                          <a:sym typeface="Aptos Bold"/>
                        </a:rPr>
                        <a:t>Field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D1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89"/>
                        </a:lnSpc>
                        <a:defRPr/>
                      </a:pPr>
                      <a:r>
                        <a:rPr lang="en-US" sz="1575" b="true">
                          <a:solidFill>
                            <a:srgbClr val="F6FAF7"/>
                          </a:solidFill>
                          <a:latin typeface="Aptos Bold"/>
                          <a:ea typeface="Aptos Bold"/>
                          <a:cs typeface="Aptos Bold"/>
                          <a:sym typeface="Aptos Bold"/>
                        </a:rPr>
                        <a:t>Example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D1C"/>
                    </a:solidFill>
                  </a:tcPr>
                </a:tc>
              </a:tr>
              <a:tr h="6286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89"/>
                        </a:lnSpc>
                        <a:defRPr/>
                      </a:pPr>
                      <a:r>
                        <a:rPr lang="en-US" sz="1575">
                          <a:solidFill>
                            <a:srgbClr val="BECDC3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accession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E1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89"/>
                        </a:lnSpc>
                        <a:defRPr/>
                      </a:pPr>
                      <a:r>
                        <a:rPr lang="en-US" sz="1575">
                          <a:solidFill>
                            <a:srgbClr val="BECDC3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P07537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E12"/>
                    </a:solidFill>
                  </a:tcPr>
                </a:tc>
              </a:tr>
              <a:tr h="6286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89"/>
                        </a:lnSpc>
                        <a:defRPr/>
                      </a:pPr>
                      <a:r>
                        <a:rPr lang="en-US" sz="1575">
                          <a:solidFill>
                            <a:srgbClr val="BECDC3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host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E1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89"/>
                        </a:lnSpc>
                        <a:defRPr/>
                      </a:pPr>
                      <a:r>
                        <a:rPr lang="en-US" sz="1575">
                          <a:solidFill>
                            <a:srgbClr val="BECDC3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Bacillus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E12"/>
                    </a:solidFill>
                  </a:tcPr>
                </a:tc>
              </a:tr>
              <a:tr h="6286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89"/>
                        </a:lnSpc>
                        <a:defRPr/>
                      </a:pPr>
                      <a:r>
                        <a:rPr lang="en-US" sz="1575">
                          <a:solidFill>
                            <a:srgbClr val="BECDC3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phage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E1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89"/>
                        </a:lnSpc>
                        <a:defRPr/>
                      </a:pPr>
                      <a:r>
                        <a:rPr lang="en-US" sz="1575">
                          <a:solidFill>
                            <a:srgbClr val="BECDC3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Bacteriophage_PZA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E12"/>
                    </a:solidFill>
                  </a:tcPr>
                </a:tc>
              </a:tr>
              <a:tr h="6286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89"/>
                        </a:lnSpc>
                        <a:defRPr/>
                      </a:pPr>
                      <a:r>
                        <a:rPr lang="en-US" sz="1575">
                          <a:solidFill>
                            <a:srgbClr val="BECDC3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morphotype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E1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89"/>
                        </a:lnSpc>
                        <a:defRPr/>
                      </a:pPr>
                      <a:r>
                        <a:rPr lang="en-US" sz="1575">
                          <a:solidFill>
                            <a:srgbClr val="BECDC3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Podo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E12"/>
                    </a:solidFill>
                  </a:tcPr>
                </a:tc>
              </a:tr>
              <a:tr h="6286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89"/>
                        </a:lnSpc>
                        <a:defRPr/>
                      </a:pPr>
                      <a:r>
                        <a:rPr lang="en-US" sz="1575">
                          <a:solidFill>
                            <a:srgbClr val="BECDC3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role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E1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89"/>
                        </a:lnSpc>
                        <a:defRPr/>
                      </a:pPr>
                      <a:r>
                        <a:rPr lang="en-US" sz="1575">
                          <a:solidFill>
                            <a:srgbClr val="BECDC3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RBP / OUTGROUP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E12"/>
                    </a:solidFill>
                  </a:tcPr>
                </a:tc>
              </a:tr>
            </a:tbl>
          </a:graphicData>
        </a:graphic>
      </p:graphicFrame>
      <p:sp>
        <p:nvSpPr>
          <p:cNvPr name="TextBox 16" id="16"/>
          <p:cNvSpPr txBox="true"/>
          <p:nvPr/>
        </p:nvSpPr>
        <p:spPr>
          <a:xfrm rot="0">
            <a:off x="877824" y="9500235"/>
            <a:ext cx="1933956" cy="2198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4"/>
              </a:lnSpc>
            </a:pPr>
            <a:r>
              <a:rPr lang="en-US" sz="1170" b="true">
                <a:solidFill>
                  <a:srgbClr val="74DE62"/>
                </a:solidFill>
                <a:latin typeface="Aptos Bold"/>
                <a:ea typeface="Aptos Bold"/>
                <a:cs typeface="Aptos Bold"/>
                <a:sym typeface="Aptos Bold"/>
              </a:rPr>
              <a:t>KEY MESSAGE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523744" y="9427464"/>
            <a:ext cx="14621256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F6FAF7"/>
                </a:solidFill>
                <a:latin typeface="Aptos"/>
                <a:ea typeface="Aptos"/>
                <a:cs typeface="Aptos"/>
                <a:sym typeface="Aptos"/>
              </a:rPr>
              <a:t>The database was standardized to distinguish reference RBPs from non-RBP outgroups.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6692372" y="9454896"/>
            <a:ext cx="905256" cy="210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439"/>
              </a:lnSpc>
            </a:pPr>
            <a:r>
              <a:rPr lang="en-US" sz="1200">
                <a:solidFill>
                  <a:srgbClr val="BECDC3"/>
                </a:solidFill>
                <a:latin typeface="Aptos"/>
                <a:ea typeface="Aptos"/>
                <a:cs typeface="Aptos"/>
                <a:sym typeface="Aptos"/>
              </a:rPr>
              <a:t>04/12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0513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903416" y="-555784"/>
            <a:ext cx="3168967" cy="3168967"/>
            <a:chOff x="0" y="0"/>
            <a:chExt cx="4225290" cy="422529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9525" y="9525"/>
              <a:ext cx="4206240" cy="4206240"/>
            </a:xfrm>
            <a:custGeom>
              <a:avLst/>
              <a:gdLst/>
              <a:ahLst/>
              <a:cxnLst/>
              <a:rect r="r" b="b" t="t" l="l"/>
              <a:pathLst>
                <a:path h="4206240" w="4206240">
                  <a:moveTo>
                    <a:pt x="0" y="2103120"/>
                  </a:moveTo>
                  <a:cubicBezTo>
                    <a:pt x="0" y="941578"/>
                    <a:pt x="941578" y="0"/>
                    <a:pt x="2103120" y="0"/>
                  </a:cubicBezTo>
                  <a:cubicBezTo>
                    <a:pt x="3264662" y="0"/>
                    <a:pt x="4206240" y="941578"/>
                    <a:pt x="4206240" y="2103120"/>
                  </a:cubicBezTo>
                  <a:cubicBezTo>
                    <a:pt x="4206240" y="3264662"/>
                    <a:pt x="3264662" y="4206240"/>
                    <a:pt x="2103120" y="4206240"/>
                  </a:cubicBezTo>
                  <a:cubicBezTo>
                    <a:pt x="941578" y="4206240"/>
                    <a:pt x="0" y="3264662"/>
                    <a:pt x="0" y="2103120"/>
                  </a:cubicBezTo>
                  <a:close/>
                </a:path>
              </a:pathLst>
            </a:custGeom>
            <a:solidFill>
              <a:srgbClr val="283732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25290" cy="4225290"/>
            </a:xfrm>
            <a:custGeom>
              <a:avLst/>
              <a:gdLst/>
              <a:ahLst/>
              <a:cxnLst/>
              <a:rect r="r" b="b" t="t" l="l"/>
              <a:pathLst>
                <a:path h="4225290" w="4225290">
                  <a:moveTo>
                    <a:pt x="0" y="2112645"/>
                  </a:moveTo>
                  <a:cubicBezTo>
                    <a:pt x="0" y="945896"/>
                    <a:pt x="945896" y="0"/>
                    <a:pt x="2112645" y="0"/>
                  </a:cubicBezTo>
                  <a:lnTo>
                    <a:pt x="2112645" y="9525"/>
                  </a:lnTo>
                  <a:lnTo>
                    <a:pt x="2112645" y="0"/>
                  </a:lnTo>
                  <a:cubicBezTo>
                    <a:pt x="3279394" y="0"/>
                    <a:pt x="4225290" y="945896"/>
                    <a:pt x="4225290" y="2112645"/>
                  </a:cubicBezTo>
                  <a:lnTo>
                    <a:pt x="4215765" y="2112645"/>
                  </a:lnTo>
                  <a:lnTo>
                    <a:pt x="4225290" y="2112645"/>
                  </a:lnTo>
                  <a:cubicBezTo>
                    <a:pt x="4225290" y="3279394"/>
                    <a:pt x="3279394" y="4225290"/>
                    <a:pt x="2112645" y="4225290"/>
                  </a:cubicBezTo>
                  <a:lnTo>
                    <a:pt x="2112645" y="4215765"/>
                  </a:lnTo>
                  <a:lnTo>
                    <a:pt x="2112645" y="4225290"/>
                  </a:lnTo>
                  <a:cubicBezTo>
                    <a:pt x="945896" y="4225290"/>
                    <a:pt x="0" y="3279394"/>
                    <a:pt x="0" y="2112645"/>
                  </a:cubicBezTo>
                  <a:lnTo>
                    <a:pt x="9525" y="2112645"/>
                  </a:lnTo>
                  <a:lnTo>
                    <a:pt x="19050" y="2112645"/>
                  </a:lnTo>
                  <a:lnTo>
                    <a:pt x="9525" y="2112645"/>
                  </a:lnTo>
                  <a:lnTo>
                    <a:pt x="0" y="2112645"/>
                  </a:lnTo>
                  <a:moveTo>
                    <a:pt x="19050" y="2112645"/>
                  </a:moveTo>
                  <a:cubicBezTo>
                    <a:pt x="19050" y="2117852"/>
                    <a:pt x="14732" y="2122170"/>
                    <a:pt x="9525" y="2122170"/>
                  </a:cubicBezTo>
                  <a:cubicBezTo>
                    <a:pt x="4318" y="2122170"/>
                    <a:pt x="0" y="2117852"/>
                    <a:pt x="0" y="2112645"/>
                  </a:cubicBezTo>
                  <a:cubicBezTo>
                    <a:pt x="0" y="2107438"/>
                    <a:pt x="4318" y="2103120"/>
                    <a:pt x="9525" y="2103120"/>
                  </a:cubicBezTo>
                  <a:cubicBezTo>
                    <a:pt x="14732" y="2103120"/>
                    <a:pt x="19050" y="2107438"/>
                    <a:pt x="19050" y="2112645"/>
                  </a:cubicBezTo>
                  <a:cubicBezTo>
                    <a:pt x="19050" y="3268853"/>
                    <a:pt x="956437" y="4206240"/>
                    <a:pt x="2112645" y="4206240"/>
                  </a:cubicBezTo>
                  <a:cubicBezTo>
                    <a:pt x="3268853" y="4206240"/>
                    <a:pt x="4206240" y="3268853"/>
                    <a:pt x="4206240" y="2112645"/>
                  </a:cubicBezTo>
                  <a:cubicBezTo>
                    <a:pt x="4206240" y="956437"/>
                    <a:pt x="3268853" y="19050"/>
                    <a:pt x="2112645" y="19050"/>
                  </a:cubicBezTo>
                  <a:lnTo>
                    <a:pt x="2112645" y="9525"/>
                  </a:lnTo>
                  <a:lnTo>
                    <a:pt x="2112645" y="19050"/>
                  </a:lnTo>
                  <a:cubicBezTo>
                    <a:pt x="956437" y="19050"/>
                    <a:pt x="19050" y="956437"/>
                    <a:pt x="19050" y="2112645"/>
                  </a:cubicBezTo>
                  <a:close/>
                </a:path>
              </a:pathLst>
            </a:custGeom>
            <a:solidFill>
              <a:srgbClr val="283732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-1104424" y="8359616"/>
            <a:ext cx="2757488" cy="2757488"/>
            <a:chOff x="0" y="0"/>
            <a:chExt cx="3676650" cy="367665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9525" y="9525"/>
              <a:ext cx="3657600" cy="3657600"/>
            </a:xfrm>
            <a:custGeom>
              <a:avLst/>
              <a:gdLst/>
              <a:ahLst/>
              <a:cxnLst/>
              <a:rect r="r" b="b" t="t" l="l"/>
              <a:pathLst>
                <a:path h="3657600" w="3657600">
                  <a:moveTo>
                    <a:pt x="0" y="1828800"/>
                  </a:moveTo>
                  <a:cubicBezTo>
                    <a:pt x="0" y="818769"/>
                    <a:pt x="818769" y="0"/>
                    <a:pt x="1828800" y="0"/>
                  </a:cubicBezTo>
                  <a:cubicBezTo>
                    <a:pt x="2838831" y="0"/>
                    <a:pt x="3657600" y="818769"/>
                    <a:pt x="3657600" y="1828800"/>
                  </a:cubicBezTo>
                  <a:cubicBezTo>
                    <a:pt x="3657600" y="2838831"/>
                    <a:pt x="2838831" y="3657600"/>
                    <a:pt x="1828800" y="3657600"/>
                  </a:cubicBezTo>
                  <a:cubicBezTo>
                    <a:pt x="818769" y="3657600"/>
                    <a:pt x="0" y="2838831"/>
                    <a:pt x="0" y="1828800"/>
                  </a:cubicBezTo>
                  <a:close/>
                </a:path>
              </a:pathLst>
            </a:custGeom>
            <a:solidFill>
              <a:srgbClr val="21322D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676650" cy="3676650"/>
            </a:xfrm>
            <a:custGeom>
              <a:avLst/>
              <a:gdLst/>
              <a:ahLst/>
              <a:cxnLst/>
              <a:rect r="r" b="b" t="t" l="l"/>
              <a:pathLst>
                <a:path h="3676650" w="3676650">
                  <a:moveTo>
                    <a:pt x="0" y="1838325"/>
                  </a:moveTo>
                  <a:cubicBezTo>
                    <a:pt x="0" y="823087"/>
                    <a:pt x="823087" y="0"/>
                    <a:pt x="1838325" y="0"/>
                  </a:cubicBezTo>
                  <a:lnTo>
                    <a:pt x="1838325" y="9525"/>
                  </a:lnTo>
                  <a:lnTo>
                    <a:pt x="1838325" y="0"/>
                  </a:lnTo>
                  <a:cubicBezTo>
                    <a:pt x="2853563" y="0"/>
                    <a:pt x="3676650" y="823087"/>
                    <a:pt x="3676650" y="1838325"/>
                  </a:cubicBezTo>
                  <a:cubicBezTo>
                    <a:pt x="3676650" y="2853563"/>
                    <a:pt x="2853563" y="3676650"/>
                    <a:pt x="1838325" y="3676650"/>
                  </a:cubicBezTo>
                  <a:lnTo>
                    <a:pt x="1838325" y="3667125"/>
                  </a:lnTo>
                  <a:lnTo>
                    <a:pt x="1838325" y="3676650"/>
                  </a:lnTo>
                  <a:cubicBezTo>
                    <a:pt x="823087" y="3676650"/>
                    <a:pt x="0" y="2853563"/>
                    <a:pt x="0" y="1838325"/>
                  </a:cubicBezTo>
                  <a:lnTo>
                    <a:pt x="9525" y="1838325"/>
                  </a:lnTo>
                  <a:lnTo>
                    <a:pt x="17526" y="1843532"/>
                  </a:lnTo>
                  <a:cubicBezTo>
                    <a:pt x="15240" y="1847088"/>
                    <a:pt x="10922" y="1848739"/>
                    <a:pt x="6858" y="1847469"/>
                  </a:cubicBezTo>
                  <a:cubicBezTo>
                    <a:pt x="2794" y="1846199"/>
                    <a:pt x="0" y="1842516"/>
                    <a:pt x="0" y="1838325"/>
                  </a:cubicBezTo>
                  <a:moveTo>
                    <a:pt x="19050" y="1838325"/>
                  </a:moveTo>
                  <a:lnTo>
                    <a:pt x="9525" y="1838325"/>
                  </a:lnTo>
                  <a:lnTo>
                    <a:pt x="1524" y="1833118"/>
                  </a:lnTo>
                  <a:cubicBezTo>
                    <a:pt x="3810" y="1829562"/>
                    <a:pt x="8128" y="1827911"/>
                    <a:pt x="12192" y="1829181"/>
                  </a:cubicBezTo>
                  <a:cubicBezTo>
                    <a:pt x="16256" y="1830451"/>
                    <a:pt x="19050" y="1834134"/>
                    <a:pt x="19050" y="1838325"/>
                  </a:cubicBezTo>
                  <a:cubicBezTo>
                    <a:pt x="19050" y="2843022"/>
                    <a:pt x="833628" y="3657600"/>
                    <a:pt x="1838325" y="3657600"/>
                  </a:cubicBezTo>
                  <a:cubicBezTo>
                    <a:pt x="2843022" y="3657600"/>
                    <a:pt x="3657600" y="2843022"/>
                    <a:pt x="3657600" y="1838325"/>
                  </a:cubicBezTo>
                  <a:lnTo>
                    <a:pt x="3667125" y="1838325"/>
                  </a:lnTo>
                  <a:lnTo>
                    <a:pt x="3657600" y="1838325"/>
                  </a:lnTo>
                  <a:cubicBezTo>
                    <a:pt x="3657600" y="833628"/>
                    <a:pt x="2843022" y="19050"/>
                    <a:pt x="1838325" y="19050"/>
                  </a:cubicBezTo>
                  <a:lnTo>
                    <a:pt x="1838325" y="9525"/>
                  </a:lnTo>
                  <a:lnTo>
                    <a:pt x="1838325" y="19050"/>
                  </a:lnTo>
                  <a:cubicBezTo>
                    <a:pt x="833628" y="19050"/>
                    <a:pt x="19050" y="833628"/>
                    <a:pt x="19050" y="1838325"/>
                  </a:cubicBezTo>
                  <a:close/>
                </a:path>
              </a:pathLst>
            </a:custGeom>
            <a:solidFill>
              <a:srgbClr val="21322D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747236" y="678656"/>
            <a:ext cx="864680" cy="82868"/>
            <a:chOff x="0" y="0"/>
            <a:chExt cx="1152906" cy="11049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9525" y="9525"/>
              <a:ext cx="1133856" cy="91440"/>
            </a:xfrm>
            <a:custGeom>
              <a:avLst/>
              <a:gdLst/>
              <a:ahLst/>
              <a:cxnLst/>
              <a:rect r="r" b="b" t="t" l="l"/>
              <a:pathLst>
                <a:path h="91440" w="1133856">
                  <a:moveTo>
                    <a:pt x="0" y="0"/>
                  </a:moveTo>
                  <a:lnTo>
                    <a:pt x="1133856" y="0"/>
                  </a:lnTo>
                  <a:lnTo>
                    <a:pt x="1133856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74DE62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52906" cy="110490"/>
            </a:xfrm>
            <a:custGeom>
              <a:avLst/>
              <a:gdLst/>
              <a:ahLst/>
              <a:cxnLst/>
              <a:rect r="r" b="b" t="t" l="l"/>
              <a:pathLst>
                <a:path h="110490" w="1152906">
                  <a:moveTo>
                    <a:pt x="9525" y="0"/>
                  </a:moveTo>
                  <a:lnTo>
                    <a:pt x="1143381" y="0"/>
                  </a:lnTo>
                  <a:cubicBezTo>
                    <a:pt x="1148588" y="0"/>
                    <a:pt x="1152906" y="4318"/>
                    <a:pt x="1152906" y="9525"/>
                  </a:cubicBezTo>
                  <a:lnTo>
                    <a:pt x="1152906" y="100965"/>
                  </a:lnTo>
                  <a:cubicBezTo>
                    <a:pt x="1152906" y="106172"/>
                    <a:pt x="1148588" y="110490"/>
                    <a:pt x="1143381" y="110490"/>
                  </a:cubicBezTo>
                  <a:lnTo>
                    <a:pt x="9525" y="110490"/>
                  </a:lnTo>
                  <a:cubicBezTo>
                    <a:pt x="4318" y="110490"/>
                    <a:pt x="0" y="106172"/>
                    <a:pt x="0" y="100965"/>
                  </a:cubicBezTo>
                  <a:lnTo>
                    <a:pt x="0" y="9525"/>
                  </a:lnTo>
                  <a:cubicBezTo>
                    <a:pt x="0" y="4318"/>
                    <a:pt x="4318" y="0"/>
                    <a:pt x="9525" y="0"/>
                  </a:cubicBezTo>
                  <a:moveTo>
                    <a:pt x="9525" y="19050"/>
                  </a:moveTo>
                  <a:lnTo>
                    <a:pt x="9525" y="9525"/>
                  </a:lnTo>
                  <a:lnTo>
                    <a:pt x="19050" y="9525"/>
                  </a:lnTo>
                  <a:lnTo>
                    <a:pt x="19050" y="100965"/>
                  </a:lnTo>
                  <a:lnTo>
                    <a:pt x="9525" y="100965"/>
                  </a:lnTo>
                  <a:lnTo>
                    <a:pt x="9525" y="91440"/>
                  </a:lnTo>
                  <a:lnTo>
                    <a:pt x="1143381" y="91440"/>
                  </a:lnTo>
                  <a:lnTo>
                    <a:pt x="1143381" y="100965"/>
                  </a:lnTo>
                  <a:lnTo>
                    <a:pt x="1133856" y="100965"/>
                  </a:lnTo>
                  <a:lnTo>
                    <a:pt x="1133856" y="9525"/>
                  </a:lnTo>
                  <a:lnTo>
                    <a:pt x="1143381" y="9525"/>
                  </a:lnTo>
                  <a:lnTo>
                    <a:pt x="1143381" y="19050"/>
                  </a:lnTo>
                  <a:lnTo>
                    <a:pt x="9525" y="19050"/>
                  </a:lnTo>
                  <a:close/>
                </a:path>
              </a:pathLst>
            </a:custGeom>
            <a:solidFill>
              <a:srgbClr val="74DE62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781812" y="402336"/>
            <a:ext cx="6117336" cy="2377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86"/>
              </a:lnSpc>
            </a:pPr>
            <a:r>
              <a:rPr lang="en-US" sz="1155" b="true">
                <a:solidFill>
                  <a:srgbClr val="74DE62"/>
                </a:solidFill>
                <a:latin typeface="Aptos Bold"/>
                <a:ea typeface="Aptos Bold"/>
                <a:cs typeface="Aptos Bold"/>
                <a:sym typeface="Aptos Bold"/>
              </a:rPr>
              <a:t>METHODOLOGY · DEVELOPMENT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81812" y="1046988"/>
            <a:ext cx="14758416" cy="7589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true">
                <a:solidFill>
                  <a:srgbClr val="F6FAF7"/>
                </a:solidFill>
                <a:latin typeface="Aptos Bold"/>
                <a:ea typeface="Aptos Bold"/>
                <a:cs typeface="Aptos Bold"/>
                <a:sym typeface="Aptos Bold"/>
              </a:rPr>
              <a:t>Workflow architecture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22960" y="1856232"/>
            <a:ext cx="15307056" cy="4846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BECDC3"/>
                </a:solidFill>
                <a:latin typeface="Aptos"/>
                <a:ea typeface="Aptos"/>
                <a:cs typeface="Aptos"/>
                <a:sym typeface="Aptos"/>
              </a:rPr>
              <a:t>A modular Snakemake pipeline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91158" y="3324059"/>
            <a:ext cx="5873591" cy="2209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F6FAF7"/>
                </a:solidFill>
                <a:latin typeface="Aptos"/>
                <a:ea typeface="Aptos"/>
                <a:cs typeface="Aptos"/>
                <a:sym typeface="Aptos"/>
              </a:rPr>
              <a:t>Rules include database construction, query processing, BLAST search, alignment/tree construction, structure prediction and final score calculation.</a:t>
            </a:r>
          </a:p>
          <a:p>
            <a:pPr algn="l">
              <a:lnSpc>
                <a:spcPts val="2520"/>
              </a:lnSpc>
            </a:pP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F6FAF7"/>
                </a:solidFill>
                <a:latin typeface="Aptos"/>
                <a:ea typeface="Aptos"/>
                <a:cs typeface="Aptos"/>
                <a:sym typeface="Aptos"/>
              </a:rPr>
              <a:t>The workflow can be rerun selectively when inputs, scripts or configuration parameters are updated.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77824" y="9500235"/>
            <a:ext cx="1933956" cy="2198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4"/>
              </a:lnSpc>
            </a:pPr>
            <a:r>
              <a:rPr lang="en-US" sz="1170" b="true">
                <a:solidFill>
                  <a:srgbClr val="74DE62"/>
                </a:solidFill>
                <a:latin typeface="Aptos Bold"/>
                <a:ea typeface="Aptos Bold"/>
                <a:cs typeface="Aptos Bold"/>
                <a:sym typeface="Aptos Bold"/>
              </a:rPr>
              <a:t>KEY MESSAGE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523744" y="9427464"/>
            <a:ext cx="14621256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F6FAF7"/>
                </a:solidFill>
                <a:latin typeface="Aptos"/>
                <a:ea typeface="Aptos"/>
                <a:cs typeface="Aptos"/>
                <a:sym typeface="Aptos"/>
              </a:rPr>
              <a:t>Snakemake links independent analyses into a reproducible workflow.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6692372" y="9454896"/>
            <a:ext cx="905256" cy="210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439"/>
              </a:lnSpc>
            </a:pPr>
            <a:r>
              <a:rPr lang="en-US" sz="1200">
                <a:solidFill>
                  <a:srgbClr val="BECDC3"/>
                </a:solidFill>
                <a:latin typeface="Aptos"/>
                <a:ea typeface="Aptos"/>
                <a:cs typeface="Aptos"/>
                <a:sym typeface="Aptos"/>
              </a:rPr>
              <a:t>05/12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7308770" y="3148547"/>
            <a:ext cx="1835537" cy="691406"/>
            <a:chOff x="0" y="0"/>
            <a:chExt cx="3482203" cy="131166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482203" cy="1311656"/>
            </a:xfrm>
            <a:custGeom>
              <a:avLst/>
              <a:gdLst/>
              <a:ahLst/>
              <a:cxnLst/>
              <a:rect r="r" b="b" t="t" l="l"/>
              <a:pathLst>
                <a:path h="1311656" w="3482203">
                  <a:moveTo>
                    <a:pt x="0" y="218567"/>
                  </a:moveTo>
                  <a:cubicBezTo>
                    <a:pt x="0" y="97917"/>
                    <a:pt x="84044" y="0"/>
                    <a:pt x="187600" y="0"/>
                  </a:cubicBezTo>
                  <a:lnTo>
                    <a:pt x="3294603" y="0"/>
                  </a:lnTo>
                  <a:cubicBezTo>
                    <a:pt x="3398268" y="0"/>
                    <a:pt x="3482203" y="97917"/>
                    <a:pt x="3482203" y="218567"/>
                  </a:cubicBezTo>
                  <a:lnTo>
                    <a:pt x="3482203" y="1093089"/>
                  </a:lnTo>
                  <a:cubicBezTo>
                    <a:pt x="3482203" y="1213866"/>
                    <a:pt x="3398159" y="1311656"/>
                    <a:pt x="3294603" y="1311656"/>
                  </a:cubicBezTo>
                  <a:lnTo>
                    <a:pt x="187600" y="1311656"/>
                  </a:lnTo>
                  <a:cubicBezTo>
                    <a:pt x="84044" y="1311656"/>
                    <a:pt x="0" y="1213739"/>
                    <a:pt x="0" y="1093089"/>
                  </a:cubicBezTo>
                  <a:close/>
                </a:path>
              </a:pathLst>
            </a:custGeom>
            <a:solidFill>
              <a:srgbClr val="05230F"/>
            </a:solidFill>
            <a:ln w="22878" cap="sq">
              <a:solidFill>
                <a:srgbClr val="78FF64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10206982" y="3148547"/>
            <a:ext cx="1835537" cy="691406"/>
            <a:chOff x="0" y="0"/>
            <a:chExt cx="3482203" cy="131166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482203" cy="1311656"/>
            </a:xfrm>
            <a:custGeom>
              <a:avLst/>
              <a:gdLst/>
              <a:ahLst/>
              <a:cxnLst/>
              <a:rect r="r" b="b" t="t" l="l"/>
              <a:pathLst>
                <a:path h="1311656" w="3482203">
                  <a:moveTo>
                    <a:pt x="0" y="218567"/>
                  </a:moveTo>
                  <a:cubicBezTo>
                    <a:pt x="0" y="97917"/>
                    <a:pt x="84044" y="0"/>
                    <a:pt x="187600" y="0"/>
                  </a:cubicBezTo>
                  <a:lnTo>
                    <a:pt x="3294603" y="0"/>
                  </a:lnTo>
                  <a:cubicBezTo>
                    <a:pt x="3398268" y="0"/>
                    <a:pt x="3482203" y="97917"/>
                    <a:pt x="3482203" y="218567"/>
                  </a:cubicBezTo>
                  <a:lnTo>
                    <a:pt x="3482203" y="1093089"/>
                  </a:lnTo>
                  <a:cubicBezTo>
                    <a:pt x="3482203" y="1213866"/>
                    <a:pt x="3398159" y="1311656"/>
                    <a:pt x="3294603" y="1311656"/>
                  </a:cubicBezTo>
                  <a:lnTo>
                    <a:pt x="187600" y="1311656"/>
                  </a:lnTo>
                  <a:cubicBezTo>
                    <a:pt x="84044" y="1311656"/>
                    <a:pt x="0" y="1213739"/>
                    <a:pt x="0" y="1093089"/>
                  </a:cubicBezTo>
                  <a:close/>
                </a:path>
              </a:pathLst>
            </a:custGeom>
            <a:solidFill>
              <a:srgbClr val="05230F"/>
            </a:solidFill>
            <a:ln w="22878" cap="sq">
              <a:solidFill>
                <a:srgbClr val="78FF64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13105194" y="3148547"/>
            <a:ext cx="1835537" cy="691406"/>
            <a:chOff x="0" y="0"/>
            <a:chExt cx="3482203" cy="1311669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482203" cy="1311656"/>
            </a:xfrm>
            <a:custGeom>
              <a:avLst/>
              <a:gdLst/>
              <a:ahLst/>
              <a:cxnLst/>
              <a:rect r="r" b="b" t="t" l="l"/>
              <a:pathLst>
                <a:path h="1311656" w="3482203">
                  <a:moveTo>
                    <a:pt x="0" y="218567"/>
                  </a:moveTo>
                  <a:cubicBezTo>
                    <a:pt x="0" y="97917"/>
                    <a:pt x="84044" y="0"/>
                    <a:pt x="187600" y="0"/>
                  </a:cubicBezTo>
                  <a:lnTo>
                    <a:pt x="3294603" y="0"/>
                  </a:lnTo>
                  <a:cubicBezTo>
                    <a:pt x="3398268" y="0"/>
                    <a:pt x="3482203" y="97917"/>
                    <a:pt x="3482203" y="218567"/>
                  </a:cubicBezTo>
                  <a:lnTo>
                    <a:pt x="3482203" y="1093089"/>
                  </a:lnTo>
                  <a:cubicBezTo>
                    <a:pt x="3482203" y="1213866"/>
                    <a:pt x="3398159" y="1311656"/>
                    <a:pt x="3294603" y="1311656"/>
                  </a:cubicBezTo>
                  <a:lnTo>
                    <a:pt x="187600" y="1311656"/>
                  </a:lnTo>
                  <a:cubicBezTo>
                    <a:pt x="84044" y="1311656"/>
                    <a:pt x="0" y="1213739"/>
                    <a:pt x="0" y="1093089"/>
                  </a:cubicBezTo>
                  <a:close/>
                </a:path>
              </a:pathLst>
            </a:custGeom>
            <a:solidFill>
              <a:srgbClr val="05230F"/>
            </a:solidFill>
            <a:ln w="22878" cap="sq">
              <a:solidFill>
                <a:srgbClr val="78FF64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7308770" y="4209773"/>
            <a:ext cx="1835537" cy="691406"/>
            <a:chOff x="0" y="0"/>
            <a:chExt cx="3482203" cy="1311669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482203" cy="1311656"/>
            </a:xfrm>
            <a:custGeom>
              <a:avLst/>
              <a:gdLst/>
              <a:ahLst/>
              <a:cxnLst/>
              <a:rect r="r" b="b" t="t" l="l"/>
              <a:pathLst>
                <a:path h="1311656" w="3482203">
                  <a:moveTo>
                    <a:pt x="0" y="218567"/>
                  </a:moveTo>
                  <a:cubicBezTo>
                    <a:pt x="0" y="97917"/>
                    <a:pt x="84044" y="0"/>
                    <a:pt x="187600" y="0"/>
                  </a:cubicBezTo>
                  <a:lnTo>
                    <a:pt x="3294603" y="0"/>
                  </a:lnTo>
                  <a:cubicBezTo>
                    <a:pt x="3398268" y="0"/>
                    <a:pt x="3482203" y="97917"/>
                    <a:pt x="3482203" y="218567"/>
                  </a:cubicBezTo>
                  <a:lnTo>
                    <a:pt x="3482203" y="1093089"/>
                  </a:lnTo>
                  <a:cubicBezTo>
                    <a:pt x="3482203" y="1213866"/>
                    <a:pt x="3398159" y="1311656"/>
                    <a:pt x="3294603" y="1311656"/>
                  </a:cubicBezTo>
                  <a:lnTo>
                    <a:pt x="187600" y="1311656"/>
                  </a:lnTo>
                  <a:cubicBezTo>
                    <a:pt x="84044" y="1311656"/>
                    <a:pt x="0" y="1213739"/>
                    <a:pt x="0" y="1093089"/>
                  </a:cubicBezTo>
                  <a:close/>
                </a:path>
              </a:pathLst>
            </a:custGeom>
            <a:solidFill>
              <a:srgbClr val="05230F"/>
            </a:solidFill>
            <a:ln w="22878" cap="sq">
              <a:solidFill>
                <a:srgbClr val="78FF64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7308770" y="5270999"/>
            <a:ext cx="1835537" cy="691406"/>
            <a:chOff x="0" y="0"/>
            <a:chExt cx="3482203" cy="1311669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482203" cy="1311656"/>
            </a:xfrm>
            <a:custGeom>
              <a:avLst/>
              <a:gdLst/>
              <a:ahLst/>
              <a:cxnLst/>
              <a:rect r="r" b="b" t="t" l="l"/>
              <a:pathLst>
                <a:path h="1311656" w="3482203">
                  <a:moveTo>
                    <a:pt x="0" y="218567"/>
                  </a:moveTo>
                  <a:cubicBezTo>
                    <a:pt x="0" y="97917"/>
                    <a:pt x="84044" y="0"/>
                    <a:pt x="187600" y="0"/>
                  </a:cubicBezTo>
                  <a:lnTo>
                    <a:pt x="3294603" y="0"/>
                  </a:lnTo>
                  <a:cubicBezTo>
                    <a:pt x="3398268" y="0"/>
                    <a:pt x="3482203" y="97917"/>
                    <a:pt x="3482203" y="218567"/>
                  </a:cubicBezTo>
                  <a:lnTo>
                    <a:pt x="3482203" y="1093089"/>
                  </a:lnTo>
                  <a:cubicBezTo>
                    <a:pt x="3482203" y="1213866"/>
                    <a:pt x="3398159" y="1311656"/>
                    <a:pt x="3294603" y="1311656"/>
                  </a:cubicBezTo>
                  <a:lnTo>
                    <a:pt x="187600" y="1311656"/>
                  </a:lnTo>
                  <a:cubicBezTo>
                    <a:pt x="84044" y="1311656"/>
                    <a:pt x="0" y="1213739"/>
                    <a:pt x="0" y="1093089"/>
                  </a:cubicBezTo>
                  <a:close/>
                </a:path>
              </a:pathLst>
            </a:custGeom>
            <a:solidFill>
              <a:srgbClr val="05230F"/>
            </a:solidFill>
            <a:ln w="22878" cap="sq">
              <a:solidFill>
                <a:srgbClr val="78FF64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7308770" y="6332225"/>
            <a:ext cx="1835537" cy="691406"/>
            <a:chOff x="0" y="0"/>
            <a:chExt cx="3482203" cy="1311669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482203" cy="1311656"/>
            </a:xfrm>
            <a:custGeom>
              <a:avLst/>
              <a:gdLst/>
              <a:ahLst/>
              <a:cxnLst/>
              <a:rect r="r" b="b" t="t" l="l"/>
              <a:pathLst>
                <a:path h="1311656" w="3482203">
                  <a:moveTo>
                    <a:pt x="0" y="218567"/>
                  </a:moveTo>
                  <a:cubicBezTo>
                    <a:pt x="0" y="97917"/>
                    <a:pt x="84044" y="0"/>
                    <a:pt x="187600" y="0"/>
                  </a:cubicBezTo>
                  <a:lnTo>
                    <a:pt x="3294603" y="0"/>
                  </a:lnTo>
                  <a:cubicBezTo>
                    <a:pt x="3398268" y="0"/>
                    <a:pt x="3482203" y="97917"/>
                    <a:pt x="3482203" y="218567"/>
                  </a:cubicBezTo>
                  <a:lnTo>
                    <a:pt x="3482203" y="1093089"/>
                  </a:lnTo>
                  <a:cubicBezTo>
                    <a:pt x="3482203" y="1213866"/>
                    <a:pt x="3398159" y="1311656"/>
                    <a:pt x="3294603" y="1311656"/>
                  </a:cubicBezTo>
                  <a:lnTo>
                    <a:pt x="187600" y="1311656"/>
                  </a:lnTo>
                  <a:cubicBezTo>
                    <a:pt x="84044" y="1311656"/>
                    <a:pt x="0" y="1213739"/>
                    <a:pt x="0" y="1093089"/>
                  </a:cubicBezTo>
                  <a:close/>
                </a:path>
              </a:pathLst>
            </a:custGeom>
            <a:solidFill>
              <a:srgbClr val="05230F"/>
            </a:solidFill>
            <a:ln w="22878" cap="sq">
              <a:solidFill>
                <a:srgbClr val="78FF64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7308770" y="7393451"/>
            <a:ext cx="1835537" cy="691406"/>
            <a:chOff x="0" y="0"/>
            <a:chExt cx="3482203" cy="1311669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3482203" cy="1311656"/>
            </a:xfrm>
            <a:custGeom>
              <a:avLst/>
              <a:gdLst/>
              <a:ahLst/>
              <a:cxnLst/>
              <a:rect r="r" b="b" t="t" l="l"/>
              <a:pathLst>
                <a:path h="1311656" w="3482203">
                  <a:moveTo>
                    <a:pt x="0" y="218567"/>
                  </a:moveTo>
                  <a:cubicBezTo>
                    <a:pt x="0" y="97917"/>
                    <a:pt x="84044" y="0"/>
                    <a:pt x="187600" y="0"/>
                  </a:cubicBezTo>
                  <a:lnTo>
                    <a:pt x="3294603" y="0"/>
                  </a:lnTo>
                  <a:cubicBezTo>
                    <a:pt x="3398268" y="0"/>
                    <a:pt x="3482203" y="97917"/>
                    <a:pt x="3482203" y="218567"/>
                  </a:cubicBezTo>
                  <a:lnTo>
                    <a:pt x="3482203" y="1093089"/>
                  </a:lnTo>
                  <a:cubicBezTo>
                    <a:pt x="3482203" y="1213866"/>
                    <a:pt x="3398159" y="1311656"/>
                    <a:pt x="3294603" y="1311656"/>
                  </a:cubicBezTo>
                  <a:lnTo>
                    <a:pt x="187600" y="1311656"/>
                  </a:lnTo>
                  <a:cubicBezTo>
                    <a:pt x="84044" y="1311656"/>
                    <a:pt x="0" y="1213739"/>
                    <a:pt x="0" y="1093089"/>
                  </a:cubicBezTo>
                  <a:close/>
                </a:path>
              </a:pathLst>
            </a:custGeom>
            <a:solidFill>
              <a:srgbClr val="05230F"/>
            </a:solidFill>
            <a:ln w="22878" cap="sq">
              <a:solidFill>
                <a:srgbClr val="78FF64"/>
              </a:solidFill>
              <a:prstDash val="solid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10372591" y="4113300"/>
            <a:ext cx="1504313" cy="787879"/>
            <a:chOff x="0" y="0"/>
            <a:chExt cx="2853837" cy="1494688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853900" cy="1494790"/>
            </a:xfrm>
            <a:custGeom>
              <a:avLst/>
              <a:gdLst/>
              <a:ahLst/>
              <a:cxnLst/>
              <a:rect r="r" b="b" t="t" l="l"/>
              <a:pathLst>
                <a:path h="1494790" w="2853900">
                  <a:moveTo>
                    <a:pt x="0" y="249174"/>
                  </a:moveTo>
                  <a:cubicBezTo>
                    <a:pt x="0" y="111506"/>
                    <a:pt x="95707" y="0"/>
                    <a:pt x="213870" y="0"/>
                  </a:cubicBezTo>
                  <a:lnTo>
                    <a:pt x="2640021" y="0"/>
                  </a:lnTo>
                  <a:cubicBezTo>
                    <a:pt x="2758075" y="0"/>
                    <a:pt x="2853900" y="111506"/>
                    <a:pt x="2853900" y="249174"/>
                  </a:cubicBezTo>
                  <a:lnTo>
                    <a:pt x="2853900" y="1245616"/>
                  </a:lnTo>
                  <a:cubicBezTo>
                    <a:pt x="2853900" y="1383157"/>
                    <a:pt x="2758184" y="1494790"/>
                    <a:pt x="2640021" y="1494790"/>
                  </a:cubicBezTo>
                  <a:lnTo>
                    <a:pt x="213870" y="1494790"/>
                  </a:lnTo>
                  <a:cubicBezTo>
                    <a:pt x="95707" y="1494663"/>
                    <a:pt x="0" y="1383157"/>
                    <a:pt x="0" y="1245616"/>
                  </a:cubicBezTo>
                  <a:close/>
                </a:path>
              </a:pathLst>
            </a:custGeom>
            <a:solidFill>
              <a:srgbClr val="05230F"/>
            </a:solidFill>
            <a:ln w="22878" cap="sq">
              <a:solidFill>
                <a:srgbClr val="78FF64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10372591" y="5608662"/>
            <a:ext cx="1504313" cy="884353"/>
            <a:chOff x="0" y="0"/>
            <a:chExt cx="2853837" cy="1677708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853900" cy="1677797"/>
            </a:xfrm>
            <a:custGeom>
              <a:avLst/>
              <a:gdLst/>
              <a:ahLst/>
              <a:cxnLst/>
              <a:rect r="r" b="b" t="t" l="l"/>
              <a:pathLst>
                <a:path h="1677797" w="2853900">
                  <a:moveTo>
                    <a:pt x="0" y="279654"/>
                  </a:moveTo>
                  <a:cubicBezTo>
                    <a:pt x="0" y="125222"/>
                    <a:pt x="107480" y="0"/>
                    <a:pt x="240032" y="0"/>
                  </a:cubicBezTo>
                  <a:lnTo>
                    <a:pt x="2613860" y="0"/>
                  </a:lnTo>
                  <a:cubicBezTo>
                    <a:pt x="2746411" y="0"/>
                    <a:pt x="2853900" y="125222"/>
                    <a:pt x="2853900" y="279654"/>
                  </a:cubicBezTo>
                  <a:lnTo>
                    <a:pt x="2853900" y="1398143"/>
                  </a:lnTo>
                  <a:cubicBezTo>
                    <a:pt x="2853900" y="1552575"/>
                    <a:pt x="2746411" y="1677797"/>
                    <a:pt x="2613860" y="1677797"/>
                  </a:cubicBezTo>
                  <a:lnTo>
                    <a:pt x="240032" y="1677797"/>
                  </a:lnTo>
                  <a:cubicBezTo>
                    <a:pt x="107480" y="1677670"/>
                    <a:pt x="0" y="1552575"/>
                    <a:pt x="0" y="1398143"/>
                  </a:cubicBezTo>
                  <a:close/>
                </a:path>
              </a:pathLst>
            </a:custGeom>
            <a:solidFill>
              <a:srgbClr val="05230F"/>
            </a:solidFill>
            <a:ln w="22878" cap="sq">
              <a:solidFill>
                <a:srgbClr val="78FF64"/>
              </a:solidFill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10372591" y="7137324"/>
            <a:ext cx="1504313" cy="884353"/>
            <a:chOff x="0" y="0"/>
            <a:chExt cx="2853837" cy="1677708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853900" cy="1677797"/>
            </a:xfrm>
            <a:custGeom>
              <a:avLst/>
              <a:gdLst/>
              <a:ahLst/>
              <a:cxnLst/>
              <a:rect r="r" b="b" t="t" l="l"/>
              <a:pathLst>
                <a:path h="1677797" w="2853900">
                  <a:moveTo>
                    <a:pt x="0" y="279654"/>
                  </a:moveTo>
                  <a:cubicBezTo>
                    <a:pt x="0" y="125222"/>
                    <a:pt x="107480" y="0"/>
                    <a:pt x="240032" y="0"/>
                  </a:cubicBezTo>
                  <a:lnTo>
                    <a:pt x="2613860" y="0"/>
                  </a:lnTo>
                  <a:cubicBezTo>
                    <a:pt x="2746411" y="0"/>
                    <a:pt x="2853900" y="125222"/>
                    <a:pt x="2853900" y="279654"/>
                  </a:cubicBezTo>
                  <a:lnTo>
                    <a:pt x="2853900" y="1398143"/>
                  </a:lnTo>
                  <a:cubicBezTo>
                    <a:pt x="2853900" y="1552575"/>
                    <a:pt x="2746411" y="1677797"/>
                    <a:pt x="2613860" y="1677797"/>
                  </a:cubicBezTo>
                  <a:lnTo>
                    <a:pt x="240032" y="1677797"/>
                  </a:lnTo>
                  <a:cubicBezTo>
                    <a:pt x="107480" y="1677670"/>
                    <a:pt x="0" y="1552575"/>
                    <a:pt x="0" y="1398143"/>
                  </a:cubicBezTo>
                  <a:close/>
                </a:path>
              </a:pathLst>
            </a:custGeom>
            <a:solidFill>
              <a:srgbClr val="05230F"/>
            </a:solidFill>
            <a:ln w="22878" cap="sq">
              <a:solidFill>
                <a:srgbClr val="78FF64"/>
              </a:solidFill>
              <a:prstDash val="solid"/>
              <a:miter/>
            </a:ln>
          </p:spPr>
        </p:sp>
      </p:grpSp>
      <p:grpSp>
        <p:nvGrpSpPr>
          <p:cNvPr name="Group 38" id="38"/>
          <p:cNvGrpSpPr/>
          <p:nvPr/>
        </p:nvGrpSpPr>
        <p:grpSpPr>
          <a:xfrm rot="0">
            <a:off x="13187999" y="4180806"/>
            <a:ext cx="1669922" cy="691406"/>
            <a:chOff x="0" y="0"/>
            <a:chExt cx="3168014" cy="1311669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3167938" cy="1311656"/>
            </a:xfrm>
            <a:custGeom>
              <a:avLst/>
              <a:gdLst/>
              <a:ahLst/>
              <a:cxnLst/>
              <a:rect r="r" b="b" t="t" l="l"/>
              <a:pathLst>
                <a:path h="1311656" w="3167938">
                  <a:moveTo>
                    <a:pt x="0" y="218567"/>
                  </a:moveTo>
                  <a:cubicBezTo>
                    <a:pt x="0" y="97917"/>
                    <a:pt x="84044" y="0"/>
                    <a:pt x="187600" y="0"/>
                  </a:cubicBezTo>
                  <a:lnTo>
                    <a:pt x="2980338" y="0"/>
                  </a:lnTo>
                  <a:cubicBezTo>
                    <a:pt x="3084004" y="0"/>
                    <a:pt x="3167938" y="97917"/>
                    <a:pt x="3167938" y="218567"/>
                  </a:cubicBezTo>
                  <a:lnTo>
                    <a:pt x="3167938" y="1093089"/>
                  </a:lnTo>
                  <a:cubicBezTo>
                    <a:pt x="3167938" y="1213866"/>
                    <a:pt x="3083894" y="1311656"/>
                    <a:pt x="2980338" y="1311656"/>
                  </a:cubicBezTo>
                  <a:lnTo>
                    <a:pt x="187600" y="1311656"/>
                  </a:lnTo>
                  <a:cubicBezTo>
                    <a:pt x="84044" y="1311656"/>
                    <a:pt x="0" y="1213739"/>
                    <a:pt x="0" y="1093089"/>
                  </a:cubicBezTo>
                  <a:close/>
                </a:path>
              </a:pathLst>
            </a:custGeom>
            <a:solidFill>
              <a:srgbClr val="05230F"/>
            </a:solidFill>
            <a:ln w="22878" cap="sq">
              <a:solidFill>
                <a:srgbClr val="78FF64"/>
              </a:solidFill>
              <a:prstDash val="solid"/>
              <a:miter/>
            </a:ln>
          </p:spPr>
        </p:sp>
      </p:grpSp>
      <p:grpSp>
        <p:nvGrpSpPr>
          <p:cNvPr name="Group 40" id="40"/>
          <p:cNvGrpSpPr/>
          <p:nvPr/>
        </p:nvGrpSpPr>
        <p:grpSpPr>
          <a:xfrm rot="0">
            <a:off x="13187999" y="5733116"/>
            <a:ext cx="1669922" cy="691406"/>
            <a:chOff x="0" y="0"/>
            <a:chExt cx="3168014" cy="1311669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3167938" cy="1311656"/>
            </a:xfrm>
            <a:custGeom>
              <a:avLst/>
              <a:gdLst/>
              <a:ahLst/>
              <a:cxnLst/>
              <a:rect r="r" b="b" t="t" l="l"/>
              <a:pathLst>
                <a:path h="1311656" w="3167938">
                  <a:moveTo>
                    <a:pt x="0" y="218567"/>
                  </a:moveTo>
                  <a:cubicBezTo>
                    <a:pt x="0" y="97917"/>
                    <a:pt x="84044" y="0"/>
                    <a:pt x="187600" y="0"/>
                  </a:cubicBezTo>
                  <a:lnTo>
                    <a:pt x="2980338" y="0"/>
                  </a:lnTo>
                  <a:cubicBezTo>
                    <a:pt x="3084004" y="0"/>
                    <a:pt x="3167938" y="97917"/>
                    <a:pt x="3167938" y="218567"/>
                  </a:cubicBezTo>
                  <a:lnTo>
                    <a:pt x="3167938" y="1093089"/>
                  </a:lnTo>
                  <a:cubicBezTo>
                    <a:pt x="3167938" y="1213866"/>
                    <a:pt x="3083894" y="1311656"/>
                    <a:pt x="2980338" y="1311656"/>
                  </a:cubicBezTo>
                  <a:lnTo>
                    <a:pt x="187600" y="1311656"/>
                  </a:lnTo>
                  <a:cubicBezTo>
                    <a:pt x="84044" y="1311656"/>
                    <a:pt x="0" y="1213739"/>
                    <a:pt x="0" y="1093089"/>
                  </a:cubicBezTo>
                  <a:close/>
                </a:path>
              </a:pathLst>
            </a:custGeom>
            <a:solidFill>
              <a:srgbClr val="05230F"/>
            </a:solidFill>
            <a:ln w="22878" cap="sq">
              <a:solidFill>
                <a:srgbClr val="78FF64"/>
              </a:solidFill>
              <a:prstDash val="solid"/>
              <a:miter/>
            </a:ln>
          </p:spPr>
        </p:sp>
      </p:grpSp>
      <p:grpSp>
        <p:nvGrpSpPr>
          <p:cNvPr name="Group 42" id="42"/>
          <p:cNvGrpSpPr/>
          <p:nvPr/>
        </p:nvGrpSpPr>
        <p:grpSpPr>
          <a:xfrm rot="0">
            <a:off x="13187999" y="7261778"/>
            <a:ext cx="1669922" cy="691406"/>
            <a:chOff x="0" y="0"/>
            <a:chExt cx="3168014" cy="1311669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3167938" cy="1311656"/>
            </a:xfrm>
            <a:custGeom>
              <a:avLst/>
              <a:gdLst/>
              <a:ahLst/>
              <a:cxnLst/>
              <a:rect r="r" b="b" t="t" l="l"/>
              <a:pathLst>
                <a:path h="1311656" w="3167938">
                  <a:moveTo>
                    <a:pt x="0" y="218567"/>
                  </a:moveTo>
                  <a:cubicBezTo>
                    <a:pt x="0" y="97917"/>
                    <a:pt x="84044" y="0"/>
                    <a:pt x="187600" y="0"/>
                  </a:cubicBezTo>
                  <a:lnTo>
                    <a:pt x="2980338" y="0"/>
                  </a:lnTo>
                  <a:cubicBezTo>
                    <a:pt x="3084004" y="0"/>
                    <a:pt x="3167938" y="97917"/>
                    <a:pt x="3167938" y="218567"/>
                  </a:cubicBezTo>
                  <a:lnTo>
                    <a:pt x="3167938" y="1093089"/>
                  </a:lnTo>
                  <a:cubicBezTo>
                    <a:pt x="3167938" y="1213866"/>
                    <a:pt x="3083894" y="1311656"/>
                    <a:pt x="2980338" y="1311656"/>
                  </a:cubicBezTo>
                  <a:lnTo>
                    <a:pt x="187600" y="1311656"/>
                  </a:lnTo>
                  <a:cubicBezTo>
                    <a:pt x="84044" y="1311656"/>
                    <a:pt x="0" y="1213739"/>
                    <a:pt x="0" y="1093089"/>
                  </a:cubicBezTo>
                  <a:close/>
                </a:path>
              </a:pathLst>
            </a:custGeom>
            <a:solidFill>
              <a:srgbClr val="05230F"/>
            </a:solidFill>
            <a:ln w="22878" cap="sq">
              <a:solidFill>
                <a:srgbClr val="78FF64"/>
              </a:solidFill>
              <a:prstDash val="solid"/>
              <a:miter/>
            </a:ln>
          </p:spPr>
        </p:sp>
      </p:grpSp>
      <p:grpSp>
        <p:nvGrpSpPr>
          <p:cNvPr name="Group 44" id="44"/>
          <p:cNvGrpSpPr/>
          <p:nvPr/>
        </p:nvGrpSpPr>
        <p:grpSpPr>
          <a:xfrm rot="0">
            <a:off x="15837797" y="5656899"/>
            <a:ext cx="1421503" cy="787879"/>
            <a:chOff x="0" y="0"/>
            <a:chExt cx="2696737" cy="1494688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696826" cy="1494790"/>
            </a:xfrm>
            <a:custGeom>
              <a:avLst/>
              <a:gdLst/>
              <a:ahLst/>
              <a:cxnLst/>
              <a:rect r="r" b="b" t="t" l="l"/>
              <a:pathLst>
                <a:path h="1494790" w="2696826">
                  <a:moveTo>
                    <a:pt x="0" y="249174"/>
                  </a:moveTo>
                  <a:cubicBezTo>
                    <a:pt x="0" y="111506"/>
                    <a:pt x="95707" y="0"/>
                    <a:pt x="213870" y="0"/>
                  </a:cubicBezTo>
                  <a:lnTo>
                    <a:pt x="2482943" y="0"/>
                  </a:lnTo>
                  <a:cubicBezTo>
                    <a:pt x="2600997" y="0"/>
                    <a:pt x="2696826" y="111506"/>
                    <a:pt x="2696826" y="249174"/>
                  </a:cubicBezTo>
                  <a:lnTo>
                    <a:pt x="2696826" y="1245616"/>
                  </a:lnTo>
                  <a:cubicBezTo>
                    <a:pt x="2696826" y="1383157"/>
                    <a:pt x="2601106" y="1494790"/>
                    <a:pt x="2482943" y="1494790"/>
                  </a:cubicBezTo>
                  <a:lnTo>
                    <a:pt x="213870" y="1494790"/>
                  </a:lnTo>
                  <a:cubicBezTo>
                    <a:pt x="95707" y="1494663"/>
                    <a:pt x="0" y="1383157"/>
                    <a:pt x="0" y="1245616"/>
                  </a:cubicBezTo>
                  <a:close/>
                </a:path>
              </a:pathLst>
            </a:custGeom>
            <a:solidFill>
              <a:srgbClr val="05230F"/>
            </a:solidFill>
            <a:ln w="22878" cap="sq">
              <a:solidFill>
                <a:srgbClr val="78FF64"/>
              </a:solidFill>
              <a:prstDash val="solid"/>
              <a:miter/>
            </a:ln>
          </p:spPr>
        </p:sp>
      </p:grpSp>
      <p:sp>
        <p:nvSpPr>
          <p:cNvPr name="AutoShape 46" id="46"/>
          <p:cNvSpPr/>
          <p:nvPr/>
        </p:nvSpPr>
        <p:spPr>
          <a:xfrm flipV="true">
            <a:off x="9144307" y="4507240"/>
            <a:ext cx="1228284" cy="48237"/>
          </a:xfrm>
          <a:prstGeom prst="line">
            <a:avLst/>
          </a:prstGeom>
          <a:ln cap="flat" w="28575">
            <a:solidFill>
              <a:srgbClr val="74DE62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47" id="47"/>
          <p:cNvSpPr txBox="true"/>
          <p:nvPr/>
        </p:nvSpPr>
        <p:spPr>
          <a:xfrm rot="0">
            <a:off x="7355795" y="3324059"/>
            <a:ext cx="1726450" cy="3308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32"/>
              </a:lnSpc>
            </a:pPr>
            <a:r>
              <a:rPr lang="en-US" sz="2110" b="true">
                <a:solidFill>
                  <a:srgbClr val="78FF64"/>
                </a:solidFill>
                <a:latin typeface="Aptos Bold"/>
                <a:ea typeface="Aptos Bold"/>
                <a:cs typeface="Aptos Bold"/>
                <a:sym typeface="Aptos Bold"/>
              </a:rPr>
              <a:t>Inputs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0254008" y="3324059"/>
            <a:ext cx="1726450" cy="3308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32"/>
              </a:lnSpc>
            </a:pPr>
            <a:r>
              <a:rPr lang="en-US" sz="2110" b="true">
                <a:solidFill>
                  <a:srgbClr val="78FF64"/>
                </a:solidFill>
                <a:latin typeface="Aptos Bold"/>
                <a:ea typeface="Aptos Bold"/>
                <a:cs typeface="Aptos Bold"/>
                <a:sym typeface="Aptos Bold"/>
              </a:rPr>
              <a:t>Analyses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3152220" y="3324059"/>
            <a:ext cx="1726450" cy="3308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32"/>
              </a:lnSpc>
            </a:pPr>
            <a:r>
              <a:rPr lang="en-US" sz="2110" b="true">
                <a:solidFill>
                  <a:srgbClr val="78FF64"/>
                </a:solidFill>
                <a:latin typeface="Aptos Bold"/>
                <a:ea typeface="Aptos Bold"/>
                <a:cs typeface="Aptos Bold"/>
                <a:sym typeface="Aptos Bold"/>
              </a:rPr>
              <a:t>Partial scores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7355795" y="4421588"/>
            <a:ext cx="1726450" cy="267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52"/>
              </a:lnSpc>
            </a:pPr>
            <a:r>
              <a:rPr lang="en-US" sz="1793" b="true">
                <a:solidFill>
                  <a:srgbClr val="78FF64"/>
                </a:solidFill>
                <a:latin typeface="Aptos Bold"/>
                <a:ea typeface="Aptos Bold"/>
                <a:cs typeface="Aptos Bold"/>
                <a:sym typeface="Aptos Bold"/>
              </a:rPr>
              <a:t>Query FASTA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7355795" y="5482814"/>
            <a:ext cx="1726450" cy="267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52"/>
              </a:lnSpc>
            </a:pPr>
            <a:r>
              <a:rPr lang="en-US" sz="1793" b="true">
                <a:solidFill>
                  <a:srgbClr val="78FF64"/>
                </a:solidFill>
                <a:latin typeface="Aptos Bold"/>
                <a:ea typeface="Aptos Bold"/>
                <a:cs typeface="Aptos Bold"/>
                <a:sym typeface="Aptos Bold"/>
              </a:rPr>
              <a:t>Curated RBP DB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7355795" y="6544039"/>
            <a:ext cx="1726450" cy="267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52"/>
              </a:lnSpc>
            </a:pPr>
            <a:r>
              <a:rPr lang="en-US" sz="1793" b="true">
                <a:solidFill>
                  <a:srgbClr val="78FF64"/>
                </a:solidFill>
                <a:latin typeface="Aptos Bold"/>
                <a:ea typeface="Aptos Bold"/>
                <a:cs typeface="Aptos Bold"/>
                <a:sym typeface="Aptos Bold"/>
              </a:rPr>
              <a:t>Outgroup FASTA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7355795" y="7605265"/>
            <a:ext cx="1726450" cy="267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52"/>
              </a:lnSpc>
            </a:pPr>
            <a:r>
              <a:rPr lang="en-US" sz="1793" b="true">
                <a:solidFill>
                  <a:srgbClr val="78FF64"/>
                </a:solidFill>
                <a:latin typeface="Aptos Bold"/>
                <a:ea typeface="Aptos Bold"/>
                <a:cs typeface="Aptos Bold"/>
                <a:sym typeface="Aptos Bold"/>
              </a:rPr>
              <a:t>Reference PDBs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0422527" y="4363310"/>
            <a:ext cx="1392316" cy="287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78"/>
              </a:lnSpc>
            </a:pPr>
            <a:r>
              <a:rPr lang="en-US" sz="1899" b="true">
                <a:solidFill>
                  <a:srgbClr val="78FF64"/>
                </a:solidFill>
                <a:latin typeface="Aptos Bold"/>
                <a:ea typeface="Aptos Bold"/>
                <a:cs typeface="Aptos Bold"/>
                <a:sym typeface="Aptos Bold"/>
              </a:rPr>
              <a:t>BLASTp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0422527" y="5659732"/>
            <a:ext cx="1392316" cy="7726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25"/>
              </a:lnSpc>
            </a:pPr>
            <a:r>
              <a:rPr lang="en-US" sz="1688" b="true">
                <a:solidFill>
                  <a:srgbClr val="78FF64"/>
                </a:solidFill>
                <a:latin typeface="Aptos Bold"/>
                <a:ea typeface="Aptos Bold"/>
                <a:cs typeface="Aptos Bold"/>
                <a:sym typeface="Aptos Bold"/>
              </a:rPr>
              <a:t>MUSCLE</a:t>
            </a:r>
          </a:p>
          <a:p>
            <a:pPr algn="ctr">
              <a:lnSpc>
                <a:spcPts val="2025"/>
              </a:lnSpc>
            </a:pPr>
            <a:r>
              <a:rPr lang="en-US" sz="1688" b="true">
                <a:solidFill>
                  <a:srgbClr val="78FF64"/>
                </a:solidFill>
                <a:latin typeface="Aptos Bold"/>
                <a:ea typeface="Aptos Bold"/>
                <a:cs typeface="Aptos Bold"/>
                <a:sym typeface="Aptos Bold"/>
              </a:rPr>
              <a:t>+ </a:t>
            </a:r>
          </a:p>
          <a:p>
            <a:pPr algn="ctr">
              <a:lnSpc>
                <a:spcPts val="2025"/>
              </a:lnSpc>
            </a:pPr>
            <a:r>
              <a:rPr lang="en-US" sz="1688" b="true">
                <a:solidFill>
                  <a:srgbClr val="78FF64"/>
                </a:solidFill>
                <a:latin typeface="Aptos Bold"/>
                <a:ea typeface="Aptos Bold"/>
                <a:cs typeface="Aptos Bold"/>
                <a:sym typeface="Aptos Bold"/>
              </a:rPr>
              <a:t>FastTree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0422527" y="7188393"/>
            <a:ext cx="1392316" cy="7726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25"/>
              </a:lnSpc>
            </a:pPr>
            <a:r>
              <a:rPr lang="en-US" sz="1688" b="true">
                <a:solidFill>
                  <a:srgbClr val="78FF64"/>
                </a:solidFill>
                <a:latin typeface="Aptos Bold"/>
                <a:ea typeface="Aptos Bold"/>
                <a:cs typeface="Aptos Bold"/>
                <a:sym typeface="Aptos Bold"/>
              </a:rPr>
              <a:t>ColabFold  </a:t>
            </a:r>
          </a:p>
          <a:p>
            <a:pPr algn="ctr">
              <a:lnSpc>
                <a:spcPts val="2025"/>
              </a:lnSpc>
            </a:pPr>
            <a:r>
              <a:rPr lang="en-US" sz="1688" b="true">
                <a:solidFill>
                  <a:srgbClr val="78FF64"/>
                </a:solidFill>
                <a:latin typeface="Aptos Bold"/>
                <a:ea typeface="Aptos Bold"/>
                <a:cs typeface="Aptos Bold"/>
                <a:sym typeface="Aptos Bold"/>
              </a:rPr>
              <a:t>+</a:t>
            </a:r>
          </a:p>
          <a:p>
            <a:pPr algn="ctr">
              <a:lnSpc>
                <a:spcPts val="2025"/>
              </a:lnSpc>
            </a:pPr>
            <a:r>
              <a:rPr lang="en-US" sz="1688" b="true">
                <a:solidFill>
                  <a:srgbClr val="78FF64"/>
                </a:solidFill>
                <a:latin typeface="Aptos Bold"/>
                <a:ea typeface="Aptos Bold"/>
                <a:cs typeface="Aptos Bold"/>
                <a:sym typeface="Aptos Bold"/>
              </a:rPr>
              <a:t> Foldseek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3243270" y="4258732"/>
            <a:ext cx="1559380" cy="5355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52"/>
              </a:lnSpc>
            </a:pPr>
            <a:r>
              <a:rPr lang="en-US" sz="1793" b="true">
                <a:solidFill>
                  <a:srgbClr val="78FF64"/>
                </a:solidFill>
                <a:latin typeface="Aptos Bold"/>
                <a:ea typeface="Aptos Bold"/>
                <a:cs typeface="Aptos Bold"/>
                <a:sym typeface="Aptos Bold"/>
              </a:rPr>
              <a:t>Sequence score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3243270" y="5811043"/>
            <a:ext cx="1559380" cy="5355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52"/>
              </a:lnSpc>
            </a:pPr>
            <a:r>
              <a:rPr lang="en-US" sz="1793" b="true">
                <a:solidFill>
                  <a:srgbClr val="78FF64"/>
                </a:solidFill>
                <a:latin typeface="Aptos Bold"/>
                <a:ea typeface="Aptos Bold"/>
                <a:cs typeface="Aptos Bold"/>
                <a:sym typeface="Aptos Bold"/>
              </a:rPr>
              <a:t>Phylogeny score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13243270" y="7339704"/>
            <a:ext cx="1559380" cy="5355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52"/>
              </a:lnSpc>
            </a:pPr>
            <a:r>
              <a:rPr lang="en-US" sz="1793" b="true">
                <a:solidFill>
                  <a:srgbClr val="78FF64"/>
                </a:solidFill>
                <a:latin typeface="Aptos Bold"/>
                <a:ea typeface="Aptos Bold"/>
                <a:cs typeface="Aptos Bold"/>
                <a:sym typeface="Aptos Bold"/>
              </a:rPr>
              <a:t>Structural score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15888460" y="5906908"/>
            <a:ext cx="1308778" cy="287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78"/>
              </a:lnSpc>
            </a:pPr>
            <a:r>
              <a:rPr lang="en-US" sz="1899" b="true">
                <a:solidFill>
                  <a:srgbClr val="78FF64"/>
                </a:solidFill>
                <a:latin typeface="Aptos Bold"/>
                <a:ea typeface="Aptos Bold"/>
                <a:cs typeface="Aptos Bold"/>
                <a:sym typeface="Aptos Bold"/>
              </a:rPr>
              <a:t>RBP-Score</a:t>
            </a:r>
          </a:p>
        </p:txBody>
      </p:sp>
      <p:sp>
        <p:nvSpPr>
          <p:cNvPr name="AutoShape 61" id="61"/>
          <p:cNvSpPr/>
          <p:nvPr/>
        </p:nvSpPr>
        <p:spPr>
          <a:xfrm>
            <a:off x="9144307" y="4555476"/>
            <a:ext cx="1228284" cy="1361474"/>
          </a:xfrm>
          <a:prstGeom prst="line">
            <a:avLst/>
          </a:prstGeom>
          <a:ln cap="flat" w="28575">
            <a:solidFill>
              <a:srgbClr val="74DE62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62" id="62"/>
          <p:cNvSpPr/>
          <p:nvPr/>
        </p:nvSpPr>
        <p:spPr>
          <a:xfrm flipV="true">
            <a:off x="9144307" y="4641128"/>
            <a:ext cx="1228284" cy="975574"/>
          </a:xfrm>
          <a:prstGeom prst="line">
            <a:avLst/>
          </a:prstGeom>
          <a:ln cap="flat" w="28575">
            <a:solidFill>
              <a:srgbClr val="74DE62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63" id="63"/>
          <p:cNvSpPr/>
          <p:nvPr/>
        </p:nvSpPr>
        <p:spPr>
          <a:xfrm flipV="true">
            <a:off x="9144307" y="4790236"/>
            <a:ext cx="1229630" cy="1887692"/>
          </a:xfrm>
          <a:prstGeom prst="line">
            <a:avLst/>
          </a:prstGeom>
          <a:ln cap="flat" w="28575">
            <a:solidFill>
              <a:srgbClr val="74DE62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64" id="64"/>
          <p:cNvSpPr/>
          <p:nvPr/>
        </p:nvSpPr>
        <p:spPr>
          <a:xfrm>
            <a:off x="9144307" y="5616702"/>
            <a:ext cx="1228284" cy="434136"/>
          </a:xfrm>
          <a:prstGeom prst="line">
            <a:avLst/>
          </a:prstGeom>
          <a:ln cap="flat" w="28575">
            <a:solidFill>
              <a:srgbClr val="74DE62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65" id="65"/>
          <p:cNvSpPr/>
          <p:nvPr/>
        </p:nvSpPr>
        <p:spPr>
          <a:xfrm flipV="true">
            <a:off x="9144307" y="6184727"/>
            <a:ext cx="1228284" cy="493201"/>
          </a:xfrm>
          <a:prstGeom prst="line">
            <a:avLst/>
          </a:prstGeom>
          <a:ln cap="flat" w="28575">
            <a:solidFill>
              <a:srgbClr val="74DE62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66" id="66"/>
          <p:cNvSpPr/>
          <p:nvPr/>
        </p:nvSpPr>
        <p:spPr>
          <a:xfrm flipV="true">
            <a:off x="9144307" y="7579500"/>
            <a:ext cx="1228284" cy="159653"/>
          </a:xfrm>
          <a:prstGeom prst="line">
            <a:avLst/>
          </a:prstGeom>
          <a:ln cap="flat" w="28575">
            <a:solidFill>
              <a:srgbClr val="74DE62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67" id="67"/>
          <p:cNvSpPr/>
          <p:nvPr/>
        </p:nvSpPr>
        <p:spPr>
          <a:xfrm>
            <a:off x="11876904" y="4507240"/>
            <a:ext cx="1311095" cy="19269"/>
          </a:xfrm>
          <a:prstGeom prst="line">
            <a:avLst/>
          </a:prstGeom>
          <a:ln cap="flat" w="28575">
            <a:solidFill>
              <a:srgbClr val="74DE62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68" id="68"/>
          <p:cNvSpPr/>
          <p:nvPr/>
        </p:nvSpPr>
        <p:spPr>
          <a:xfrm>
            <a:off x="11876904" y="6050838"/>
            <a:ext cx="1311095" cy="27981"/>
          </a:xfrm>
          <a:prstGeom prst="line">
            <a:avLst/>
          </a:prstGeom>
          <a:ln cap="flat" w="28575">
            <a:solidFill>
              <a:srgbClr val="74DE62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69" id="69"/>
          <p:cNvSpPr/>
          <p:nvPr/>
        </p:nvSpPr>
        <p:spPr>
          <a:xfrm>
            <a:off x="11876904" y="7579500"/>
            <a:ext cx="1311095" cy="27981"/>
          </a:xfrm>
          <a:prstGeom prst="line">
            <a:avLst/>
          </a:prstGeom>
          <a:ln cap="flat" w="28575">
            <a:solidFill>
              <a:srgbClr val="74DE62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70" id="70"/>
          <p:cNvSpPr/>
          <p:nvPr/>
        </p:nvSpPr>
        <p:spPr>
          <a:xfrm>
            <a:off x="14857881" y="4526509"/>
            <a:ext cx="979917" cy="1455500"/>
          </a:xfrm>
          <a:prstGeom prst="line">
            <a:avLst/>
          </a:prstGeom>
          <a:ln cap="flat" w="28575">
            <a:solidFill>
              <a:srgbClr val="74DE62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71" id="71"/>
          <p:cNvSpPr/>
          <p:nvPr/>
        </p:nvSpPr>
        <p:spPr>
          <a:xfrm flipV="true">
            <a:off x="14857881" y="6050838"/>
            <a:ext cx="979917" cy="27981"/>
          </a:xfrm>
          <a:prstGeom prst="line">
            <a:avLst/>
          </a:prstGeom>
          <a:ln cap="flat" w="28575">
            <a:solidFill>
              <a:srgbClr val="74DE62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72" id="72"/>
          <p:cNvSpPr/>
          <p:nvPr/>
        </p:nvSpPr>
        <p:spPr>
          <a:xfrm flipV="true">
            <a:off x="14857881" y="6109649"/>
            <a:ext cx="979917" cy="1497832"/>
          </a:xfrm>
          <a:prstGeom prst="line">
            <a:avLst/>
          </a:prstGeom>
          <a:ln cap="flat" w="28575">
            <a:solidFill>
              <a:srgbClr val="74DE62"/>
            </a:solidFill>
            <a:prstDash val="solid"/>
            <a:headEnd type="none" len="sm" w="sm"/>
            <a:tailEnd type="triangle" len="med" w="lg"/>
          </a:ln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0513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903416" y="-555784"/>
            <a:ext cx="3168967" cy="3168967"/>
            <a:chOff x="0" y="0"/>
            <a:chExt cx="4225290" cy="422529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9525" y="9525"/>
              <a:ext cx="4206240" cy="4206240"/>
            </a:xfrm>
            <a:custGeom>
              <a:avLst/>
              <a:gdLst/>
              <a:ahLst/>
              <a:cxnLst/>
              <a:rect r="r" b="b" t="t" l="l"/>
              <a:pathLst>
                <a:path h="4206240" w="4206240">
                  <a:moveTo>
                    <a:pt x="0" y="2103120"/>
                  </a:moveTo>
                  <a:cubicBezTo>
                    <a:pt x="0" y="941578"/>
                    <a:pt x="941578" y="0"/>
                    <a:pt x="2103120" y="0"/>
                  </a:cubicBezTo>
                  <a:cubicBezTo>
                    <a:pt x="3264662" y="0"/>
                    <a:pt x="4206240" y="941578"/>
                    <a:pt x="4206240" y="2103120"/>
                  </a:cubicBezTo>
                  <a:cubicBezTo>
                    <a:pt x="4206240" y="3264662"/>
                    <a:pt x="3264662" y="4206240"/>
                    <a:pt x="2103120" y="4206240"/>
                  </a:cubicBezTo>
                  <a:cubicBezTo>
                    <a:pt x="941578" y="4206240"/>
                    <a:pt x="0" y="3264662"/>
                    <a:pt x="0" y="2103120"/>
                  </a:cubicBezTo>
                  <a:close/>
                </a:path>
              </a:pathLst>
            </a:custGeom>
            <a:solidFill>
              <a:srgbClr val="283732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25290" cy="4225290"/>
            </a:xfrm>
            <a:custGeom>
              <a:avLst/>
              <a:gdLst/>
              <a:ahLst/>
              <a:cxnLst/>
              <a:rect r="r" b="b" t="t" l="l"/>
              <a:pathLst>
                <a:path h="4225290" w="4225290">
                  <a:moveTo>
                    <a:pt x="0" y="2112645"/>
                  </a:moveTo>
                  <a:cubicBezTo>
                    <a:pt x="0" y="945896"/>
                    <a:pt x="945896" y="0"/>
                    <a:pt x="2112645" y="0"/>
                  </a:cubicBezTo>
                  <a:lnTo>
                    <a:pt x="2112645" y="9525"/>
                  </a:lnTo>
                  <a:lnTo>
                    <a:pt x="2112645" y="0"/>
                  </a:lnTo>
                  <a:cubicBezTo>
                    <a:pt x="3279394" y="0"/>
                    <a:pt x="4225290" y="945896"/>
                    <a:pt x="4225290" y="2112645"/>
                  </a:cubicBezTo>
                  <a:lnTo>
                    <a:pt x="4215765" y="2112645"/>
                  </a:lnTo>
                  <a:lnTo>
                    <a:pt x="4225290" y="2112645"/>
                  </a:lnTo>
                  <a:cubicBezTo>
                    <a:pt x="4225290" y="3279394"/>
                    <a:pt x="3279394" y="4225290"/>
                    <a:pt x="2112645" y="4225290"/>
                  </a:cubicBezTo>
                  <a:lnTo>
                    <a:pt x="2112645" y="4215765"/>
                  </a:lnTo>
                  <a:lnTo>
                    <a:pt x="2112645" y="4225290"/>
                  </a:lnTo>
                  <a:cubicBezTo>
                    <a:pt x="945896" y="4225290"/>
                    <a:pt x="0" y="3279394"/>
                    <a:pt x="0" y="2112645"/>
                  </a:cubicBezTo>
                  <a:lnTo>
                    <a:pt x="9525" y="2112645"/>
                  </a:lnTo>
                  <a:lnTo>
                    <a:pt x="19050" y="2112645"/>
                  </a:lnTo>
                  <a:lnTo>
                    <a:pt x="9525" y="2112645"/>
                  </a:lnTo>
                  <a:lnTo>
                    <a:pt x="0" y="2112645"/>
                  </a:lnTo>
                  <a:moveTo>
                    <a:pt x="19050" y="2112645"/>
                  </a:moveTo>
                  <a:cubicBezTo>
                    <a:pt x="19050" y="2117852"/>
                    <a:pt x="14732" y="2122170"/>
                    <a:pt x="9525" y="2122170"/>
                  </a:cubicBezTo>
                  <a:cubicBezTo>
                    <a:pt x="4318" y="2122170"/>
                    <a:pt x="0" y="2117852"/>
                    <a:pt x="0" y="2112645"/>
                  </a:cubicBezTo>
                  <a:cubicBezTo>
                    <a:pt x="0" y="2107438"/>
                    <a:pt x="4318" y="2103120"/>
                    <a:pt x="9525" y="2103120"/>
                  </a:cubicBezTo>
                  <a:cubicBezTo>
                    <a:pt x="14732" y="2103120"/>
                    <a:pt x="19050" y="2107438"/>
                    <a:pt x="19050" y="2112645"/>
                  </a:cubicBezTo>
                  <a:cubicBezTo>
                    <a:pt x="19050" y="3268853"/>
                    <a:pt x="956437" y="4206240"/>
                    <a:pt x="2112645" y="4206240"/>
                  </a:cubicBezTo>
                  <a:cubicBezTo>
                    <a:pt x="3268853" y="4206240"/>
                    <a:pt x="4206240" y="3268853"/>
                    <a:pt x="4206240" y="2112645"/>
                  </a:cubicBezTo>
                  <a:cubicBezTo>
                    <a:pt x="4206240" y="956437"/>
                    <a:pt x="3268853" y="19050"/>
                    <a:pt x="2112645" y="19050"/>
                  </a:cubicBezTo>
                  <a:lnTo>
                    <a:pt x="2112645" y="9525"/>
                  </a:lnTo>
                  <a:lnTo>
                    <a:pt x="2112645" y="19050"/>
                  </a:lnTo>
                  <a:cubicBezTo>
                    <a:pt x="956437" y="19050"/>
                    <a:pt x="19050" y="956437"/>
                    <a:pt x="19050" y="2112645"/>
                  </a:cubicBezTo>
                  <a:close/>
                </a:path>
              </a:pathLst>
            </a:custGeom>
            <a:solidFill>
              <a:srgbClr val="283732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-1104424" y="8359616"/>
            <a:ext cx="2757488" cy="2757488"/>
            <a:chOff x="0" y="0"/>
            <a:chExt cx="3676650" cy="367665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9525" y="9525"/>
              <a:ext cx="3657600" cy="3657600"/>
            </a:xfrm>
            <a:custGeom>
              <a:avLst/>
              <a:gdLst/>
              <a:ahLst/>
              <a:cxnLst/>
              <a:rect r="r" b="b" t="t" l="l"/>
              <a:pathLst>
                <a:path h="3657600" w="3657600">
                  <a:moveTo>
                    <a:pt x="0" y="1828800"/>
                  </a:moveTo>
                  <a:cubicBezTo>
                    <a:pt x="0" y="818769"/>
                    <a:pt x="818769" y="0"/>
                    <a:pt x="1828800" y="0"/>
                  </a:cubicBezTo>
                  <a:cubicBezTo>
                    <a:pt x="2838831" y="0"/>
                    <a:pt x="3657600" y="818769"/>
                    <a:pt x="3657600" y="1828800"/>
                  </a:cubicBezTo>
                  <a:cubicBezTo>
                    <a:pt x="3657600" y="2838831"/>
                    <a:pt x="2838831" y="3657600"/>
                    <a:pt x="1828800" y="3657600"/>
                  </a:cubicBezTo>
                  <a:cubicBezTo>
                    <a:pt x="818769" y="3657600"/>
                    <a:pt x="0" y="2838831"/>
                    <a:pt x="0" y="1828800"/>
                  </a:cubicBezTo>
                  <a:close/>
                </a:path>
              </a:pathLst>
            </a:custGeom>
            <a:solidFill>
              <a:srgbClr val="21322D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676650" cy="3676650"/>
            </a:xfrm>
            <a:custGeom>
              <a:avLst/>
              <a:gdLst/>
              <a:ahLst/>
              <a:cxnLst/>
              <a:rect r="r" b="b" t="t" l="l"/>
              <a:pathLst>
                <a:path h="3676650" w="3676650">
                  <a:moveTo>
                    <a:pt x="0" y="1838325"/>
                  </a:moveTo>
                  <a:cubicBezTo>
                    <a:pt x="0" y="823087"/>
                    <a:pt x="823087" y="0"/>
                    <a:pt x="1838325" y="0"/>
                  </a:cubicBezTo>
                  <a:lnTo>
                    <a:pt x="1838325" y="9525"/>
                  </a:lnTo>
                  <a:lnTo>
                    <a:pt x="1838325" y="0"/>
                  </a:lnTo>
                  <a:cubicBezTo>
                    <a:pt x="2853563" y="0"/>
                    <a:pt x="3676650" y="823087"/>
                    <a:pt x="3676650" y="1838325"/>
                  </a:cubicBezTo>
                  <a:cubicBezTo>
                    <a:pt x="3676650" y="2853563"/>
                    <a:pt x="2853563" y="3676650"/>
                    <a:pt x="1838325" y="3676650"/>
                  </a:cubicBezTo>
                  <a:lnTo>
                    <a:pt x="1838325" y="3667125"/>
                  </a:lnTo>
                  <a:lnTo>
                    <a:pt x="1838325" y="3676650"/>
                  </a:lnTo>
                  <a:cubicBezTo>
                    <a:pt x="823087" y="3676650"/>
                    <a:pt x="0" y="2853563"/>
                    <a:pt x="0" y="1838325"/>
                  </a:cubicBezTo>
                  <a:lnTo>
                    <a:pt x="9525" y="1838325"/>
                  </a:lnTo>
                  <a:lnTo>
                    <a:pt x="17526" y="1843532"/>
                  </a:lnTo>
                  <a:cubicBezTo>
                    <a:pt x="15240" y="1847088"/>
                    <a:pt x="10922" y="1848739"/>
                    <a:pt x="6858" y="1847469"/>
                  </a:cubicBezTo>
                  <a:cubicBezTo>
                    <a:pt x="2794" y="1846199"/>
                    <a:pt x="0" y="1842516"/>
                    <a:pt x="0" y="1838325"/>
                  </a:cubicBezTo>
                  <a:moveTo>
                    <a:pt x="19050" y="1838325"/>
                  </a:moveTo>
                  <a:lnTo>
                    <a:pt x="9525" y="1838325"/>
                  </a:lnTo>
                  <a:lnTo>
                    <a:pt x="1524" y="1833118"/>
                  </a:lnTo>
                  <a:cubicBezTo>
                    <a:pt x="3810" y="1829562"/>
                    <a:pt x="8128" y="1827911"/>
                    <a:pt x="12192" y="1829181"/>
                  </a:cubicBezTo>
                  <a:cubicBezTo>
                    <a:pt x="16256" y="1830451"/>
                    <a:pt x="19050" y="1834134"/>
                    <a:pt x="19050" y="1838325"/>
                  </a:cubicBezTo>
                  <a:cubicBezTo>
                    <a:pt x="19050" y="2843022"/>
                    <a:pt x="833628" y="3657600"/>
                    <a:pt x="1838325" y="3657600"/>
                  </a:cubicBezTo>
                  <a:cubicBezTo>
                    <a:pt x="2843022" y="3657600"/>
                    <a:pt x="3657600" y="2843022"/>
                    <a:pt x="3657600" y="1838325"/>
                  </a:cubicBezTo>
                  <a:lnTo>
                    <a:pt x="3667125" y="1838325"/>
                  </a:lnTo>
                  <a:lnTo>
                    <a:pt x="3657600" y="1838325"/>
                  </a:lnTo>
                  <a:cubicBezTo>
                    <a:pt x="3657600" y="833628"/>
                    <a:pt x="2843022" y="19050"/>
                    <a:pt x="1838325" y="19050"/>
                  </a:cubicBezTo>
                  <a:lnTo>
                    <a:pt x="1838325" y="9525"/>
                  </a:lnTo>
                  <a:lnTo>
                    <a:pt x="1838325" y="19050"/>
                  </a:lnTo>
                  <a:cubicBezTo>
                    <a:pt x="833628" y="19050"/>
                    <a:pt x="19050" y="833628"/>
                    <a:pt x="19050" y="1838325"/>
                  </a:cubicBezTo>
                  <a:close/>
                </a:path>
              </a:pathLst>
            </a:custGeom>
            <a:solidFill>
              <a:srgbClr val="21322D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747236" y="678656"/>
            <a:ext cx="864680" cy="82868"/>
            <a:chOff x="0" y="0"/>
            <a:chExt cx="1152906" cy="11049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9525" y="9525"/>
              <a:ext cx="1133856" cy="91440"/>
            </a:xfrm>
            <a:custGeom>
              <a:avLst/>
              <a:gdLst/>
              <a:ahLst/>
              <a:cxnLst/>
              <a:rect r="r" b="b" t="t" l="l"/>
              <a:pathLst>
                <a:path h="91440" w="1133856">
                  <a:moveTo>
                    <a:pt x="0" y="0"/>
                  </a:moveTo>
                  <a:lnTo>
                    <a:pt x="1133856" y="0"/>
                  </a:lnTo>
                  <a:lnTo>
                    <a:pt x="1133856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74DE62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52906" cy="110490"/>
            </a:xfrm>
            <a:custGeom>
              <a:avLst/>
              <a:gdLst/>
              <a:ahLst/>
              <a:cxnLst/>
              <a:rect r="r" b="b" t="t" l="l"/>
              <a:pathLst>
                <a:path h="110490" w="1152906">
                  <a:moveTo>
                    <a:pt x="9525" y="0"/>
                  </a:moveTo>
                  <a:lnTo>
                    <a:pt x="1143381" y="0"/>
                  </a:lnTo>
                  <a:cubicBezTo>
                    <a:pt x="1148588" y="0"/>
                    <a:pt x="1152906" y="4318"/>
                    <a:pt x="1152906" y="9525"/>
                  </a:cubicBezTo>
                  <a:lnTo>
                    <a:pt x="1152906" y="100965"/>
                  </a:lnTo>
                  <a:cubicBezTo>
                    <a:pt x="1152906" y="106172"/>
                    <a:pt x="1148588" y="110490"/>
                    <a:pt x="1143381" y="110490"/>
                  </a:cubicBezTo>
                  <a:lnTo>
                    <a:pt x="9525" y="110490"/>
                  </a:lnTo>
                  <a:cubicBezTo>
                    <a:pt x="4318" y="110490"/>
                    <a:pt x="0" y="106172"/>
                    <a:pt x="0" y="100965"/>
                  </a:cubicBezTo>
                  <a:lnTo>
                    <a:pt x="0" y="9525"/>
                  </a:lnTo>
                  <a:cubicBezTo>
                    <a:pt x="0" y="4318"/>
                    <a:pt x="4318" y="0"/>
                    <a:pt x="9525" y="0"/>
                  </a:cubicBezTo>
                  <a:moveTo>
                    <a:pt x="9525" y="19050"/>
                  </a:moveTo>
                  <a:lnTo>
                    <a:pt x="9525" y="9525"/>
                  </a:lnTo>
                  <a:lnTo>
                    <a:pt x="19050" y="9525"/>
                  </a:lnTo>
                  <a:lnTo>
                    <a:pt x="19050" y="100965"/>
                  </a:lnTo>
                  <a:lnTo>
                    <a:pt x="9525" y="100965"/>
                  </a:lnTo>
                  <a:lnTo>
                    <a:pt x="9525" y="91440"/>
                  </a:lnTo>
                  <a:lnTo>
                    <a:pt x="1143381" y="91440"/>
                  </a:lnTo>
                  <a:lnTo>
                    <a:pt x="1143381" y="100965"/>
                  </a:lnTo>
                  <a:lnTo>
                    <a:pt x="1133856" y="100965"/>
                  </a:lnTo>
                  <a:lnTo>
                    <a:pt x="1133856" y="9525"/>
                  </a:lnTo>
                  <a:lnTo>
                    <a:pt x="1143381" y="9525"/>
                  </a:lnTo>
                  <a:lnTo>
                    <a:pt x="1143381" y="19050"/>
                  </a:lnTo>
                  <a:lnTo>
                    <a:pt x="9525" y="19050"/>
                  </a:lnTo>
                  <a:close/>
                </a:path>
              </a:pathLst>
            </a:custGeom>
            <a:solidFill>
              <a:srgbClr val="74DE62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781812" y="402336"/>
            <a:ext cx="6117336" cy="2377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86"/>
              </a:lnSpc>
            </a:pPr>
            <a:r>
              <a:rPr lang="en-US" sz="1155" b="true">
                <a:solidFill>
                  <a:srgbClr val="74DE62"/>
                </a:solidFill>
                <a:latin typeface="Aptos Bold"/>
                <a:ea typeface="Aptos Bold"/>
                <a:cs typeface="Aptos Bold"/>
                <a:sym typeface="Aptos Bold"/>
              </a:rPr>
              <a:t>METHODOLOGY · DEVELOPMENT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81812" y="1046988"/>
            <a:ext cx="14758416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true">
                <a:solidFill>
                  <a:srgbClr val="F6FAF7"/>
                </a:solidFill>
                <a:latin typeface="Aptos Bold"/>
                <a:ea typeface="Aptos Bold"/>
                <a:cs typeface="Aptos Bold"/>
                <a:sym typeface="Aptos Bold"/>
              </a:rPr>
              <a:t>Sequence homology analysis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22960" y="1856232"/>
            <a:ext cx="15307056" cy="4846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BECDC3"/>
                </a:solidFill>
                <a:latin typeface="Aptos"/>
                <a:ea typeface="Aptos"/>
                <a:cs typeface="Aptos"/>
                <a:sym typeface="Aptos"/>
              </a:rPr>
              <a:t>BLASTp-based similarity layer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22960" y="3153722"/>
            <a:ext cx="8321040" cy="1295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6"/>
              </a:lnSpc>
            </a:pPr>
            <a:r>
              <a:rPr lang="en-US" sz="2130">
                <a:solidFill>
                  <a:srgbClr val="F6FAF7"/>
                </a:solidFill>
                <a:latin typeface="Aptos"/>
                <a:ea typeface="Aptos"/>
                <a:cs typeface="Aptos"/>
                <a:sym typeface="Aptos"/>
              </a:rPr>
              <a:t>Positive RBP evidence uses identity, coverage, bitscore and e-value.</a:t>
            </a:r>
          </a:p>
          <a:p>
            <a:pPr algn="l">
              <a:lnSpc>
                <a:spcPts val="2556"/>
              </a:lnSpc>
            </a:pPr>
            <a:r>
              <a:rPr lang="en-US" sz="2130">
                <a:solidFill>
                  <a:srgbClr val="F6FAF7"/>
                </a:solidFill>
                <a:latin typeface="Aptos"/>
                <a:ea typeface="Aptos"/>
                <a:cs typeface="Aptos"/>
                <a:sym typeface="Aptos"/>
              </a:rPr>
              <a:t>Strict filters are applied to avoid weak positive assignments.</a:t>
            </a:r>
          </a:p>
          <a:p>
            <a:pPr algn="l">
              <a:lnSpc>
                <a:spcPts val="2556"/>
              </a:lnSpc>
            </a:pPr>
            <a:r>
              <a:rPr lang="en-US" sz="2130">
                <a:solidFill>
                  <a:srgbClr val="F6FAF7"/>
                </a:solidFill>
                <a:latin typeface="Aptos"/>
                <a:ea typeface="Aptos"/>
                <a:cs typeface="Aptos"/>
                <a:sym typeface="Aptos"/>
              </a:rPr>
              <a:t>Outgroup BLAST hits are handled separately as negative evidence using relaxed filters, without contributing to positive RBP assignments.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980819" y="5473054"/>
            <a:ext cx="6739890" cy="1685089"/>
            <a:chOff x="0" y="0"/>
            <a:chExt cx="8986520" cy="224678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12700" y="14007"/>
              <a:ext cx="8961120" cy="2218770"/>
            </a:xfrm>
            <a:custGeom>
              <a:avLst/>
              <a:gdLst/>
              <a:ahLst/>
              <a:cxnLst/>
              <a:rect r="r" b="b" t="t" l="l"/>
              <a:pathLst>
                <a:path h="2218770" w="8961120">
                  <a:moveTo>
                    <a:pt x="0" y="369795"/>
                  </a:moveTo>
                  <a:cubicBezTo>
                    <a:pt x="0" y="165568"/>
                    <a:pt x="151638" y="0"/>
                    <a:pt x="338582" y="0"/>
                  </a:cubicBezTo>
                  <a:lnTo>
                    <a:pt x="8622538" y="0"/>
                  </a:lnTo>
                  <a:cubicBezTo>
                    <a:pt x="8809482" y="0"/>
                    <a:pt x="8961120" y="165568"/>
                    <a:pt x="8961120" y="369795"/>
                  </a:cubicBezTo>
                  <a:lnTo>
                    <a:pt x="8961120" y="1848976"/>
                  </a:lnTo>
                  <a:cubicBezTo>
                    <a:pt x="8961120" y="2053203"/>
                    <a:pt x="8809482" y="2218771"/>
                    <a:pt x="8622538" y="2218771"/>
                  </a:cubicBezTo>
                  <a:lnTo>
                    <a:pt x="338582" y="2218771"/>
                  </a:lnTo>
                  <a:cubicBezTo>
                    <a:pt x="151638" y="2218771"/>
                    <a:pt x="0" y="2053203"/>
                    <a:pt x="0" y="1848976"/>
                  </a:cubicBezTo>
                  <a:close/>
                </a:path>
              </a:pathLst>
            </a:custGeom>
            <a:solidFill>
              <a:srgbClr val="0A1E12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986520" cy="2246785"/>
            </a:xfrm>
            <a:custGeom>
              <a:avLst/>
              <a:gdLst/>
              <a:ahLst/>
              <a:cxnLst/>
              <a:rect r="r" b="b" t="t" l="l"/>
              <a:pathLst>
                <a:path h="2246785" w="8986520">
                  <a:moveTo>
                    <a:pt x="0" y="383802"/>
                  </a:moveTo>
                  <a:cubicBezTo>
                    <a:pt x="0" y="171731"/>
                    <a:pt x="157353" y="0"/>
                    <a:pt x="351282" y="0"/>
                  </a:cubicBezTo>
                  <a:lnTo>
                    <a:pt x="8635238" y="0"/>
                  </a:lnTo>
                  <a:lnTo>
                    <a:pt x="8635238" y="14007"/>
                  </a:lnTo>
                  <a:lnTo>
                    <a:pt x="8635238" y="0"/>
                  </a:lnTo>
                  <a:cubicBezTo>
                    <a:pt x="8829167" y="0"/>
                    <a:pt x="8986520" y="171731"/>
                    <a:pt x="8986520" y="383802"/>
                  </a:cubicBezTo>
                  <a:lnTo>
                    <a:pt x="8973820" y="383802"/>
                  </a:lnTo>
                  <a:lnTo>
                    <a:pt x="8986520" y="383802"/>
                  </a:lnTo>
                  <a:lnTo>
                    <a:pt x="8986520" y="1862983"/>
                  </a:lnTo>
                  <a:lnTo>
                    <a:pt x="8973820" y="1862983"/>
                  </a:lnTo>
                  <a:lnTo>
                    <a:pt x="8986520" y="1862983"/>
                  </a:lnTo>
                  <a:cubicBezTo>
                    <a:pt x="8986520" y="2075055"/>
                    <a:pt x="8829167" y="2246785"/>
                    <a:pt x="8635238" y="2246785"/>
                  </a:cubicBezTo>
                  <a:lnTo>
                    <a:pt x="8635238" y="2232778"/>
                  </a:lnTo>
                  <a:lnTo>
                    <a:pt x="8635238" y="2246785"/>
                  </a:lnTo>
                  <a:lnTo>
                    <a:pt x="351282" y="2246785"/>
                  </a:lnTo>
                  <a:lnTo>
                    <a:pt x="351282" y="2232778"/>
                  </a:lnTo>
                  <a:lnTo>
                    <a:pt x="351282" y="2246785"/>
                  </a:lnTo>
                  <a:cubicBezTo>
                    <a:pt x="157353" y="2246785"/>
                    <a:pt x="0" y="2075055"/>
                    <a:pt x="0" y="1862983"/>
                  </a:cubicBezTo>
                  <a:lnTo>
                    <a:pt x="0" y="383802"/>
                  </a:lnTo>
                  <a:lnTo>
                    <a:pt x="12700" y="383802"/>
                  </a:lnTo>
                  <a:lnTo>
                    <a:pt x="0" y="383802"/>
                  </a:lnTo>
                  <a:moveTo>
                    <a:pt x="25400" y="383802"/>
                  </a:moveTo>
                  <a:lnTo>
                    <a:pt x="25400" y="1862983"/>
                  </a:lnTo>
                  <a:lnTo>
                    <a:pt x="12700" y="1862983"/>
                  </a:lnTo>
                  <a:lnTo>
                    <a:pt x="25400" y="1862983"/>
                  </a:lnTo>
                  <a:cubicBezTo>
                    <a:pt x="25400" y="2059366"/>
                    <a:pt x="171196" y="2218770"/>
                    <a:pt x="351282" y="2218770"/>
                  </a:cubicBezTo>
                  <a:lnTo>
                    <a:pt x="8635238" y="2218770"/>
                  </a:lnTo>
                  <a:cubicBezTo>
                    <a:pt x="8815324" y="2218770"/>
                    <a:pt x="8961120" y="2059366"/>
                    <a:pt x="8961120" y="1862983"/>
                  </a:cubicBezTo>
                  <a:lnTo>
                    <a:pt x="8961120" y="383802"/>
                  </a:lnTo>
                  <a:cubicBezTo>
                    <a:pt x="8961120" y="187419"/>
                    <a:pt x="8815324" y="28015"/>
                    <a:pt x="8635238" y="28015"/>
                  </a:cubicBezTo>
                  <a:lnTo>
                    <a:pt x="351282" y="28015"/>
                  </a:lnTo>
                  <a:lnTo>
                    <a:pt x="351282" y="14007"/>
                  </a:lnTo>
                  <a:lnTo>
                    <a:pt x="351282" y="28015"/>
                  </a:lnTo>
                  <a:cubicBezTo>
                    <a:pt x="171196" y="28015"/>
                    <a:pt x="25400" y="187419"/>
                    <a:pt x="25400" y="383802"/>
                  </a:cubicBezTo>
                  <a:close/>
                </a:path>
              </a:pathLst>
            </a:custGeom>
            <a:solidFill>
              <a:srgbClr val="74DE62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2264664" y="5720323"/>
            <a:ext cx="6172200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5"/>
              </a:lnSpc>
            </a:pPr>
            <a:r>
              <a:rPr lang="en-US" sz="2129" b="true">
                <a:solidFill>
                  <a:srgbClr val="74DE62"/>
                </a:solidFill>
                <a:latin typeface="Aptos Bold"/>
                <a:ea typeface="Aptos Bold"/>
                <a:cs typeface="Aptos Bold"/>
                <a:sym typeface="Aptos Bold"/>
              </a:rPr>
              <a:t>Positive RBP evidence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264664" y="6255247"/>
            <a:ext cx="6172200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5"/>
              </a:lnSpc>
            </a:pPr>
            <a:r>
              <a:rPr lang="en-US" sz="1979">
                <a:solidFill>
                  <a:srgbClr val="F6FAF7"/>
                </a:solidFill>
                <a:latin typeface="Aptos"/>
                <a:ea typeface="Aptos"/>
                <a:cs typeface="Aptos"/>
                <a:sym typeface="Aptos"/>
              </a:rPr>
              <a:t>Strict filters: identity + coverage + e-value.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9593580" y="5473054"/>
            <a:ext cx="6739890" cy="1685089"/>
            <a:chOff x="0" y="0"/>
            <a:chExt cx="8986520" cy="224678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12700" y="12345"/>
              <a:ext cx="8961120" cy="2222095"/>
            </a:xfrm>
            <a:custGeom>
              <a:avLst/>
              <a:gdLst/>
              <a:ahLst/>
              <a:cxnLst/>
              <a:rect r="r" b="b" t="t" l="l"/>
              <a:pathLst>
                <a:path h="2222095" w="8961120">
                  <a:moveTo>
                    <a:pt x="0" y="370349"/>
                  </a:moveTo>
                  <a:cubicBezTo>
                    <a:pt x="0" y="165793"/>
                    <a:pt x="171958" y="0"/>
                    <a:pt x="384175" y="0"/>
                  </a:cubicBezTo>
                  <a:lnTo>
                    <a:pt x="8576945" y="0"/>
                  </a:lnTo>
                  <a:cubicBezTo>
                    <a:pt x="8789162" y="0"/>
                    <a:pt x="8961120" y="165793"/>
                    <a:pt x="8961120" y="370349"/>
                  </a:cubicBezTo>
                  <a:lnTo>
                    <a:pt x="8961120" y="1851746"/>
                  </a:lnTo>
                  <a:cubicBezTo>
                    <a:pt x="8961120" y="2056302"/>
                    <a:pt x="8789162" y="2222095"/>
                    <a:pt x="8576945" y="2222095"/>
                  </a:cubicBezTo>
                  <a:lnTo>
                    <a:pt x="384175" y="2222095"/>
                  </a:lnTo>
                  <a:cubicBezTo>
                    <a:pt x="171958" y="2222095"/>
                    <a:pt x="0" y="2056302"/>
                    <a:pt x="0" y="1851746"/>
                  </a:cubicBezTo>
                  <a:close/>
                </a:path>
              </a:pathLst>
            </a:custGeom>
            <a:solidFill>
              <a:srgbClr val="0A1E12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986520" cy="2246785"/>
            </a:xfrm>
            <a:custGeom>
              <a:avLst/>
              <a:gdLst/>
              <a:ahLst/>
              <a:cxnLst/>
              <a:rect r="r" b="b" t="t" l="l"/>
              <a:pathLst>
                <a:path h="2246785" w="8986520">
                  <a:moveTo>
                    <a:pt x="0" y="382694"/>
                  </a:moveTo>
                  <a:cubicBezTo>
                    <a:pt x="0" y="171225"/>
                    <a:pt x="177800" y="0"/>
                    <a:pt x="396875" y="0"/>
                  </a:cubicBezTo>
                  <a:lnTo>
                    <a:pt x="8589645" y="0"/>
                  </a:lnTo>
                  <a:lnTo>
                    <a:pt x="8589645" y="12345"/>
                  </a:lnTo>
                  <a:lnTo>
                    <a:pt x="8589645" y="0"/>
                  </a:lnTo>
                  <a:cubicBezTo>
                    <a:pt x="8808720" y="0"/>
                    <a:pt x="8986520" y="171225"/>
                    <a:pt x="8986520" y="382694"/>
                  </a:cubicBezTo>
                  <a:lnTo>
                    <a:pt x="8973820" y="382694"/>
                  </a:lnTo>
                  <a:lnTo>
                    <a:pt x="8986520" y="382694"/>
                  </a:lnTo>
                  <a:lnTo>
                    <a:pt x="8986520" y="1864091"/>
                  </a:lnTo>
                  <a:lnTo>
                    <a:pt x="8973820" y="1864091"/>
                  </a:lnTo>
                  <a:lnTo>
                    <a:pt x="8986520" y="1864091"/>
                  </a:lnTo>
                  <a:cubicBezTo>
                    <a:pt x="8986520" y="2075560"/>
                    <a:pt x="8808720" y="2246785"/>
                    <a:pt x="8589645" y="2246785"/>
                  </a:cubicBezTo>
                  <a:lnTo>
                    <a:pt x="8589645" y="2234440"/>
                  </a:lnTo>
                  <a:lnTo>
                    <a:pt x="8589645" y="2246785"/>
                  </a:lnTo>
                  <a:lnTo>
                    <a:pt x="396875" y="2246785"/>
                  </a:lnTo>
                  <a:lnTo>
                    <a:pt x="396875" y="2234440"/>
                  </a:lnTo>
                  <a:lnTo>
                    <a:pt x="396875" y="2246785"/>
                  </a:lnTo>
                  <a:cubicBezTo>
                    <a:pt x="177800" y="2246785"/>
                    <a:pt x="0" y="2075560"/>
                    <a:pt x="0" y="1864091"/>
                  </a:cubicBezTo>
                  <a:lnTo>
                    <a:pt x="0" y="382694"/>
                  </a:lnTo>
                  <a:lnTo>
                    <a:pt x="12700" y="382694"/>
                  </a:lnTo>
                  <a:lnTo>
                    <a:pt x="0" y="382694"/>
                  </a:lnTo>
                  <a:moveTo>
                    <a:pt x="25400" y="382694"/>
                  </a:moveTo>
                  <a:lnTo>
                    <a:pt x="25400" y="1864091"/>
                  </a:lnTo>
                  <a:lnTo>
                    <a:pt x="12700" y="1864091"/>
                  </a:lnTo>
                  <a:lnTo>
                    <a:pt x="25400" y="1864091"/>
                  </a:lnTo>
                  <a:cubicBezTo>
                    <a:pt x="25400" y="2061734"/>
                    <a:pt x="191643" y="2222095"/>
                    <a:pt x="396875" y="2222095"/>
                  </a:cubicBezTo>
                  <a:lnTo>
                    <a:pt x="8589645" y="2222095"/>
                  </a:lnTo>
                  <a:cubicBezTo>
                    <a:pt x="8794876" y="2222095"/>
                    <a:pt x="8961120" y="2061734"/>
                    <a:pt x="8961120" y="1864091"/>
                  </a:cubicBezTo>
                  <a:lnTo>
                    <a:pt x="8961120" y="382694"/>
                  </a:lnTo>
                  <a:cubicBezTo>
                    <a:pt x="8961120" y="185051"/>
                    <a:pt x="8794876" y="24690"/>
                    <a:pt x="8589645" y="24690"/>
                  </a:cubicBezTo>
                  <a:lnTo>
                    <a:pt x="396875" y="24690"/>
                  </a:lnTo>
                  <a:lnTo>
                    <a:pt x="396875" y="12345"/>
                  </a:lnTo>
                  <a:lnTo>
                    <a:pt x="396875" y="24690"/>
                  </a:lnTo>
                  <a:cubicBezTo>
                    <a:pt x="191643" y="24690"/>
                    <a:pt x="25400" y="185051"/>
                    <a:pt x="25400" y="382694"/>
                  </a:cubicBezTo>
                  <a:close/>
                </a:path>
              </a:pathLst>
            </a:custGeom>
            <a:solidFill>
              <a:srgbClr val="74DE62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9877425" y="5720323"/>
            <a:ext cx="6172200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5"/>
              </a:lnSpc>
            </a:pPr>
            <a:r>
              <a:rPr lang="en-US" sz="2129" b="true">
                <a:solidFill>
                  <a:srgbClr val="74DE62"/>
                </a:solidFill>
                <a:latin typeface="Aptos Bold"/>
                <a:ea typeface="Aptos Bold"/>
                <a:cs typeface="Aptos Bold"/>
                <a:sym typeface="Aptos Bold"/>
              </a:rPr>
              <a:t>Outgroup evidence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877425" y="6236959"/>
            <a:ext cx="6172200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5"/>
              </a:lnSpc>
            </a:pPr>
            <a:r>
              <a:rPr lang="en-US" sz="1979">
                <a:solidFill>
                  <a:srgbClr val="F6FAF7"/>
                </a:solidFill>
                <a:latin typeface="Aptos"/>
                <a:ea typeface="Aptos"/>
                <a:cs typeface="Aptos"/>
                <a:sym typeface="Aptos"/>
              </a:rPr>
              <a:t>Relaxed filters detect weak negative evidence but do not create positive RBP calls.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877824" y="9500235"/>
            <a:ext cx="1933956" cy="2198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4"/>
              </a:lnSpc>
            </a:pPr>
            <a:r>
              <a:rPr lang="en-US" sz="1170" b="true">
                <a:solidFill>
                  <a:srgbClr val="74DE62"/>
                </a:solidFill>
                <a:latin typeface="Aptos Bold"/>
                <a:ea typeface="Aptos Bold"/>
                <a:cs typeface="Aptos Bold"/>
                <a:sym typeface="Aptos Bold"/>
              </a:rPr>
              <a:t>KEY MESSAGE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523744" y="9427464"/>
            <a:ext cx="14621256" cy="3749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F6FAF7"/>
                </a:solidFill>
                <a:latin typeface="Aptos"/>
                <a:ea typeface="Aptos"/>
                <a:cs typeface="Aptos"/>
                <a:sym typeface="Aptos"/>
              </a:rPr>
              <a:t>BLASTp provides sequence-level evidence, not final classification.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6692372" y="9454896"/>
            <a:ext cx="905256" cy="210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439"/>
              </a:lnSpc>
            </a:pPr>
            <a:r>
              <a:rPr lang="en-US" sz="1200">
                <a:solidFill>
                  <a:srgbClr val="BECDC3"/>
                </a:solidFill>
                <a:latin typeface="Aptos"/>
                <a:ea typeface="Aptos"/>
                <a:cs typeface="Aptos"/>
                <a:sym typeface="Aptos"/>
              </a:rPr>
              <a:t>06/12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3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903416" y="-555784"/>
            <a:ext cx="3168967" cy="3168967"/>
            <a:chOff x="0" y="0"/>
            <a:chExt cx="4225290" cy="422529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9525" y="9525"/>
              <a:ext cx="4206240" cy="4206240"/>
            </a:xfrm>
            <a:custGeom>
              <a:avLst/>
              <a:gdLst/>
              <a:ahLst/>
              <a:cxnLst/>
              <a:rect r="r" b="b" t="t" l="l"/>
              <a:pathLst>
                <a:path h="4206240" w="4206240">
                  <a:moveTo>
                    <a:pt x="0" y="2103120"/>
                  </a:moveTo>
                  <a:cubicBezTo>
                    <a:pt x="0" y="941578"/>
                    <a:pt x="941578" y="0"/>
                    <a:pt x="2103120" y="0"/>
                  </a:cubicBezTo>
                  <a:cubicBezTo>
                    <a:pt x="3264662" y="0"/>
                    <a:pt x="4206240" y="941578"/>
                    <a:pt x="4206240" y="2103120"/>
                  </a:cubicBezTo>
                  <a:cubicBezTo>
                    <a:pt x="4206240" y="3264662"/>
                    <a:pt x="3264662" y="4206240"/>
                    <a:pt x="2103120" y="4206240"/>
                  </a:cubicBezTo>
                  <a:cubicBezTo>
                    <a:pt x="941578" y="4206240"/>
                    <a:pt x="0" y="3264662"/>
                    <a:pt x="0" y="2103120"/>
                  </a:cubicBezTo>
                  <a:close/>
                </a:path>
              </a:pathLst>
            </a:custGeom>
            <a:solidFill>
              <a:srgbClr val="283732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25290" cy="4225290"/>
            </a:xfrm>
            <a:custGeom>
              <a:avLst/>
              <a:gdLst/>
              <a:ahLst/>
              <a:cxnLst/>
              <a:rect r="r" b="b" t="t" l="l"/>
              <a:pathLst>
                <a:path h="4225290" w="4225290">
                  <a:moveTo>
                    <a:pt x="0" y="2112645"/>
                  </a:moveTo>
                  <a:cubicBezTo>
                    <a:pt x="0" y="945896"/>
                    <a:pt x="945896" y="0"/>
                    <a:pt x="2112645" y="0"/>
                  </a:cubicBezTo>
                  <a:lnTo>
                    <a:pt x="2112645" y="9525"/>
                  </a:lnTo>
                  <a:lnTo>
                    <a:pt x="2112645" y="0"/>
                  </a:lnTo>
                  <a:cubicBezTo>
                    <a:pt x="3279394" y="0"/>
                    <a:pt x="4225290" y="945896"/>
                    <a:pt x="4225290" y="2112645"/>
                  </a:cubicBezTo>
                  <a:lnTo>
                    <a:pt x="4215765" y="2112645"/>
                  </a:lnTo>
                  <a:lnTo>
                    <a:pt x="4225290" y="2112645"/>
                  </a:lnTo>
                  <a:cubicBezTo>
                    <a:pt x="4225290" y="3279394"/>
                    <a:pt x="3279394" y="4225290"/>
                    <a:pt x="2112645" y="4225290"/>
                  </a:cubicBezTo>
                  <a:lnTo>
                    <a:pt x="2112645" y="4215765"/>
                  </a:lnTo>
                  <a:lnTo>
                    <a:pt x="2112645" y="4225290"/>
                  </a:lnTo>
                  <a:cubicBezTo>
                    <a:pt x="945896" y="4225290"/>
                    <a:pt x="0" y="3279394"/>
                    <a:pt x="0" y="2112645"/>
                  </a:cubicBezTo>
                  <a:lnTo>
                    <a:pt x="9525" y="2112645"/>
                  </a:lnTo>
                  <a:lnTo>
                    <a:pt x="19050" y="2112645"/>
                  </a:lnTo>
                  <a:lnTo>
                    <a:pt x="9525" y="2112645"/>
                  </a:lnTo>
                  <a:lnTo>
                    <a:pt x="0" y="2112645"/>
                  </a:lnTo>
                  <a:moveTo>
                    <a:pt x="19050" y="2112645"/>
                  </a:moveTo>
                  <a:cubicBezTo>
                    <a:pt x="19050" y="2117852"/>
                    <a:pt x="14732" y="2122170"/>
                    <a:pt x="9525" y="2122170"/>
                  </a:cubicBezTo>
                  <a:cubicBezTo>
                    <a:pt x="4318" y="2122170"/>
                    <a:pt x="0" y="2117852"/>
                    <a:pt x="0" y="2112645"/>
                  </a:cubicBezTo>
                  <a:cubicBezTo>
                    <a:pt x="0" y="2107438"/>
                    <a:pt x="4318" y="2103120"/>
                    <a:pt x="9525" y="2103120"/>
                  </a:cubicBezTo>
                  <a:cubicBezTo>
                    <a:pt x="14732" y="2103120"/>
                    <a:pt x="19050" y="2107438"/>
                    <a:pt x="19050" y="2112645"/>
                  </a:cubicBezTo>
                  <a:cubicBezTo>
                    <a:pt x="19050" y="3268853"/>
                    <a:pt x="956437" y="4206240"/>
                    <a:pt x="2112645" y="4206240"/>
                  </a:cubicBezTo>
                  <a:cubicBezTo>
                    <a:pt x="3268853" y="4206240"/>
                    <a:pt x="4206240" y="3268853"/>
                    <a:pt x="4206240" y="2112645"/>
                  </a:cubicBezTo>
                  <a:cubicBezTo>
                    <a:pt x="4206240" y="956437"/>
                    <a:pt x="3268853" y="19050"/>
                    <a:pt x="2112645" y="19050"/>
                  </a:cubicBezTo>
                  <a:lnTo>
                    <a:pt x="2112645" y="9525"/>
                  </a:lnTo>
                  <a:lnTo>
                    <a:pt x="2112645" y="19050"/>
                  </a:lnTo>
                  <a:cubicBezTo>
                    <a:pt x="956437" y="19050"/>
                    <a:pt x="19050" y="956437"/>
                    <a:pt x="19050" y="2112645"/>
                  </a:cubicBezTo>
                  <a:close/>
                </a:path>
              </a:pathLst>
            </a:custGeom>
            <a:solidFill>
              <a:srgbClr val="283732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-1104424" y="8359616"/>
            <a:ext cx="2757488" cy="2757488"/>
            <a:chOff x="0" y="0"/>
            <a:chExt cx="3676650" cy="367665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9525" y="9525"/>
              <a:ext cx="3657600" cy="3657600"/>
            </a:xfrm>
            <a:custGeom>
              <a:avLst/>
              <a:gdLst/>
              <a:ahLst/>
              <a:cxnLst/>
              <a:rect r="r" b="b" t="t" l="l"/>
              <a:pathLst>
                <a:path h="3657600" w="3657600">
                  <a:moveTo>
                    <a:pt x="0" y="1828800"/>
                  </a:moveTo>
                  <a:cubicBezTo>
                    <a:pt x="0" y="818769"/>
                    <a:pt x="818769" y="0"/>
                    <a:pt x="1828800" y="0"/>
                  </a:cubicBezTo>
                  <a:cubicBezTo>
                    <a:pt x="2838831" y="0"/>
                    <a:pt x="3657600" y="818769"/>
                    <a:pt x="3657600" y="1828800"/>
                  </a:cubicBezTo>
                  <a:cubicBezTo>
                    <a:pt x="3657600" y="2838831"/>
                    <a:pt x="2838831" y="3657600"/>
                    <a:pt x="1828800" y="3657600"/>
                  </a:cubicBezTo>
                  <a:cubicBezTo>
                    <a:pt x="818769" y="3657600"/>
                    <a:pt x="0" y="2838831"/>
                    <a:pt x="0" y="1828800"/>
                  </a:cubicBezTo>
                  <a:close/>
                </a:path>
              </a:pathLst>
            </a:custGeom>
            <a:solidFill>
              <a:srgbClr val="21322D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676650" cy="3676650"/>
            </a:xfrm>
            <a:custGeom>
              <a:avLst/>
              <a:gdLst/>
              <a:ahLst/>
              <a:cxnLst/>
              <a:rect r="r" b="b" t="t" l="l"/>
              <a:pathLst>
                <a:path h="3676650" w="3676650">
                  <a:moveTo>
                    <a:pt x="0" y="1838325"/>
                  </a:moveTo>
                  <a:cubicBezTo>
                    <a:pt x="0" y="823087"/>
                    <a:pt x="823087" y="0"/>
                    <a:pt x="1838325" y="0"/>
                  </a:cubicBezTo>
                  <a:lnTo>
                    <a:pt x="1838325" y="9525"/>
                  </a:lnTo>
                  <a:lnTo>
                    <a:pt x="1838325" y="0"/>
                  </a:lnTo>
                  <a:cubicBezTo>
                    <a:pt x="2853563" y="0"/>
                    <a:pt x="3676650" y="823087"/>
                    <a:pt x="3676650" y="1838325"/>
                  </a:cubicBezTo>
                  <a:cubicBezTo>
                    <a:pt x="3676650" y="2853563"/>
                    <a:pt x="2853563" y="3676650"/>
                    <a:pt x="1838325" y="3676650"/>
                  </a:cubicBezTo>
                  <a:lnTo>
                    <a:pt x="1838325" y="3667125"/>
                  </a:lnTo>
                  <a:lnTo>
                    <a:pt x="1838325" y="3676650"/>
                  </a:lnTo>
                  <a:cubicBezTo>
                    <a:pt x="823087" y="3676650"/>
                    <a:pt x="0" y="2853563"/>
                    <a:pt x="0" y="1838325"/>
                  </a:cubicBezTo>
                  <a:lnTo>
                    <a:pt x="9525" y="1838325"/>
                  </a:lnTo>
                  <a:lnTo>
                    <a:pt x="17526" y="1843532"/>
                  </a:lnTo>
                  <a:cubicBezTo>
                    <a:pt x="15240" y="1847088"/>
                    <a:pt x="10922" y="1848739"/>
                    <a:pt x="6858" y="1847469"/>
                  </a:cubicBezTo>
                  <a:cubicBezTo>
                    <a:pt x="2794" y="1846199"/>
                    <a:pt x="0" y="1842516"/>
                    <a:pt x="0" y="1838325"/>
                  </a:cubicBezTo>
                  <a:moveTo>
                    <a:pt x="19050" y="1838325"/>
                  </a:moveTo>
                  <a:lnTo>
                    <a:pt x="9525" y="1838325"/>
                  </a:lnTo>
                  <a:lnTo>
                    <a:pt x="1524" y="1833118"/>
                  </a:lnTo>
                  <a:cubicBezTo>
                    <a:pt x="3810" y="1829562"/>
                    <a:pt x="8128" y="1827911"/>
                    <a:pt x="12192" y="1829181"/>
                  </a:cubicBezTo>
                  <a:cubicBezTo>
                    <a:pt x="16256" y="1830451"/>
                    <a:pt x="19050" y="1834134"/>
                    <a:pt x="19050" y="1838325"/>
                  </a:cubicBezTo>
                  <a:cubicBezTo>
                    <a:pt x="19050" y="2843022"/>
                    <a:pt x="833628" y="3657600"/>
                    <a:pt x="1838325" y="3657600"/>
                  </a:cubicBezTo>
                  <a:cubicBezTo>
                    <a:pt x="2843022" y="3657600"/>
                    <a:pt x="3657600" y="2843022"/>
                    <a:pt x="3657600" y="1838325"/>
                  </a:cubicBezTo>
                  <a:lnTo>
                    <a:pt x="3667125" y="1838325"/>
                  </a:lnTo>
                  <a:lnTo>
                    <a:pt x="3657600" y="1838325"/>
                  </a:lnTo>
                  <a:cubicBezTo>
                    <a:pt x="3657600" y="833628"/>
                    <a:pt x="2843022" y="19050"/>
                    <a:pt x="1838325" y="19050"/>
                  </a:cubicBezTo>
                  <a:lnTo>
                    <a:pt x="1838325" y="9525"/>
                  </a:lnTo>
                  <a:lnTo>
                    <a:pt x="1838325" y="19050"/>
                  </a:lnTo>
                  <a:cubicBezTo>
                    <a:pt x="833628" y="19050"/>
                    <a:pt x="19050" y="833628"/>
                    <a:pt x="19050" y="1838325"/>
                  </a:cubicBezTo>
                  <a:close/>
                </a:path>
              </a:pathLst>
            </a:custGeom>
            <a:solidFill>
              <a:srgbClr val="21322D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747236" y="678656"/>
            <a:ext cx="864680" cy="82868"/>
            <a:chOff x="0" y="0"/>
            <a:chExt cx="1152906" cy="11049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9525" y="9525"/>
              <a:ext cx="1133856" cy="91440"/>
            </a:xfrm>
            <a:custGeom>
              <a:avLst/>
              <a:gdLst/>
              <a:ahLst/>
              <a:cxnLst/>
              <a:rect r="r" b="b" t="t" l="l"/>
              <a:pathLst>
                <a:path h="91440" w="1133856">
                  <a:moveTo>
                    <a:pt x="0" y="0"/>
                  </a:moveTo>
                  <a:lnTo>
                    <a:pt x="1133856" y="0"/>
                  </a:lnTo>
                  <a:lnTo>
                    <a:pt x="1133856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74DE62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52906" cy="110490"/>
            </a:xfrm>
            <a:custGeom>
              <a:avLst/>
              <a:gdLst/>
              <a:ahLst/>
              <a:cxnLst/>
              <a:rect r="r" b="b" t="t" l="l"/>
              <a:pathLst>
                <a:path h="110490" w="1152906">
                  <a:moveTo>
                    <a:pt x="9525" y="0"/>
                  </a:moveTo>
                  <a:lnTo>
                    <a:pt x="1143381" y="0"/>
                  </a:lnTo>
                  <a:cubicBezTo>
                    <a:pt x="1148588" y="0"/>
                    <a:pt x="1152906" y="4318"/>
                    <a:pt x="1152906" y="9525"/>
                  </a:cubicBezTo>
                  <a:lnTo>
                    <a:pt x="1152906" y="100965"/>
                  </a:lnTo>
                  <a:cubicBezTo>
                    <a:pt x="1152906" y="106172"/>
                    <a:pt x="1148588" y="110490"/>
                    <a:pt x="1143381" y="110490"/>
                  </a:cubicBezTo>
                  <a:lnTo>
                    <a:pt x="9525" y="110490"/>
                  </a:lnTo>
                  <a:cubicBezTo>
                    <a:pt x="4318" y="110490"/>
                    <a:pt x="0" y="106172"/>
                    <a:pt x="0" y="100965"/>
                  </a:cubicBezTo>
                  <a:lnTo>
                    <a:pt x="0" y="9525"/>
                  </a:lnTo>
                  <a:cubicBezTo>
                    <a:pt x="0" y="4318"/>
                    <a:pt x="4318" y="0"/>
                    <a:pt x="9525" y="0"/>
                  </a:cubicBezTo>
                  <a:moveTo>
                    <a:pt x="9525" y="19050"/>
                  </a:moveTo>
                  <a:lnTo>
                    <a:pt x="9525" y="9525"/>
                  </a:lnTo>
                  <a:lnTo>
                    <a:pt x="19050" y="9525"/>
                  </a:lnTo>
                  <a:lnTo>
                    <a:pt x="19050" y="100965"/>
                  </a:lnTo>
                  <a:lnTo>
                    <a:pt x="9525" y="100965"/>
                  </a:lnTo>
                  <a:lnTo>
                    <a:pt x="9525" y="91440"/>
                  </a:lnTo>
                  <a:lnTo>
                    <a:pt x="1143381" y="91440"/>
                  </a:lnTo>
                  <a:lnTo>
                    <a:pt x="1143381" y="100965"/>
                  </a:lnTo>
                  <a:lnTo>
                    <a:pt x="1133856" y="100965"/>
                  </a:lnTo>
                  <a:lnTo>
                    <a:pt x="1133856" y="9525"/>
                  </a:lnTo>
                  <a:lnTo>
                    <a:pt x="1143381" y="9525"/>
                  </a:lnTo>
                  <a:lnTo>
                    <a:pt x="1143381" y="19050"/>
                  </a:lnTo>
                  <a:lnTo>
                    <a:pt x="9525" y="19050"/>
                  </a:lnTo>
                  <a:close/>
                </a:path>
              </a:pathLst>
            </a:custGeom>
            <a:solidFill>
              <a:srgbClr val="74DE62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019175" y="5143500"/>
            <a:ext cx="6328410" cy="3173730"/>
            <a:chOff x="0" y="0"/>
            <a:chExt cx="8437880" cy="4231640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0" y="0"/>
              <a:ext cx="8437880" cy="4231640"/>
              <a:chOff x="0" y="0"/>
              <a:chExt cx="8437880" cy="423164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12700" y="12700"/>
                <a:ext cx="8412480" cy="4206240"/>
              </a:xfrm>
              <a:custGeom>
                <a:avLst/>
                <a:gdLst/>
                <a:ahLst/>
                <a:cxnLst/>
                <a:rect r="r" b="b" t="t" l="l"/>
                <a:pathLst>
                  <a:path h="4206240" w="8412480">
                    <a:moveTo>
                      <a:pt x="0" y="701040"/>
                    </a:moveTo>
                    <a:cubicBezTo>
                      <a:pt x="0" y="313817"/>
                      <a:pt x="314833" y="0"/>
                      <a:pt x="703199" y="0"/>
                    </a:cubicBezTo>
                    <a:lnTo>
                      <a:pt x="7709281" y="0"/>
                    </a:lnTo>
                    <a:cubicBezTo>
                      <a:pt x="8097648" y="0"/>
                      <a:pt x="8412480" y="313817"/>
                      <a:pt x="8412480" y="701040"/>
                    </a:cubicBezTo>
                    <a:lnTo>
                      <a:pt x="8412480" y="3505200"/>
                    </a:lnTo>
                    <a:cubicBezTo>
                      <a:pt x="8412480" y="3892423"/>
                      <a:pt x="8097648" y="4206240"/>
                      <a:pt x="7709281" y="4206240"/>
                    </a:cubicBezTo>
                    <a:lnTo>
                      <a:pt x="703199" y="4206240"/>
                    </a:lnTo>
                    <a:cubicBezTo>
                      <a:pt x="314833" y="4206240"/>
                      <a:pt x="0" y="3892423"/>
                      <a:pt x="0" y="3505200"/>
                    </a:cubicBezTo>
                    <a:close/>
                  </a:path>
                </a:pathLst>
              </a:custGeom>
              <a:solidFill>
                <a:srgbClr val="0A1E12"/>
              </a:solidFill>
            </p:spPr>
          </p:sp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8437880" cy="4231640"/>
              </a:xfrm>
              <a:custGeom>
                <a:avLst/>
                <a:gdLst/>
                <a:ahLst/>
                <a:cxnLst/>
                <a:rect r="r" b="b" t="t" l="l"/>
                <a:pathLst>
                  <a:path h="4231640" w="8437880">
                    <a:moveTo>
                      <a:pt x="0" y="713740"/>
                    </a:moveTo>
                    <a:cubicBezTo>
                      <a:pt x="0" y="319532"/>
                      <a:pt x="320548" y="0"/>
                      <a:pt x="715899" y="0"/>
                    </a:cubicBezTo>
                    <a:lnTo>
                      <a:pt x="7721981" y="0"/>
                    </a:lnTo>
                    <a:lnTo>
                      <a:pt x="7721981" y="12700"/>
                    </a:lnTo>
                    <a:lnTo>
                      <a:pt x="7721981" y="0"/>
                    </a:lnTo>
                    <a:cubicBezTo>
                      <a:pt x="8117332" y="0"/>
                      <a:pt x="8437880" y="319532"/>
                      <a:pt x="8437880" y="713740"/>
                    </a:cubicBezTo>
                    <a:lnTo>
                      <a:pt x="8425180" y="713740"/>
                    </a:lnTo>
                    <a:lnTo>
                      <a:pt x="8437880" y="713740"/>
                    </a:lnTo>
                    <a:lnTo>
                      <a:pt x="8437880" y="3517900"/>
                    </a:lnTo>
                    <a:lnTo>
                      <a:pt x="8425180" y="3517900"/>
                    </a:lnTo>
                    <a:lnTo>
                      <a:pt x="8437880" y="3517900"/>
                    </a:lnTo>
                    <a:cubicBezTo>
                      <a:pt x="8437880" y="3912108"/>
                      <a:pt x="8117332" y="4231640"/>
                      <a:pt x="7721981" y="4231640"/>
                    </a:cubicBezTo>
                    <a:lnTo>
                      <a:pt x="7721981" y="4218940"/>
                    </a:lnTo>
                    <a:lnTo>
                      <a:pt x="7721981" y="4231640"/>
                    </a:lnTo>
                    <a:lnTo>
                      <a:pt x="715899" y="4231640"/>
                    </a:lnTo>
                    <a:lnTo>
                      <a:pt x="715899" y="4218940"/>
                    </a:lnTo>
                    <a:lnTo>
                      <a:pt x="715899" y="4231640"/>
                    </a:lnTo>
                    <a:cubicBezTo>
                      <a:pt x="320548" y="4231640"/>
                      <a:pt x="0" y="3912108"/>
                      <a:pt x="0" y="3517900"/>
                    </a:cubicBezTo>
                    <a:lnTo>
                      <a:pt x="0" y="713740"/>
                    </a:lnTo>
                    <a:lnTo>
                      <a:pt x="12700" y="713740"/>
                    </a:lnTo>
                    <a:lnTo>
                      <a:pt x="0" y="713740"/>
                    </a:lnTo>
                    <a:moveTo>
                      <a:pt x="25400" y="713740"/>
                    </a:moveTo>
                    <a:lnTo>
                      <a:pt x="25400" y="3517900"/>
                    </a:lnTo>
                    <a:lnTo>
                      <a:pt x="12700" y="3517900"/>
                    </a:lnTo>
                    <a:lnTo>
                      <a:pt x="25400" y="3517900"/>
                    </a:lnTo>
                    <a:cubicBezTo>
                      <a:pt x="25400" y="3898011"/>
                      <a:pt x="334518" y="4206240"/>
                      <a:pt x="715899" y="4206240"/>
                    </a:cubicBezTo>
                    <a:lnTo>
                      <a:pt x="7721981" y="4206240"/>
                    </a:lnTo>
                    <a:cubicBezTo>
                      <a:pt x="8103363" y="4206240"/>
                      <a:pt x="8412480" y="3898011"/>
                      <a:pt x="8412480" y="3517900"/>
                    </a:cubicBezTo>
                    <a:lnTo>
                      <a:pt x="8412480" y="713740"/>
                    </a:lnTo>
                    <a:cubicBezTo>
                      <a:pt x="8412480" y="333629"/>
                      <a:pt x="8103362" y="25400"/>
                      <a:pt x="7721981" y="25400"/>
                    </a:cubicBezTo>
                    <a:lnTo>
                      <a:pt x="715899" y="25400"/>
                    </a:lnTo>
                    <a:lnTo>
                      <a:pt x="715899" y="12700"/>
                    </a:lnTo>
                    <a:lnTo>
                      <a:pt x="715899" y="25400"/>
                    </a:lnTo>
                    <a:cubicBezTo>
                      <a:pt x="334518" y="25400"/>
                      <a:pt x="25400" y="333629"/>
                      <a:pt x="25400" y="713740"/>
                    </a:cubicBezTo>
                    <a:close/>
                  </a:path>
                </a:pathLst>
              </a:custGeom>
              <a:solidFill>
                <a:srgbClr val="74DE62"/>
              </a:solidFill>
            </p:spPr>
          </p:sp>
        </p:grpSp>
        <p:sp>
          <p:nvSpPr>
            <p:cNvPr name="TextBox 15" id="15"/>
            <p:cNvSpPr txBox="true"/>
            <p:nvPr/>
          </p:nvSpPr>
          <p:spPr>
            <a:xfrm rot="0">
              <a:off x="378460" y="339217"/>
              <a:ext cx="7680960" cy="45377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96"/>
                </a:lnSpc>
              </a:pPr>
              <a:r>
                <a:rPr lang="en-US" sz="1830" b="true">
                  <a:solidFill>
                    <a:srgbClr val="74DE62"/>
                  </a:solidFill>
                  <a:latin typeface="Aptos Bold"/>
                  <a:ea typeface="Aptos Bold"/>
                  <a:cs typeface="Aptos Bold"/>
                  <a:sym typeface="Aptos Bold"/>
                </a:rPr>
                <a:t>Interpretation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378460" y="1033399"/>
              <a:ext cx="7680960" cy="30697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16"/>
                </a:lnSpc>
              </a:pPr>
              <a:r>
                <a:rPr lang="en-US" sz="1680">
                  <a:solidFill>
                    <a:srgbClr val="F6FAF7"/>
                  </a:solidFill>
                  <a:latin typeface="Aptos"/>
                  <a:ea typeface="Aptos"/>
                  <a:cs typeface="Aptos"/>
                  <a:sym typeface="Aptos"/>
                </a:rPr>
                <a:t>A query close to known RBPs gains support; proximity to outgroup branches is interpreted cautiously.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917956" y="2704592"/>
              <a:ext cx="1755648" cy="40843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74DE62"/>
                  </a:solidFill>
                  <a:latin typeface="Aptos Bold"/>
                  <a:ea typeface="Aptos Bold"/>
                  <a:cs typeface="Aptos Bold"/>
                  <a:sym typeface="Aptos Bold"/>
                </a:rPr>
                <a:t>Query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4301236" y="2101088"/>
              <a:ext cx="2487168" cy="40843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575">
                  <a:solidFill>
                    <a:srgbClr val="F6FAF7"/>
                  </a:solidFill>
                  <a:latin typeface="Aptos"/>
                  <a:ea typeface="Aptos"/>
                  <a:cs typeface="Aptos"/>
                  <a:sym typeface="Aptos"/>
                </a:rPr>
                <a:t>RBP cluster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4301236" y="3436112"/>
              <a:ext cx="3218688" cy="40843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575">
                  <a:solidFill>
                    <a:srgbClr val="BECDC3"/>
                  </a:solidFill>
                  <a:latin typeface="Aptos"/>
                  <a:ea typeface="Aptos"/>
                  <a:cs typeface="Aptos"/>
                  <a:sym typeface="Aptos"/>
                </a:rPr>
                <a:t>Outgroup branch</a:t>
              </a:r>
            </a:p>
          </p:txBody>
        </p:sp>
        <p:sp>
          <p:nvSpPr>
            <p:cNvPr name="AutoShape 20" id="20"/>
            <p:cNvSpPr/>
            <p:nvPr/>
          </p:nvSpPr>
          <p:spPr>
            <a:xfrm flipV="true">
              <a:off x="2236471" y="2297942"/>
              <a:ext cx="1861832" cy="673092"/>
            </a:xfrm>
            <a:prstGeom prst="line">
              <a:avLst/>
            </a:prstGeom>
            <a:ln cap="rnd" w="12700">
              <a:solidFill>
                <a:srgbClr val="74DE62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1" id="21"/>
            <p:cNvSpPr/>
            <p:nvPr/>
          </p:nvSpPr>
          <p:spPr>
            <a:xfrm>
              <a:off x="2236471" y="2938022"/>
              <a:ext cx="1861832" cy="673092"/>
            </a:xfrm>
            <a:prstGeom prst="line">
              <a:avLst/>
            </a:prstGeom>
            <a:ln cap="rnd" w="12700">
              <a:solidFill>
                <a:srgbClr val="74DE62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Freeform 22" id="22"/>
          <p:cNvSpPr/>
          <p:nvPr/>
        </p:nvSpPr>
        <p:spPr>
          <a:xfrm flipH="false" flipV="false" rot="0">
            <a:off x="7730392" y="1248559"/>
            <a:ext cx="9528908" cy="7789882"/>
          </a:xfrm>
          <a:custGeom>
            <a:avLst/>
            <a:gdLst/>
            <a:ahLst/>
            <a:cxnLst/>
            <a:rect r="r" b="b" t="t" l="l"/>
            <a:pathLst>
              <a:path h="7789882" w="9528908">
                <a:moveTo>
                  <a:pt x="0" y="0"/>
                </a:moveTo>
                <a:lnTo>
                  <a:pt x="9528908" y="0"/>
                </a:lnTo>
                <a:lnTo>
                  <a:pt x="9528908" y="7789882"/>
                </a:lnTo>
                <a:lnTo>
                  <a:pt x="0" y="778988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w="38100" cap="sq">
            <a:solidFill>
              <a:srgbClr val="74DE62"/>
            </a:solidFill>
            <a:prstDash val="solid"/>
            <a:miter/>
          </a:ln>
        </p:spPr>
      </p:sp>
      <p:sp>
        <p:nvSpPr>
          <p:cNvPr name="TextBox 23" id="23"/>
          <p:cNvSpPr txBox="true"/>
          <p:nvPr/>
        </p:nvSpPr>
        <p:spPr>
          <a:xfrm rot="0">
            <a:off x="781812" y="402336"/>
            <a:ext cx="6117336" cy="2377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86"/>
              </a:lnSpc>
            </a:pPr>
            <a:r>
              <a:rPr lang="en-US" sz="1155" b="true">
                <a:solidFill>
                  <a:srgbClr val="74DE62"/>
                </a:solidFill>
                <a:latin typeface="Aptos Bold"/>
                <a:ea typeface="Aptos Bold"/>
                <a:cs typeface="Aptos Bold"/>
                <a:sym typeface="Aptos Bold"/>
              </a:rPr>
              <a:t>METHODOLOGY · DEVELOPMENT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81812" y="1046988"/>
            <a:ext cx="14758416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true">
                <a:solidFill>
                  <a:srgbClr val="F6FAF7"/>
                </a:solidFill>
                <a:latin typeface="Aptos Bold"/>
                <a:ea typeface="Aptos Bold"/>
                <a:cs typeface="Aptos Bold"/>
                <a:sym typeface="Aptos Bold"/>
              </a:rPr>
              <a:t>Evolutionary analysis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822960" y="1856232"/>
            <a:ext cx="6076188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BECDC3"/>
                </a:solidFill>
                <a:latin typeface="Aptos"/>
                <a:ea typeface="Aptos"/>
                <a:cs typeface="Aptos"/>
                <a:sym typeface="Aptos"/>
              </a:rPr>
              <a:t>Global phylogenetic tree and distance-based scoring</a:t>
            </a:r>
          </a:p>
          <a:p>
            <a:pPr algn="l">
              <a:lnSpc>
                <a:spcPts val="2430"/>
              </a:lnSpc>
            </a:pPr>
          </a:p>
        </p:txBody>
      </p:sp>
      <p:sp>
        <p:nvSpPr>
          <p:cNvPr name="TextBox 26" id="26"/>
          <p:cNvSpPr txBox="true"/>
          <p:nvPr/>
        </p:nvSpPr>
        <p:spPr>
          <a:xfrm rot="0">
            <a:off x="1081278" y="2503932"/>
            <a:ext cx="6351270" cy="2266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6"/>
              </a:lnSpc>
            </a:pPr>
            <a:r>
              <a:rPr lang="en-US" sz="2130">
                <a:solidFill>
                  <a:srgbClr val="F6FAF7"/>
                </a:solidFill>
                <a:latin typeface="Aptos"/>
                <a:ea typeface="Aptos"/>
                <a:cs typeface="Aptos"/>
                <a:sym typeface="Aptos"/>
              </a:rPr>
              <a:t>Query sequences were aligned together with reference RBPs and non-RBP outgroups to compute phylogenetic distances.</a:t>
            </a:r>
          </a:p>
          <a:p>
            <a:pPr algn="l">
              <a:lnSpc>
                <a:spcPts val="2556"/>
              </a:lnSpc>
            </a:pPr>
            <a:r>
              <a:rPr lang="en-US" sz="2130">
                <a:solidFill>
                  <a:srgbClr val="F6FAF7"/>
                </a:solidFill>
                <a:latin typeface="Aptos"/>
                <a:ea typeface="Aptos"/>
                <a:cs typeface="Aptos"/>
                <a:sym typeface="Aptos"/>
              </a:rPr>
              <a:t>MUSCLE is used for multiple sequence alignment; FastTree is used for tree construction.</a:t>
            </a:r>
          </a:p>
          <a:p>
            <a:pPr algn="l">
              <a:lnSpc>
                <a:spcPts val="2556"/>
              </a:lnSpc>
            </a:pPr>
            <a:r>
              <a:rPr lang="en-US" sz="2130">
                <a:solidFill>
                  <a:srgbClr val="F6FAF7"/>
                </a:solidFill>
                <a:latin typeface="Aptos"/>
                <a:ea typeface="Aptos"/>
                <a:cs typeface="Aptos"/>
                <a:sym typeface="Aptos"/>
              </a:rPr>
              <a:t>Shorter phylogenetic distances to known RBPs increase the phylogenetic component of the score.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877824" y="9500235"/>
            <a:ext cx="1933956" cy="2198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4"/>
              </a:lnSpc>
            </a:pPr>
            <a:r>
              <a:rPr lang="en-US" sz="1170" b="true">
                <a:solidFill>
                  <a:srgbClr val="74DE62"/>
                </a:solidFill>
                <a:latin typeface="Aptos Bold"/>
                <a:ea typeface="Aptos Bold"/>
                <a:cs typeface="Aptos Bold"/>
                <a:sym typeface="Aptos Bold"/>
              </a:rPr>
              <a:t>KEY MESSAGE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2523744" y="9427464"/>
            <a:ext cx="14621256" cy="3749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F6FAF7"/>
                </a:solidFill>
                <a:latin typeface="Aptos"/>
                <a:ea typeface="Aptos"/>
                <a:cs typeface="Aptos"/>
                <a:sym typeface="Aptos"/>
              </a:rPr>
              <a:t>Phylogeny adds evolutionary context to sequence similarity.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6692372" y="9454896"/>
            <a:ext cx="905256" cy="210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439"/>
              </a:lnSpc>
            </a:pPr>
            <a:r>
              <a:rPr lang="en-US" sz="1200">
                <a:solidFill>
                  <a:srgbClr val="BECDC3"/>
                </a:solidFill>
                <a:latin typeface="Aptos"/>
                <a:ea typeface="Aptos"/>
                <a:cs typeface="Aptos"/>
                <a:sym typeface="Aptos"/>
              </a:rPr>
              <a:t>07/12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0513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903416" y="-555784"/>
            <a:ext cx="3168967" cy="3168967"/>
            <a:chOff x="0" y="0"/>
            <a:chExt cx="4225290" cy="422529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9525" y="9525"/>
              <a:ext cx="4206240" cy="4206240"/>
            </a:xfrm>
            <a:custGeom>
              <a:avLst/>
              <a:gdLst/>
              <a:ahLst/>
              <a:cxnLst/>
              <a:rect r="r" b="b" t="t" l="l"/>
              <a:pathLst>
                <a:path h="4206240" w="4206240">
                  <a:moveTo>
                    <a:pt x="0" y="2103120"/>
                  </a:moveTo>
                  <a:cubicBezTo>
                    <a:pt x="0" y="941578"/>
                    <a:pt x="941578" y="0"/>
                    <a:pt x="2103120" y="0"/>
                  </a:cubicBezTo>
                  <a:cubicBezTo>
                    <a:pt x="3264662" y="0"/>
                    <a:pt x="4206240" y="941578"/>
                    <a:pt x="4206240" y="2103120"/>
                  </a:cubicBezTo>
                  <a:cubicBezTo>
                    <a:pt x="4206240" y="3264662"/>
                    <a:pt x="3264662" y="4206240"/>
                    <a:pt x="2103120" y="4206240"/>
                  </a:cubicBezTo>
                  <a:cubicBezTo>
                    <a:pt x="941578" y="4206240"/>
                    <a:pt x="0" y="3264662"/>
                    <a:pt x="0" y="2103120"/>
                  </a:cubicBezTo>
                  <a:close/>
                </a:path>
              </a:pathLst>
            </a:custGeom>
            <a:solidFill>
              <a:srgbClr val="283732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25290" cy="4225290"/>
            </a:xfrm>
            <a:custGeom>
              <a:avLst/>
              <a:gdLst/>
              <a:ahLst/>
              <a:cxnLst/>
              <a:rect r="r" b="b" t="t" l="l"/>
              <a:pathLst>
                <a:path h="4225290" w="4225290">
                  <a:moveTo>
                    <a:pt x="0" y="2112645"/>
                  </a:moveTo>
                  <a:cubicBezTo>
                    <a:pt x="0" y="945896"/>
                    <a:pt x="945896" y="0"/>
                    <a:pt x="2112645" y="0"/>
                  </a:cubicBezTo>
                  <a:lnTo>
                    <a:pt x="2112645" y="9525"/>
                  </a:lnTo>
                  <a:lnTo>
                    <a:pt x="2112645" y="0"/>
                  </a:lnTo>
                  <a:cubicBezTo>
                    <a:pt x="3279394" y="0"/>
                    <a:pt x="4225290" y="945896"/>
                    <a:pt x="4225290" y="2112645"/>
                  </a:cubicBezTo>
                  <a:lnTo>
                    <a:pt x="4215765" y="2112645"/>
                  </a:lnTo>
                  <a:lnTo>
                    <a:pt x="4225290" y="2112645"/>
                  </a:lnTo>
                  <a:cubicBezTo>
                    <a:pt x="4225290" y="3279394"/>
                    <a:pt x="3279394" y="4225290"/>
                    <a:pt x="2112645" y="4225290"/>
                  </a:cubicBezTo>
                  <a:lnTo>
                    <a:pt x="2112645" y="4215765"/>
                  </a:lnTo>
                  <a:lnTo>
                    <a:pt x="2112645" y="4225290"/>
                  </a:lnTo>
                  <a:cubicBezTo>
                    <a:pt x="945896" y="4225290"/>
                    <a:pt x="0" y="3279394"/>
                    <a:pt x="0" y="2112645"/>
                  </a:cubicBezTo>
                  <a:lnTo>
                    <a:pt x="9525" y="2112645"/>
                  </a:lnTo>
                  <a:lnTo>
                    <a:pt x="19050" y="2112645"/>
                  </a:lnTo>
                  <a:lnTo>
                    <a:pt x="9525" y="2112645"/>
                  </a:lnTo>
                  <a:lnTo>
                    <a:pt x="0" y="2112645"/>
                  </a:lnTo>
                  <a:moveTo>
                    <a:pt x="19050" y="2112645"/>
                  </a:moveTo>
                  <a:cubicBezTo>
                    <a:pt x="19050" y="2117852"/>
                    <a:pt x="14732" y="2122170"/>
                    <a:pt x="9525" y="2122170"/>
                  </a:cubicBezTo>
                  <a:cubicBezTo>
                    <a:pt x="4318" y="2122170"/>
                    <a:pt x="0" y="2117852"/>
                    <a:pt x="0" y="2112645"/>
                  </a:cubicBezTo>
                  <a:cubicBezTo>
                    <a:pt x="0" y="2107438"/>
                    <a:pt x="4318" y="2103120"/>
                    <a:pt x="9525" y="2103120"/>
                  </a:cubicBezTo>
                  <a:cubicBezTo>
                    <a:pt x="14732" y="2103120"/>
                    <a:pt x="19050" y="2107438"/>
                    <a:pt x="19050" y="2112645"/>
                  </a:cubicBezTo>
                  <a:cubicBezTo>
                    <a:pt x="19050" y="3268853"/>
                    <a:pt x="956437" y="4206240"/>
                    <a:pt x="2112645" y="4206240"/>
                  </a:cubicBezTo>
                  <a:cubicBezTo>
                    <a:pt x="3268853" y="4206240"/>
                    <a:pt x="4206240" y="3268853"/>
                    <a:pt x="4206240" y="2112645"/>
                  </a:cubicBezTo>
                  <a:cubicBezTo>
                    <a:pt x="4206240" y="956437"/>
                    <a:pt x="3268853" y="19050"/>
                    <a:pt x="2112645" y="19050"/>
                  </a:cubicBezTo>
                  <a:lnTo>
                    <a:pt x="2112645" y="9525"/>
                  </a:lnTo>
                  <a:lnTo>
                    <a:pt x="2112645" y="19050"/>
                  </a:lnTo>
                  <a:cubicBezTo>
                    <a:pt x="956437" y="19050"/>
                    <a:pt x="19050" y="956437"/>
                    <a:pt x="19050" y="2112645"/>
                  </a:cubicBezTo>
                  <a:close/>
                </a:path>
              </a:pathLst>
            </a:custGeom>
            <a:solidFill>
              <a:srgbClr val="283732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-1104424" y="8359616"/>
            <a:ext cx="2757488" cy="2757488"/>
            <a:chOff x="0" y="0"/>
            <a:chExt cx="3676650" cy="367665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9525" y="9525"/>
              <a:ext cx="3657600" cy="3657600"/>
            </a:xfrm>
            <a:custGeom>
              <a:avLst/>
              <a:gdLst/>
              <a:ahLst/>
              <a:cxnLst/>
              <a:rect r="r" b="b" t="t" l="l"/>
              <a:pathLst>
                <a:path h="3657600" w="3657600">
                  <a:moveTo>
                    <a:pt x="0" y="1828800"/>
                  </a:moveTo>
                  <a:cubicBezTo>
                    <a:pt x="0" y="818769"/>
                    <a:pt x="818769" y="0"/>
                    <a:pt x="1828800" y="0"/>
                  </a:cubicBezTo>
                  <a:cubicBezTo>
                    <a:pt x="2838831" y="0"/>
                    <a:pt x="3657600" y="818769"/>
                    <a:pt x="3657600" y="1828800"/>
                  </a:cubicBezTo>
                  <a:cubicBezTo>
                    <a:pt x="3657600" y="2838831"/>
                    <a:pt x="2838831" y="3657600"/>
                    <a:pt x="1828800" y="3657600"/>
                  </a:cubicBezTo>
                  <a:cubicBezTo>
                    <a:pt x="818769" y="3657600"/>
                    <a:pt x="0" y="2838831"/>
                    <a:pt x="0" y="1828800"/>
                  </a:cubicBezTo>
                  <a:close/>
                </a:path>
              </a:pathLst>
            </a:custGeom>
            <a:solidFill>
              <a:srgbClr val="21322D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676650" cy="3676650"/>
            </a:xfrm>
            <a:custGeom>
              <a:avLst/>
              <a:gdLst/>
              <a:ahLst/>
              <a:cxnLst/>
              <a:rect r="r" b="b" t="t" l="l"/>
              <a:pathLst>
                <a:path h="3676650" w="3676650">
                  <a:moveTo>
                    <a:pt x="0" y="1838325"/>
                  </a:moveTo>
                  <a:cubicBezTo>
                    <a:pt x="0" y="823087"/>
                    <a:pt x="823087" y="0"/>
                    <a:pt x="1838325" y="0"/>
                  </a:cubicBezTo>
                  <a:lnTo>
                    <a:pt x="1838325" y="9525"/>
                  </a:lnTo>
                  <a:lnTo>
                    <a:pt x="1838325" y="0"/>
                  </a:lnTo>
                  <a:cubicBezTo>
                    <a:pt x="2853563" y="0"/>
                    <a:pt x="3676650" y="823087"/>
                    <a:pt x="3676650" y="1838325"/>
                  </a:cubicBezTo>
                  <a:cubicBezTo>
                    <a:pt x="3676650" y="2853563"/>
                    <a:pt x="2853563" y="3676650"/>
                    <a:pt x="1838325" y="3676650"/>
                  </a:cubicBezTo>
                  <a:lnTo>
                    <a:pt x="1838325" y="3667125"/>
                  </a:lnTo>
                  <a:lnTo>
                    <a:pt x="1838325" y="3676650"/>
                  </a:lnTo>
                  <a:cubicBezTo>
                    <a:pt x="823087" y="3676650"/>
                    <a:pt x="0" y="2853563"/>
                    <a:pt x="0" y="1838325"/>
                  </a:cubicBezTo>
                  <a:lnTo>
                    <a:pt x="9525" y="1838325"/>
                  </a:lnTo>
                  <a:lnTo>
                    <a:pt x="17526" y="1843532"/>
                  </a:lnTo>
                  <a:cubicBezTo>
                    <a:pt x="15240" y="1847088"/>
                    <a:pt x="10922" y="1848739"/>
                    <a:pt x="6858" y="1847469"/>
                  </a:cubicBezTo>
                  <a:cubicBezTo>
                    <a:pt x="2794" y="1846199"/>
                    <a:pt x="0" y="1842516"/>
                    <a:pt x="0" y="1838325"/>
                  </a:cubicBezTo>
                  <a:moveTo>
                    <a:pt x="19050" y="1838325"/>
                  </a:moveTo>
                  <a:lnTo>
                    <a:pt x="9525" y="1838325"/>
                  </a:lnTo>
                  <a:lnTo>
                    <a:pt x="1524" y="1833118"/>
                  </a:lnTo>
                  <a:cubicBezTo>
                    <a:pt x="3810" y="1829562"/>
                    <a:pt x="8128" y="1827911"/>
                    <a:pt x="12192" y="1829181"/>
                  </a:cubicBezTo>
                  <a:cubicBezTo>
                    <a:pt x="16256" y="1830451"/>
                    <a:pt x="19050" y="1834134"/>
                    <a:pt x="19050" y="1838325"/>
                  </a:cubicBezTo>
                  <a:cubicBezTo>
                    <a:pt x="19050" y="2843022"/>
                    <a:pt x="833628" y="3657600"/>
                    <a:pt x="1838325" y="3657600"/>
                  </a:cubicBezTo>
                  <a:cubicBezTo>
                    <a:pt x="2843022" y="3657600"/>
                    <a:pt x="3657600" y="2843022"/>
                    <a:pt x="3657600" y="1838325"/>
                  </a:cubicBezTo>
                  <a:lnTo>
                    <a:pt x="3667125" y="1838325"/>
                  </a:lnTo>
                  <a:lnTo>
                    <a:pt x="3657600" y="1838325"/>
                  </a:lnTo>
                  <a:cubicBezTo>
                    <a:pt x="3657600" y="833628"/>
                    <a:pt x="2843022" y="19050"/>
                    <a:pt x="1838325" y="19050"/>
                  </a:cubicBezTo>
                  <a:lnTo>
                    <a:pt x="1838325" y="9525"/>
                  </a:lnTo>
                  <a:lnTo>
                    <a:pt x="1838325" y="19050"/>
                  </a:lnTo>
                  <a:cubicBezTo>
                    <a:pt x="833628" y="19050"/>
                    <a:pt x="19050" y="833628"/>
                    <a:pt x="19050" y="1838325"/>
                  </a:cubicBezTo>
                  <a:close/>
                </a:path>
              </a:pathLst>
            </a:custGeom>
            <a:solidFill>
              <a:srgbClr val="21322D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747236" y="678656"/>
            <a:ext cx="864680" cy="82868"/>
            <a:chOff x="0" y="0"/>
            <a:chExt cx="1152906" cy="11049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9525" y="9525"/>
              <a:ext cx="1133856" cy="91440"/>
            </a:xfrm>
            <a:custGeom>
              <a:avLst/>
              <a:gdLst/>
              <a:ahLst/>
              <a:cxnLst/>
              <a:rect r="r" b="b" t="t" l="l"/>
              <a:pathLst>
                <a:path h="91440" w="1133856">
                  <a:moveTo>
                    <a:pt x="0" y="0"/>
                  </a:moveTo>
                  <a:lnTo>
                    <a:pt x="1133856" y="0"/>
                  </a:lnTo>
                  <a:lnTo>
                    <a:pt x="1133856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74DE62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52906" cy="110490"/>
            </a:xfrm>
            <a:custGeom>
              <a:avLst/>
              <a:gdLst/>
              <a:ahLst/>
              <a:cxnLst/>
              <a:rect r="r" b="b" t="t" l="l"/>
              <a:pathLst>
                <a:path h="110490" w="1152906">
                  <a:moveTo>
                    <a:pt x="9525" y="0"/>
                  </a:moveTo>
                  <a:lnTo>
                    <a:pt x="1143381" y="0"/>
                  </a:lnTo>
                  <a:cubicBezTo>
                    <a:pt x="1148588" y="0"/>
                    <a:pt x="1152906" y="4318"/>
                    <a:pt x="1152906" y="9525"/>
                  </a:cubicBezTo>
                  <a:lnTo>
                    <a:pt x="1152906" y="100965"/>
                  </a:lnTo>
                  <a:cubicBezTo>
                    <a:pt x="1152906" y="106172"/>
                    <a:pt x="1148588" y="110490"/>
                    <a:pt x="1143381" y="110490"/>
                  </a:cubicBezTo>
                  <a:lnTo>
                    <a:pt x="9525" y="110490"/>
                  </a:lnTo>
                  <a:cubicBezTo>
                    <a:pt x="4318" y="110490"/>
                    <a:pt x="0" y="106172"/>
                    <a:pt x="0" y="100965"/>
                  </a:cubicBezTo>
                  <a:lnTo>
                    <a:pt x="0" y="9525"/>
                  </a:lnTo>
                  <a:cubicBezTo>
                    <a:pt x="0" y="4318"/>
                    <a:pt x="4318" y="0"/>
                    <a:pt x="9525" y="0"/>
                  </a:cubicBezTo>
                  <a:moveTo>
                    <a:pt x="9525" y="19050"/>
                  </a:moveTo>
                  <a:lnTo>
                    <a:pt x="9525" y="9525"/>
                  </a:lnTo>
                  <a:lnTo>
                    <a:pt x="19050" y="9525"/>
                  </a:lnTo>
                  <a:lnTo>
                    <a:pt x="19050" y="100965"/>
                  </a:lnTo>
                  <a:lnTo>
                    <a:pt x="9525" y="100965"/>
                  </a:lnTo>
                  <a:lnTo>
                    <a:pt x="9525" y="91440"/>
                  </a:lnTo>
                  <a:lnTo>
                    <a:pt x="1143381" y="91440"/>
                  </a:lnTo>
                  <a:lnTo>
                    <a:pt x="1143381" y="100965"/>
                  </a:lnTo>
                  <a:lnTo>
                    <a:pt x="1133856" y="100965"/>
                  </a:lnTo>
                  <a:lnTo>
                    <a:pt x="1133856" y="9525"/>
                  </a:lnTo>
                  <a:lnTo>
                    <a:pt x="1143381" y="9525"/>
                  </a:lnTo>
                  <a:lnTo>
                    <a:pt x="1143381" y="19050"/>
                  </a:lnTo>
                  <a:lnTo>
                    <a:pt x="9525" y="19050"/>
                  </a:lnTo>
                  <a:close/>
                </a:path>
              </a:pathLst>
            </a:custGeom>
            <a:solidFill>
              <a:srgbClr val="74DE62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781812" y="402336"/>
            <a:ext cx="6117336" cy="2377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86"/>
              </a:lnSpc>
            </a:pPr>
            <a:r>
              <a:rPr lang="en-US" sz="1155" b="true">
                <a:solidFill>
                  <a:srgbClr val="74DE62"/>
                </a:solidFill>
                <a:latin typeface="Aptos Bold"/>
                <a:ea typeface="Aptos Bold"/>
                <a:cs typeface="Aptos Bold"/>
                <a:sym typeface="Aptos Bold"/>
              </a:rPr>
              <a:t>METHODOLOGY · DEVELOPMENT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81812" y="1046988"/>
            <a:ext cx="14758416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true">
                <a:solidFill>
                  <a:srgbClr val="F6FAF7"/>
                </a:solidFill>
                <a:latin typeface="Aptos Bold"/>
                <a:ea typeface="Aptos Bold"/>
                <a:cs typeface="Aptos Bold"/>
                <a:sym typeface="Aptos Bold"/>
              </a:rPr>
              <a:t>Structural analysis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22960" y="1856232"/>
            <a:ext cx="15307056" cy="4846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BECDC3"/>
                </a:solidFill>
                <a:latin typeface="Aptos"/>
                <a:ea typeface="Aptos"/>
                <a:cs typeface="Aptos"/>
                <a:sym typeface="Aptos"/>
              </a:rPr>
              <a:t>ColabFold and Foldseek for scalable comparison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05840" y="2857500"/>
            <a:ext cx="7735824" cy="2266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5"/>
              </a:lnSpc>
            </a:pPr>
            <a:r>
              <a:rPr lang="en-US" sz="2129">
                <a:solidFill>
                  <a:srgbClr val="F6FAF7"/>
                </a:solidFill>
                <a:latin typeface="Aptos"/>
                <a:ea typeface="Aptos"/>
                <a:cs typeface="Aptos"/>
                <a:sym typeface="Aptos"/>
              </a:rPr>
              <a:t>Query structures are predicted with ColabFold.</a:t>
            </a:r>
          </a:p>
          <a:p>
            <a:pPr algn="l">
              <a:lnSpc>
                <a:spcPts val="2556"/>
              </a:lnSpc>
            </a:pPr>
          </a:p>
          <a:p>
            <a:pPr algn="l">
              <a:lnSpc>
                <a:spcPts val="2555"/>
              </a:lnSpc>
            </a:pPr>
            <a:r>
              <a:rPr lang="en-US" sz="2129">
                <a:solidFill>
                  <a:srgbClr val="F6FAF7"/>
                </a:solidFill>
                <a:latin typeface="Aptos"/>
                <a:ea typeface="Aptos"/>
                <a:cs typeface="Aptos"/>
                <a:sym typeface="Aptos"/>
              </a:rPr>
              <a:t>Reference structures were precomputed and stored.</a:t>
            </a:r>
          </a:p>
          <a:p>
            <a:pPr algn="l">
              <a:lnSpc>
                <a:spcPts val="2555"/>
              </a:lnSpc>
            </a:pPr>
          </a:p>
          <a:p>
            <a:pPr algn="l">
              <a:lnSpc>
                <a:spcPts val="2555"/>
              </a:lnSpc>
            </a:pPr>
            <a:r>
              <a:rPr lang="en-US" sz="2129">
                <a:solidFill>
                  <a:srgbClr val="F6FAF7"/>
                </a:solidFill>
                <a:latin typeface="Aptos"/>
                <a:ea typeface="Aptos"/>
                <a:cs typeface="Aptos"/>
                <a:sym typeface="Aptos"/>
              </a:rPr>
              <a:t>Foldseek outputs qTM-score, alnTM-score and RMSD, which are converted into the structural component of RBP-Score.</a:t>
            </a:r>
          </a:p>
          <a:p>
            <a:pPr algn="l">
              <a:lnSpc>
                <a:spcPts val="2556"/>
              </a:lnSpc>
            </a:pPr>
          </a:p>
        </p:txBody>
      </p:sp>
      <p:grpSp>
        <p:nvGrpSpPr>
          <p:cNvPr name="Group 15" id="15"/>
          <p:cNvGrpSpPr/>
          <p:nvPr/>
        </p:nvGrpSpPr>
        <p:grpSpPr>
          <a:xfrm rot="0">
            <a:off x="9660255" y="2733675"/>
            <a:ext cx="6808470" cy="1527810"/>
            <a:chOff x="0" y="0"/>
            <a:chExt cx="9077960" cy="203708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12700" y="12700"/>
              <a:ext cx="9052560" cy="2011680"/>
            </a:xfrm>
            <a:custGeom>
              <a:avLst/>
              <a:gdLst/>
              <a:ahLst/>
              <a:cxnLst/>
              <a:rect r="r" b="b" t="t" l="l"/>
              <a:pathLst>
                <a:path h="2011680" w="9052560">
                  <a:moveTo>
                    <a:pt x="0" y="335280"/>
                  </a:moveTo>
                  <a:cubicBezTo>
                    <a:pt x="0" y="150114"/>
                    <a:pt x="151638" y="0"/>
                    <a:pt x="338582" y="0"/>
                  </a:cubicBezTo>
                  <a:lnTo>
                    <a:pt x="8713978" y="0"/>
                  </a:lnTo>
                  <a:cubicBezTo>
                    <a:pt x="8900922" y="0"/>
                    <a:pt x="9052560" y="150114"/>
                    <a:pt x="9052560" y="335280"/>
                  </a:cubicBezTo>
                  <a:lnTo>
                    <a:pt x="9052560" y="1676400"/>
                  </a:lnTo>
                  <a:cubicBezTo>
                    <a:pt x="9052560" y="1861566"/>
                    <a:pt x="8900922" y="2011680"/>
                    <a:pt x="8713978" y="2011680"/>
                  </a:cubicBezTo>
                  <a:lnTo>
                    <a:pt x="338582" y="2011680"/>
                  </a:lnTo>
                  <a:cubicBezTo>
                    <a:pt x="151638" y="2011680"/>
                    <a:pt x="0" y="1861566"/>
                    <a:pt x="0" y="1676400"/>
                  </a:cubicBezTo>
                  <a:close/>
                </a:path>
              </a:pathLst>
            </a:custGeom>
            <a:solidFill>
              <a:srgbClr val="0A1E12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077960" cy="2037080"/>
            </a:xfrm>
            <a:custGeom>
              <a:avLst/>
              <a:gdLst/>
              <a:ahLst/>
              <a:cxnLst/>
              <a:rect r="r" b="b" t="t" l="l"/>
              <a:pathLst>
                <a:path h="2037080" w="9077960">
                  <a:moveTo>
                    <a:pt x="0" y="347980"/>
                  </a:moveTo>
                  <a:cubicBezTo>
                    <a:pt x="0" y="155702"/>
                    <a:pt x="157353" y="0"/>
                    <a:pt x="351282" y="0"/>
                  </a:cubicBezTo>
                  <a:lnTo>
                    <a:pt x="8726678" y="0"/>
                  </a:lnTo>
                  <a:lnTo>
                    <a:pt x="8726678" y="12700"/>
                  </a:lnTo>
                  <a:lnTo>
                    <a:pt x="8726678" y="0"/>
                  </a:lnTo>
                  <a:cubicBezTo>
                    <a:pt x="8920607" y="0"/>
                    <a:pt x="9077960" y="155702"/>
                    <a:pt x="9077960" y="347980"/>
                  </a:cubicBezTo>
                  <a:lnTo>
                    <a:pt x="9065260" y="347980"/>
                  </a:lnTo>
                  <a:lnTo>
                    <a:pt x="9077960" y="347980"/>
                  </a:lnTo>
                  <a:lnTo>
                    <a:pt x="9077960" y="1689100"/>
                  </a:lnTo>
                  <a:lnTo>
                    <a:pt x="9065260" y="1689100"/>
                  </a:lnTo>
                  <a:lnTo>
                    <a:pt x="9077960" y="1689100"/>
                  </a:lnTo>
                  <a:cubicBezTo>
                    <a:pt x="9077960" y="1881378"/>
                    <a:pt x="8920607" y="2037080"/>
                    <a:pt x="8726678" y="2037080"/>
                  </a:cubicBezTo>
                  <a:lnTo>
                    <a:pt x="8726678" y="2024380"/>
                  </a:lnTo>
                  <a:lnTo>
                    <a:pt x="8726678" y="2037080"/>
                  </a:lnTo>
                  <a:lnTo>
                    <a:pt x="351282" y="2037080"/>
                  </a:lnTo>
                  <a:lnTo>
                    <a:pt x="351282" y="2024380"/>
                  </a:lnTo>
                  <a:lnTo>
                    <a:pt x="351282" y="2037080"/>
                  </a:lnTo>
                  <a:cubicBezTo>
                    <a:pt x="157353" y="2037080"/>
                    <a:pt x="0" y="1881378"/>
                    <a:pt x="0" y="1689100"/>
                  </a:cubicBezTo>
                  <a:lnTo>
                    <a:pt x="0" y="347980"/>
                  </a:lnTo>
                  <a:lnTo>
                    <a:pt x="12700" y="347980"/>
                  </a:lnTo>
                  <a:lnTo>
                    <a:pt x="0" y="347980"/>
                  </a:lnTo>
                  <a:moveTo>
                    <a:pt x="25400" y="347980"/>
                  </a:moveTo>
                  <a:lnTo>
                    <a:pt x="25400" y="1689100"/>
                  </a:lnTo>
                  <a:lnTo>
                    <a:pt x="12700" y="1689100"/>
                  </a:lnTo>
                  <a:lnTo>
                    <a:pt x="25400" y="1689100"/>
                  </a:lnTo>
                  <a:cubicBezTo>
                    <a:pt x="25400" y="1867154"/>
                    <a:pt x="171196" y="2011680"/>
                    <a:pt x="351282" y="2011680"/>
                  </a:cubicBezTo>
                  <a:lnTo>
                    <a:pt x="8726678" y="2011680"/>
                  </a:lnTo>
                  <a:cubicBezTo>
                    <a:pt x="8906764" y="2011680"/>
                    <a:pt x="9052560" y="1867154"/>
                    <a:pt x="9052560" y="1689100"/>
                  </a:cubicBezTo>
                  <a:lnTo>
                    <a:pt x="9052560" y="347980"/>
                  </a:lnTo>
                  <a:cubicBezTo>
                    <a:pt x="9052560" y="169926"/>
                    <a:pt x="8906764" y="25400"/>
                    <a:pt x="8726678" y="25400"/>
                  </a:cubicBezTo>
                  <a:lnTo>
                    <a:pt x="351282" y="25400"/>
                  </a:lnTo>
                  <a:lnTo>
                    <a:pt x="351282" y="12700"/>
                  </a:lnTo>
                  <a:lnTo>
                    <a:pt x="351282" y="25400"/>
                  </a:lnTo>
                  <a:cubicBezTo>
                    <a:pt x="171196" y="25400"/>
                    <a:pt x="25400" y="169926"/>
                    <a:pt x="25400" y="347980"/>
                  </a:cubicBezTo>
                  <a:close/>
                </a:path>
              </a:pathLst>
            </a:custGeom>
            <a:solidFill>
              <a:srgbClr val="74DE62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9944100" y="2990469"/>
            <a:ext cx="6240780" cy="3379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96"/>
              </a:lnSpc>
            </a:pPr>
            <a:r>
              <a:rPr lang="en-US" sz="1830" b="true">
                <a:solidFill>
                  <a:srgbClr val="74DE62"/>
                </a:solidFill>
                <a:latin typeface="Aptos Bold"/>
                <a:ea typeface="Aptos Bold"/>
                <a:cs typeface="Aptos Bold"/>
                <a:sym typeface="Aptos Bold"/>
              </a:rPr>
              <a:t>Why Foldseek?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944100" y="3506343"/>
            <a:ext cx="6240780" cy="6587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16"/>
              </a:lnSpc>
            </a:pPr>
            <a:r>
              <a:rPr lang="en-US" sz="1680">
                <a:solidFill>
                  <a:srgbClr val="F6FAF7"/>
                </a:solidFill>
                <a:latin typeface="Aptos"/>
                <a:ea typeface="Aptos"/>
                <a:cs typeface="Aptos"/>
                <a:sym typeface="Aptos"/>
              </a:rPr>
              <a:t>Fast · local · automatable · compatible with Snakemake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9660255" y="4722495"/>
            <a:ext cx="6808470" cy="1664970"/>
            <a:chOff x="0" y="0"/>
            <a:chExt cx="9077960" cy="221996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12700" y="12700"/>
              <a:ext cx="9052560" cy="2194560"/>
            </a:xfrm>
            <a:custGeom>
              <a:avLst/>
              <a:gdLst/>
              <a:ahLst/>
              <a:cxnLst/>
              <a:rect r="r" b="b" t="t" l="l"/>
              <a:pathLst>
                <a:path h="2194560" w="9052560">
                  <a:moveTo>
                    <a:pt x="0" y="365760"/>
                  </a:moveTo>
                  <a:cubicBezTo>
                    <a:pt x="0" y="163703"/>
                    <a:pt x="165227" y="0"/>
                    <a:pt x="368935" y="0"/>
                  </a:cubicBezTo>
                  <a:lnTo>
                    <a:pt x="8683625" y="0"/>
                  </a:lnTo>
                  <a:cubicBezTo>
                    <a:pt x="8887460" y="0"/>
                    <a:pt x="9052560" y="163703"/>
                    <a:pt x="9052560" y="365760"/>
                  </a:cubicBezTo>
                  <a:lnTo>
                    <a:pt x="9052560" y="1828800"/>
                  </a:lnTo>
                  <a:cubicBezTo>
                    <a:pt x="9052560" y="2030857"/>
                    <a:pt x="8887333" y="2194560"/>
                    <a:pt x="8683625" y="2194560"/>
                  </a:cubicBezTo>
                  <a:lnTo>
                    <a:pt x="368935" y="2194560"/>
                  </a:lnTo>
                  <a:cubicBezTo>
                    <a:pt x="165227" y="2194560"/>
                    <a:pt x="0" y="2030857"/>
                    <a:pt x="0" y="1828800"/>
                  </a:cubicBezTo>
                  <a:close/>
                </a:path>
              </a:pathLst>
            </a:custGeom>
            <a:solidFill>
              <a:srgbClr val="0A1E12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9077960" cy="2219960"/>
            </a:xfrm>
            <a:custGeom>
              <a:avLst/>
              <a:gdLst/>
              <a:ahLst/>
              <a:cxnLst/>
              <a:rect r="r" b="b" t="t" l="l"/>
              <a:pathLst>
                <a:path h="2219960" w="9077960">
                  <a:moveTo>
                    <a:pt x="0" y="378460"/>
                  </a:moveTo>
                  <a:cubicBezTo>
                    <a:pt x="0" y="169291"/>
                    <a:pt x="170942" y="0"/>
                    <a:pt x="381635" y="0"/>
                  </a:cubicBezTo>
                  <a:lnTo>
                    <a:pt x="8696325" y="0"/>
                  </a:lnTo>
                  <a:lnTo>
                    <a:pt x="8696325" y="12700"/>
                  </a:lnTo>
                  <a:lnTo>
                    <a:pt x="8696325" y="0"/>
                  </a:lnTo>
                  <a:cubicBezTo>
                    <a:pt x="8907018" y="0"/>
                    <a:pt x="9077960" y="169291"/>
                    <a:pt x="9077960" y="378460"/>
                  </a:cubicBezTo>
                  <a:lnTo>
                    <a:pt x="9065260" y="378460"/>
                  </a:lnTo>
                  <a:lnTo>
                    <a:pt x="9077960" y="378460"/>
                  </a:lnTo>
                  <a:lnTo>
                    <a:pt x="9077960" y="1841500"/>
                  </a:lnTo>
                  <a:lnTo>
                    <a:pt x="9065260" y="1841500"/>
                  </a:lnTo>
                  <a:lnTo>
                    <a:pt x="9077960" y="1841500"/>
                  </a:lnTo>
                  <a:cubicBezTo>
                    <a:pt x="9077960" y="2050669"/>
                    <a:pt x="8907018" y="2219960"/>
                    <a:pt x="8696325" y="2219960"/>
                  </a:cubicBezTo>
                  <a:lnTo>
                    <a:pt x="8696325" y="2207260"/>
                  </a:lnTo>
                  <a:lnTo>
                    <a:pt x="8696325" y="2219960"/>
                  </a:lnTo>
                  <a:lnTo>
                    <a:pt x="381635" y="2219960"/>
                  </a:lnTo>
                  <a:lnTo>
                    <a:pt x="381635" y="2207260"/>
                  </a:lnTo>
                  <a:lnTo>
                    <a:pt x="381635" y="2219960"/>
                  </a:lnTo>
                  <a:cubicBezTo>
                    <a:pt x="170942" y="2219960"/>
                    <a:pt x="0" y="2050669"/>
                    <a:pt x="0" y="1841500"/>
                  </a:cubicBezTo>
                  <a:lnTo>
                    <a:pt x="0" y="378460"/>
                  </a:lnTo>
                  <a:lnTo>
                    <a:pt x="12700" y="378460"/>
                  </a:lnTo>
                  <a:lnTo>
                    <a:pt x="0" y="378460"/>
                  </a:lnTo>
                  <a:moveTo>
                    <a:pt x="25400" y="378460"/>
                  </a:moveTo>
                  <a:lnTo>
                    <a:pt x="25400" y="1841500"/>
                  </a:lnTo>
                  <a:lnTo>
                    <a:pt x="12700" y="1841500"/>
                  </a:lnTo>
                  <a:lnTo>
                    <a:pt x="25400" y="1841500"/>
                  </a:lnTo>
                  <a:cubicBezTo>
                    <a:pt x="25400" y="2036445"/>
                    <a:pt x="184785" y="2194560"/>
                    <a:pt x="381635" y="2194560"/>
                  </a:cubicBezTo>
                  <a:lnTo>
                    <a:pt x="8696325" y="2194560"/>
                  </a:lnTo>
                  <a:cubicBezTo>
                    <a:pt x="8893175" y="2194560"/>
                    <a:pt x="9052560" y="2036445"/>
                    <a:pt x="9052560" y="1841500"/>
                  </a:cubicBezTo>
                  <a:lnTo>
                    <a:pt x="9052560" y="378460"/>
                  </a:lnTo>
                  <a:cubicBezTo>
                    <a:pt x="9052560" y="183515"/>
                    <a:pt x="8893175" y="25400"/>
                    <a:pt x="8696325" y="25400"/>
                  </a:cubicBezTo>
                  <a:lnTo>
                    <a:pt x="381635" y="25400"/>
                  </a:lnTo>
                  <a:lnTo>
                    <a:pt x="381635" y="12700"/>
                  </a:lnTo>
                  <a:lnTo>
                    <a:pt x="381635" y="25400"/>
                  </a:lnTo>
                  <a:cubicBezTo>
                    <a:pt x="184785" y="25400"/>
                    <a:pt x="25400" y="183515"/>
                    <a:pt x="25400" y="378460"/>
                  </a:cubicBezTo>
                  <a:close/>
                </a:path>
              </a:pathLst>
            </a:custGeom>
            <a:solidFill>
              <a:srgbClr val="74DE62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9944100" y="4979289"/>
            <a:ext cx="6240780" cy="3379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96"/>
              </a:lnSpc>
            </a:pPr>
            <a:r>
              <a:rPr lang="en-US" sz="1830" b="true">
                <a:solidFill>
                  <a:srgbClr val="74DE62"/>
                </a:solidFill>
                <a:latin typeface="Aptos Bold"/>
                <a:ea typeface="Aptos Bold"/>
                <a:cs typeface="Aptos Bold"/>
                <a:sym typeface="Aptos Bold"/>
              </a:rPr>
              <a:t>Role of DALI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944100" y="5495163"/>
            <a:ext cx="6240780" cy="7959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16"/>
              </a:lnSpc>
            </a:pPr>
            <a:r>
              <a:rPr lang="en-US" sz="1680">
                <a:solidFill>
                  <a:srgbClr val="F6FAF7"/>
                </a:solidFill>
                <a:latin typeface="Aptos"/>
                <a:ea typeface="Aptos"/>
                <a:cs typeface="Aptos"/>
                <a:sym typeface="Aptos"/>
              </a:rPr>
              <a:t>Complementary validation for selected top structural hits.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0005536" y="7057977"/>
            <a:ext cx="1728788" cy="466916"/>
            <a:chOff x="0" y="0"/>
            <a:chExt cx="2305050" cy="62255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9525" y="9525"/>
              <a:ext cx="2286000" cy="603504"/>
            </a:xfrm>
            <a:custGeom>
              <a:avLst/>
              <a:gdLst/>
              <a:ahLst/>
              <a:cxnLst/>
              <a:rect r="r" b="b" t="t" l="l"/>
              <a:pathLst>
                <a:path h="603504" w="2286000">
                  <a:moveTo>
                    <a:pt x="0" y="100584"/>
                  </a:moveTo>
                  <a:cubicBezTo>
                    <a:pt x="0" y="45085"/>
                    <a:pt x="46101" y="0"/>
                    <a:pt x="102870" y="0"/>
                  </a:cubicBezTo>
                  <a:lnTo>
                    <a:pt x="2183130" y="0"/>
                  </a:lnTo>
                  <a:cubicBezTo>
                    <a:pt x="2239899" y="0"/>
                    <a:pt x="2286000" y="45085"/>
                    <a:pt x="2286000" y="100584"/>
                  </a:cubicBezTo>
                  <a:lnTo>
                    <a:pt x="2286000" y="502920"/>
                  </a:lnTo>
                  <a:cubicBezTo>
                    <a:pt x="2286000" y="558419"/>
                    <a:pt x="2239899" y="603504"/>
                    <a:pt x="2183130" y="603504"/>
                  </a:cubicBezTo>
                  <a:lnTo>
                    <a:pt x="102870" y="603504"/>
                  </a:lnTo>
                  <a:cubicBezTo>
                    <a:pt x="46101" y="603504"/>
                    <a:pt x="0" y="558419"/>
                    <a:pt x="0" y="502920"/>
                  </a:cubicBezTo>
                  <a:close/>
                </a:path>
              </a:pathLst>
            </a:custGeom>
            <a:solidFill>
              <a:srgbClr val="0C2D1C"/>
            </a:solid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305050" cy="622554"/>
            </a:xfrm>
            <a:custGeom>
              <a:avLst/>
              <a:gdLst/>
              <a:ahLst/>
              <a:cxnLst/>
              <a:rect r="r" b="b" t="t" l="l"/>
              <a:pathLst>
                <a:path h="622554" w="2305050">
                  <a:moveTo>
                    <a:pt x="0" y="110109"/>
                  </a:moveTo>
                  <a:cubicBezTo>
                    <a:pt x="0" y="49149"/>
                    <a:pt x="50546" y="0"/>
                    <a:pt x="112395" y="0"/>
                  </a:cubicBezTo>
                  <a:lnTo>
                    <a:pt x="2192655" y="0"/>
                  </a:lnTo>
                  <a:lnTo>
                    <a:pt x="2192655" y="9525"/>
                  </a:lnTo>
                  <a:lnTo>
                    <a:pt x="2192655" y="0"/>
                  </a:lnTo>
                  <a:cubicBezTo>
                    <a:pt x="2254504" y="0"/>
                    <a:pt x="2305050" y="49149"/>
                    <a:pt x="2305050" y="110109"/>
                  </a:cubicBezTo>
                  <a:lnTo>
                    <a:pt x="2295525" y="110109"/>
                  </a:lnTo>
                  <a:lnTo>
                    <a:pt x="2305050" y="110109"/>
                  </a:lnTo>
                  <a:lnTo>
                    <a:pt x="2305050" y="512445"/>
                  </a:lnTo>
                  <a:lnTo>
                    <a:pt x="2295525" y="512445"/>
                  </a:lnTo>
                  <a:lnTo>
                    <a:pt x="2305050" y="512445"/>
                  </a:lnTo>
                  <a:cubicBezTo>
                    <a:pt x="2305050" y="573405"/>
                    <a:pt x="2254504" y="622554"/>
                    <a:pt x="2192655" y="622554"/>
                  </a:cubicBezTo>
                  <a:lnTo>
                    <a:pt x="2192655" y="613029"/>
                  </a:lnTo>
                  <a:lnTo>
                    <a:pt x="2192655" y="622554"/>
                  </a:lnTo>
                  <a:lnTo>
                    <a:pt x="112395" y="622554"/>
                  </a:lnTo>
                  <a:lnTo>
                    <a:pt x="112395" y="613029"/>
                  </a:lnTo>
                  <a:lnTo>
                    <a:pt x="112395" y="622554"/>
                  </a:lnTo>
                  <a:cubicBezTo>
                    <a:pt x="50546" y="622554"/>
                    <a:pt x="0" y="573405"/>
                    <a:pt x="0" y="512445"/>
                  </a:cubicBezTo>
                  <a:lnTo>
                    <a:pt x="0" y="110109"/>
                  </a:lnTo>
                  <a:lnTo>
                    <a:pt x="9525" y="110109"/>
                  </a:lnTo>
                  <a:lnTo>
                    <a:pt x="0" y="110109"/>
                  </a:lnTo>
                  <a:moveTo>
                    <a:pt x="19050" y="110109"/>
                  </a:moveTo>
                  <a:lnTo>
                    <a:pt x="19050" y="512445"/>
                  </a:lnTo>
                  <a:lnTo>
                    <a:pt x="9525" y="512445"/>
                  </a:lnTo>
                  <a:lnTo>
                    <a:pt x="19050" y="512445"/>
                  </a:lnTo>
                  <a:cubicBezTo>
                    <a:pt x="19050" y="562483"/>
                    <a:pt x="60706" y="603504"/>
                    <a:pt x="112395" y="603504"/>
                  </a:cubicBezTo>
                  <a:lnTo>
                    <a:pt x="2192655" y="603504"/>
                  </a:lnTo>
                  <a:cubicBezTo>
                    <a:pt x="2244471" y="603504"/>
                    <a:pt x="2286000" y="562483"/>
                    <a:pt x="2286000" y="512445"/>
                  </a:cubicBezTo>
                  <a:lnTo>
                    <a:pt x="2286000" y="110109"/>
                  </a:lnTo>
                  <a:cubicBezTo>
                    <a:pt x="2286000" y="60071"/>
                    <a:pt x="2244344" y="19050"/>
                    <a:pt x="2192655" y="19050"/>
                  </a:cubicBezTo>
                  <a:lnTo>
                    <a:pt x="112395" y="19050"/>
                  </a:lnTo>
                  <a:lnTo>
                    <a:pt x="112395" y="9525"/>
                  </a:lnTo>
                  <a:lnTo>
                    <a:pt x="112395" y="19050"/>
                  </a:lnTo>
                  <a:cubicBezTo>
                    <a:pt x="60706" y="19050"/>
                    <a:pt x="19050" y="60071"/>
                    <a:pt x="19050" y="110109"/>
                  </a:cubicBezTo>
                  <a:close/>
                </a:path>
              </a:pathLst>
            </a:custGeom>
            <a:solidFill>
              <a:srgbClr val="74DE62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0"/>
              <a:ext cx="2305050" cy="6225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74DE62"/>
                  </a:solidFill>
                  <a:latin typeface="Aptos Bold"/>
                  <a:ea typeface="Aptos Bold"/>
                  <a:cs typeface="Aptos Bold"/>
                  <a:sym typeface="Aptos Bold"/>
                </a:rPr>
                <a:t>FASTA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2131516" y="7057977"/>
            <a:ext cx="1728788" cy="466916"/>
            <a:chOff x="0" y="0"/>
            <a:chExt cx="2305050" cy="622554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9525" y="9525"/>
              <a:ext cx="2286000" cy="603504"/>
            </a:xfrm>
            <a:custGeom>
              <a:avLst/>
              <a:gdLst/>
              <a:ahLst/>
              <a:cxnLst/>
              <a:rect r="r" b="b" t="t" l="l"/>
              <a:pathLst>
                <a:path h="603504" w="2286000">
                  <a:moveTo>
                    <a:pt x="0" y="100584"/>
                  </a:moveTo>
                  <a:cubicBezTo>
                    <a:pt x="0" y="45085"/>
                    <a:pt x="46101" y="0"/>
                    <a:pt x="102870" y="0"/>
                  </a:cubicBezTo>
                  <a:lnTo>
                    <a:pt x="2183130" y="0"/>
                  </a:lnTo>
                  <a:cubicBezTo>
                    <a:pt x="2239899" y="0"/>
                    <a:pt x="2286000" y="45085"/>
                    <a:pt x="2286000" y="100584"/>
                  </a:cubicBezTo>
                  <a:lnTo>
                    <a:pt x="2286000" y="502920"/>
                  </a:lnTo>
                  <a:cubicBezTo>
                    <a:pt x="2286000" y="558419"/>
                    <a:pt x="2239899" y="603504"/>
                    <a:pt x="2183130" y="603504"/>
                  </a:cubicBezTo>
                  <a:lnTo>
                    <a:pt x="102870" y="603504"/>
                  </a:lnTo>
                  <a:cubicBezTo>
                    <a:pt x="46101" y="603504"/>
                    <a:pt x="0" y="558419"/>
                    <a:pt x="0" y="502920"/>
                  </a:cubicBezTo>
                  <a:close/>
                </a:path>
              </a:pathLst>
            </a:custGeom>
            <a:solidFill>
              <a:srgbClr val="0C2D1C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305050" cy="622554"/>
            </a:xfrm>
            <a:custGeom>
              <a:avLst/>
              <a:gdLst/>
              <a:ahLst/>
              <a:cxnLst/>
              <a:rect r="r" b="b" t="t" l="l"/>
              <a:pathLst>
                <a:path h="622554" w="2305050">
                  <a:moveTo>
                    <a:pt x="0" y="110109"/>
                  </a:moveTo>
                  <a:cubicBezTo>
                    <a:pt x="0" y="49149"/>
                    <a:pt x="50546" y="0"/>
                    <a:pt x="112395" y="0"/>
                  </a:cubicBezTo>
                  <a:lnTo>
                    <a:pt x="2192655" y="0"/>
                  </a:lnTo>
                  <a:lnTo>
                    <a:pt x="2192655" y="9525"/>
                  </a:lnTo>
                  <a:lnTo>
                    <a:pt x="2192655" y="0"/>
                  </a:lnTo>
                  <a:cubicBezTo>
                    <a:pt x="2254504" y="0"/>
                    <a:pt x="2305050" y="49149"/>
                    <a:pt x="2305050" y="110109"/>
                  </a:cubicBezTo>
                  <a:lnTo>
                    <a:pt x="2295525" y="110109"/>
                  </a:lnTo>
                  <a:lnTo>
                    <a:pt x="2305050" y="110109"/>
                  </a:lnTo>
                  <a:lnTo>
                    <a:pt x="2305050" y="512445"/>
                  </a:lnTo>
                  <a:lnTo>
                    <a:pt x="2295525" y="512445"/>
                  </a:lnTo>
                  <a:lnTo>
                    <a:pt x="2305050" y="512445"/>
                  </a:lnTo>
                  <a:cubicBezTo>
                    <a:pt x="2305050" y="573405"/>
                    <a:pt x="2254504" y="622554"/>
                    <a:pt x="2192655" y="622554"/>
                  </a:cubicBezTo>
                  <a:lnTo>
                    <a:pt x="2192655" y="613029"/>
                  </a:lnTo>
                  <a:lnTo>
                    <a:pt x="2192655" y="622554"/>
                  </a:lnTo>
                  <a:lnTo>
                    <a:pt x="112395" y="622554"/>
                  </a:lnTo>
                  <a:lnTo>
                    <a:pt x="112395" y="613029"/>
                  </a:lnTo>
                  <a:lnTo>
                    <a:pt x="112395" y="622554"/>
                  </a:lnTo>
                  <a:cubicBezTo>
                    <a:pt x="50546" y="622554"/>
                    <a:pt x="0" y="573405"/>
                    <a:pt x="0" y="512445"/>
                  </a:cubicBezTo>
                  <a:lnTo>
                    <a:pt x="0" y="110109"/>
                  </a:lnTo>
                  <a:lnTo>
                    <a:pt x="9525" y="110109"/>
                  </a:lnTo>
                  <a:lnTo>
                    <a:pt x="0" y="110109"/>
                  </a:lnTo>
                  <a:moveTo>
                    <a:pt x="19050" y="110109"/>
                  </a:moveTo>
                  <a:lnTo>
                    <a:pt x="19050" y="512445"/>
                  </a:lnTo>
                  <a:lnTo>
                    <a:pt x="9525" y="512445"/>
                  </a:lnTo>
                  <a:lnTo>
                    <a:pt x="19050" y="512445"/>
                  </a:lnTo>
                  <a:cubicBezTo>
                    <a:pt x="19050" y="562483"/>
                    <a:pt x="60706" y="603504"/>
                    <a:pt x="112395" y="603504"/>
                  </a:cubicBezTo>
                  <a:lnTo>
                    <a:pt x="2192655" y="603504"/>
                  </a:lnTo>
                  <a:cubicBezTo>
                    <a:pt x="2244471" y="603504"/>
                    <a:pt x="2286000" y="562483"/>
                    <a:pt x="2286000" y="512445"/>
                  </a:cubicBezTo>
                  <a:lnTo>
                    <a:pt x="2286000" y="110109"/>
                  </a:lnTo>
                  <a:cubicBezTo>
                    <a:pt x="2286000" y="60071"/>
                    <a:pt x="2244344" y="19050"/>
                    <a:pt x="2192655" y="19050"/>
                  </a:cubicBezTo>
                  <a:lnTo>
                    <a:pt x="112395" y="19050"/>
                  </a:lnTo>
                  <a:lnTo>
                    <a:pt x="112395" y="9525"/>
                  </a:lnTo>
                  <a:lnTo>
                    <a:pt x="112395" y="19050"/>
                  </a:lnTo>
                  <a:cubicBezTo>
                    <a:pt x="60706" y="19050"/>
                    <a:pt x="19050" y="60071"/>
                    <a:pt x="19050" y="110109"/>
                  </a:cubicBezTo>
                  <a:close/>
                </a:path>
              </a:pathLst>
            </a:custGeom>
            <a:solidFill>
              <a:srgbClr val="74DE62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0"/>
              <a:ext cx="2305050" cy="6225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74DE62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PDB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4257496" y="7057977"/>
            <a:ext cx="1728788" cy="466916"/>
            <a:chOff x="0" y="0"/>
            <a:chExt cx="2305050" cy="622554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9525" y="9525"/>
              <a:ext cx="2286000" cy="603504"/>
            </a:xfrm>
            <a:custGeom>
              <a:avLst/>
              <a:gdLst/>
              <a:ahLst/>
              <a:cxnLst/>
              <a:rect r="r" b="b" t="t" l="l"/>
              <a:pathLst>
                <a:path h="603504" w="2286000">
                  <a:moveTo>
                    <a:pt x="0" y="100584"/>
                  </a:moveTo>
                  <a:cubicBezTo>
                    <a:pt x="0" y="45085"/>
                    <a:pt x="46101" y="0"/>
                    <a:pt x="102870" y="0"/>
                  </a:cubicBezTo>
                  <a:lnTo>
                    <a:pt x="2183130" y="0"/>
                  </a:lnTo>
                  <a:cubicBezTo>
                    <a:pt x="2239899" y="0"/>
                    <a:pt x="2286000" y="45085"/>
                    <a:pt x="2286000" y="100584"/>
                  </a:cubicBezTo>
                  <a:lnTo>
                    <a:pt x="2286000" y="502920"/>
                  </a:lnTo>
                  <a:cubicBezTo>
                    <a:pt x="2286000" y="558419"/>
                    <a:pt x="2239899" y="603504"/>
                    <a:pt x="2183130" y="603504"/>
                  </a:cubicBezTo>
                  <a:lnTo>
                    <a:pt x="102870" y="603504"/>
                  </a:lnTo>
                  <a:cubicBezTo>
                    <a:pt x="46101" y="603504"/>
                    <a:pt x="0" y="558419"/>
                    <a:pt x="0" y="502920"/>
                  </a:cubicBezTo>
                  <a:close/>
                </a:path>
              </a:pathLst>
            </a:custGeom>
            <a:solidFill>
              <a:srgbClr val="0C2D1C"/>
            </a:solidFill>
          </p:spPr>
        </p:sp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305050" cy="622554"/>
            </a:xfrm>
            <a:custGeom>
              <a:avLst/>
              <a:gdLst/>
              <a:ahLst/>
              <a:cxnLst/>
              <a:rect r="r" b="b" t="t" l="l"/>
              <a:pathLst>
                <a:path h="622554" w="2305050">
                  <a:moveTo>
                    <a:pt x="0" y="110109"/>
                  </a:moveTo>
                  <a:cubicBezTo>
                    <a:pt x="0" y="49149"/>
                    <a:pt x="50546" y="0"/>
                    <a:pt x="112395" y="0"/>
                  </a:cubicBezTo>
                  <a:lnTo>
                    <a:pt x="2192655" y="0"/>
                  </a:lnTo>
                  <a:lnTo>
                    <a:pt x="2192655" y="9525"/>
                  </a:lnTo>
                  <a:lnTo>
                    <a:pt x="2192655" y="0"/>
                  </a:lnTo>
                  <a:cubicBezTo>
                    <a:pt x="2254504" y="0"/>
                    <a:pt x="2305050" y="49149"/>
                    <a:pt x="2305050" y="110109"/>
                  </a:cubicBezTo>
                  <a:lnTo>
                    <a:pt x="2295525" y="110109"/>
                  </a:lnTo>
                  <a:lnTo>
                    <a:pt x="2305050" y="110109"/>
                  </a:lnTo>
                  <a:lnTo>
                    <a:pt x="2305050" y="512445"/>
                  </a:lnTo>
                  <a:lnTo>
                    <a:pt x="2295525" y="512445"/>
                  </a:lnTo>
                  <a:lnTo>
                    <a:pt x="2305050" y="512445"/>
                  </a:lnTo>
                  <a:cubicBezTo>
                    <a:pt x="2305050" y="573405"/>
                    <a:pt x="2254504" y="622554"/>
                    <a:pt x="2192655" y="622554"/>
                  </a:cubicBezTo>
                  <a:lnTo>
                    <a:pt x="2192655" y="613029"/>
                  </a:lnTo>
                  <a:lnTo>
                    <a:pt x="2192655" y="622554"/>
                  </a:lnTo>
                  <a:lnTo>
                    <a:pt x="112395" y="622554"/>
                  </a:lnTo>
                  <a:lnTo>
                    <a:pt x="112395" y="613029"/>
                  </a:lnTo>
                  <a:lnTo>
                    <a:pt x="112395" y="622554"/>
                  </a:lnTo>
                  <a:cubicBezTo>
                    <a:pt x="50546" y="622554"/>
                    <a:pt x="0" y="573405"/>
                    <a:pt x="0" y="512445"/>
                  </a:cubicBezTo>
                  <a:lnTo>
                    <a:pt x="0" y="110109"/>
                  </a:lnTo>
                  <a:lnTo>
                    <a:pt x="9525" y="110109"/>
                  </a:lnTo>
                  <a:lnTo>
                    <a:pt x="0" y="110109"/>
                  </a:lnTo>
                  <a:moveTo>
                    <a:pt x="19050" y="110109"/>
                  </a:moveTo>
                  <a:lnTo>
                    <a:pt x="19050" y="512445"/>
                  </a:lnTo>
                  <a:lnTo>
                    <a:pt x="9525" y="512445"/>
                  </a:lnTo>
                  <a:lnTo>
                    <a:pt x="19050" y="512445"/>
                  </a:lnTo>
                  <a:cubicBezTo>
                    <a:pt x="19050" y="562483"/>
                    <a:pt x="60706" y="603504"/>
                    <a:pt x="112395" y="603504"/>
                  </a:cubicBezTo>
                  <a:lnTo>
                    <a:pt x="2192655" y="603504"/>
                  </a:lnTo>
                  <a:cubicBezTo>
                    <a:pt x="2244471" y="603504"/>
                    <a:pt x="2286000" y="562483"/>
                    <a:pt x="2286000" y="512445"/>
                  </a:cubicBezTo>
                  <a:lnTo>
                    <a:pt x="2286000" y="110109"/>
                  </a:lnTo>
                  <a:cubicBezTo>
                    <a:pt x="2286000" y="60071"/>
                    <a:pt x="2244344" y="19050"/>
                    <a:pt x="2192655" y="19050"/>
                  </a:cubicBezTo>
                  <a:lnTo>
                    <a:pt x="112395" y="19050"/>
                  </a:lnTo>
                  <a:lnTo>
                    <a:pt x="112395" y="9525"/>
                  </a:lnTo>
                  <a:lnTo>
                    <a:pt x="112395" y="19050"/>
                  </a:lnTo>
                  <a:cubicBezTo>
                    <a:pt x="60706" y="19050"/>
                    <a:pt x="19050" y="60071"/>
                    <a:pt x="19050" y="110109"/>
                  </a:cubicBezTo>
                  <a:close/>
                </a:path>
              </a:pathLst>
            </a:custGeom>
            <a:solidFill>
              <a:srgbClr val="74DE62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0" y="0"/>
              <a:ext cx="2305050" cy="6225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74DE62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Structural hit</a:t>
              </a:r>
            </a:p>
          </p:txBody>
        </p:sp>
      </p:grpSp>
      <p:sp>
        <p:nvSpPr>
          <p:cNvPr name="AutoShape 37" id="37"/>
          <p:cNvSpPr/>
          <p:nvPr/>
        </p:nvSpPr>
        <p:spPr>
          <a:xfrm>
            <a:off x="11734324" y="7291435"/>
            <a:ext cx="397192" cy="0"/>
          </a:xfrm>
          <a:prstGeom prst="line">
            <a:avLst/>
          </a:prstGeom>
          <a:ln cap="rnd" w="9525">
            <a:solidFill>
              <a:srgbClr val="74DE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8" id="38"/>
          <p:cNvSpPr/>
          <p:nvPr/>
        </p:nvSpPr>
        <p:spPr>
          <a:xfrm>
            <a:off x="13860304" y="7291435"/>
            <a:ext cx="397192" cy="0"/>
          </a:xfrm>
          <a:prstGeom prst="line">
            <a:avLst/>
          </a:prstGeom>
          <a:ln cap="rnd" w="9525">
            <a:solidFill>
              <a:srgbClr val="74DE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9" id="39"/>
          <p:cNvSpPr txBox="true"/>
          <p:nvPr/>
        </p:nvSpPr>
        <p:spPr>
          <a:xfrm rot="0">
            <a:off x="877824" y="9500235"/>
            <a:ext cx="1933956" cy="2198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4"/>
              </a:lnSpc>
            </a:pPr>
            <a:r>
              <a:rPr lang="en-US" sz="1170" b="true">
                <a:solidFill>
                  <a:srgbClr val="74DE62"/>
                </a:solidFill>
                <a:latin typeface="Aptos Bold"/>
                <a:ea typeface="Aptos Bold"/>
                <a:cs typeface="Aptos Bold"/>
                <a:sym typeface="Aptos Bold"/>
              </a:rPr>
              <a:t>KEY MESSAGE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2523744" y="9427464"/>
            <a:ext cx="14621256" cy="3749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F6FAF7"/>
                </a:solidFill>
                <a:latin typeface="Aptos"/>
                <a:ea typeface="Aptos"/>
                <a:cs typeface="Aptos"/>
                <a:sym typeface="Aptos"/>
              </a:rPr>
              <a:t>Foldseek was selected for scalable screening; DALI remains useful for validation.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6692372" y="9454896"/>
            <a:ext cx="905256" cy="210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439"/>
              </a:lnSpc>
            </a:pPr>
            <a:r>
              <a:rPr lang="en-US" sz="1200">
                <a:solidFill>
                  <a:srgbClr val="BECDC3"/>
                </a:solidFill>
                <a:latin typeface="Aptos"/>
                <a:ea typeface="Aptos"/>
                <a:cs typeface="Aptos"/>
                <a:sym typeface="Aptos"/>
              </a:rPr>
              <a:t>08/12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0513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903416" y="-555784"/>
            <a:ext cx="3168967" cy="3168967"/>
            <a:chOff x="0" y="0"/>
            <a:chExt cx="4225290" cy="422529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9525" y="9525"/>
              <a:ext cx="4206240" cy="4206240"/>
            </a:xfrm>
            <a:custGeom>
              <a:avLst/>
              <a:gdLst/>
              <a:ahLst/>
              <a:cxnLst/>
              <a:rect r="r" b="b" t="t" l="l"/>
              <a:pathLst>
                <a:path h="4206240" w="4206240">
                  <a:moveTo>
                    <a:pt x="0" y="2103120"/>
                  </a:moveTo>
                  <a:cubicBezTo>
                    <a:pt x="0" y="941578"/>
                    <a:pt x="941578" y="0"/>
                    <a:pt x="2103120" y="0"/>
                  </a:cubicBezTo>
                  <a:cubicBezTo>
                    <a:pt x="3264662" y="0"/>
                    <a:pt x="4206240" y="941578"/>
                    <a:pt x="4206240" y="2103120"/>
                  </a:cubicBezTo>
                  <a:cubicBezTo>
                    <a:pt x="4206240" y="3264662"/>
                    <a:pt x="3264662" y="4206240"/>
                    <a:pt x="2103120" y="4206240"/>
                  </a:cubicBezTo>
                  <a:cubicBezTo>
                    <a:pt x="941578" y="4206240"/>
                    <a:pt x="0" y="3264662"/>
                    <a:pt x="0" y="2103120"/>
                  </a:cubicBezTo>
                  <a:close/>
                </a:path>
              </a:pathLst>
            </a:custGeom>
            <a:solidFill>
              <a:srgbClr val="283732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25290" cy="4225290"/>
            </a:xfrm>
            <a:custGeom>
              <a:avLst/>
              <a:gdLst/>
              <a:ahLst/>
              <a:cxnLst/>
              <a:rect r="r" b="b" t="t" l="l"/>
              <a:pathLst>
                <a:path h="4225290" w="4225290">
                  <a:moveTo>
                    <a:pt x="0" y="2112645"/>
                  </a:moveTo>
                  <a:cubicBezTo>
                    <a:pt x="0" y="945896"/>
                    <a:pt x="945896" y="0"/>
                    <a:pt x="2112645" y="0"/>
                  </a:cubicBezTo>
                  <a:lnTo>
                    <a:pt x="2112645" y="9525"/>
                  </a:lnTo>
                  <a:lnTo>
                    <a:pt x="2112645" y="0"/>
                  </a:lnTo>
                  <a:cubicBezTo>
                    <a:pt x="3279394" y="0"/>
                    <a:pt x="4225290" y="945896"/>
                    <a:pt x="4225290" y="2112645"/>
                  </a:cubicBezTo>
                  <a:lnTo>
                    <a:pt x="4215765" y="2112645"/>
                  </a:lnTo>
                  <a:lnTo>
                    <a:pt x="4225290" y="2112645"/>
                  </a:lnTo>
                  <a:cubicBezTo>
                    <a:pt x="4225290" y="3279394"/>
                    <a:pt x="3279394" y="4225290"/>
                    <a:pt x="2112645" y="4225290"/>
                  </a:cubicBezTo>
                  <a:lnTo>
                    <a:pt x="2112645" y="4215765"/>
                  </a:lnTo>
                  <a:lnTo>
                    <a:pt x="2112645" y="4225290"/>
                  </a:lnTo>
                  <a:cubicBezTo>
                    <a:pt x="945896" y="4225290"/>
                    <a:pt x="0" y="3279394"/>
                    <a:pt x="0" y="2112645"/>
                  </a:cubicBezTo>
                  <a:lnTo>
                    <a:pt x="9525" y="2112645"/>
                  </a:lnTo>
                  <a:lnTo>
                    <a:pt x="19050" y="2112645"/>
                  </a:lnTo>
                  <a:lnTo>
                    <a:pt x="9525" y="2112645"/>
                  </a:lnTo>
                  <a:lnTo>
                    <a:pt x="0" y="2112645"/>
                  </a:lnTo>
                  <a:moveTo>
                    <a:pt x="19050" y="2112645"/>
                  </a:moveTo>
                  <a:cubicBezTo>
                    <a:pt x="19050" y="2117852"/>
                    <a:pt x="14732" y="2122170"/>
                    <a:pt x="9525" y="2122170"/>
                  </a:cubicBezTo>
                  <a:cubicBezTo>
                    <a:pt x="4318" y="2122170"/>
                    <a:pt x="0" y="2117852"/>
                    <a:pt x="0" y="2112645"/>
                  </a:cubicBezTo>
                  <a:cubicBezTo>
                    <a:pt x="0" y="2107438"/>
                    <a:pt x="4318" y="2103120"/>
                    <a:pt x="9525" y="2103120"/>
                  </a:cubicBezTo>
                  <a:cubicBezTo>
                    <a:pt x="14732" y="2103120"/>
                    <a:pt x="19050" y="2107438"/>
                    <a:pt x="19050" y="2112645"/>
                  </a:cubicBezTo>
                  <a:cubicBezTo>
                    <a:pt x="19050" y="3268853"/>
                    <a:pt x="956437" y="4206240"/>
                    <a:pt x="2112645" y="4206240"/>
                  </a:cubicBezTo>
                  <a:cubicBezTo>
                    <a:pt x="3268853" y="4206240"/>
                    <a:pt x="4206240" y="3268853"/>
                    <a:pt x="4206240" y="2112645"/>
                  </a:cubicBezTo>
                  <a:cubicBezTo>
                    <a:pt x="4206240" y="956437"/>
                    <a:pt x="3268853" y="19050"/>
                    <a:pt x="2112645" y="19050"/>
                  </a:cubicBezTo>
                  <a:lnTo>
                    <a:pt x="2112645" y="9525"/>
                  </a:lnTo>
                  <a:lnTo>
                    <a:pt x="2112645" y="19050"/>
                  </a:lnTo>
                  <a:cubicBezTo>
                    <a:pt x="956437" y="19050"/>
                    <a:pt x="19050" y="956437"/>
                    <a:pt x="19050" y="2112645"/>
                  </a:cubicBezTo>
                  <a:close/>
                </a:path>
              </a:pathLst>
            </a:custGeom>
            <a:solidFill>
              <a:srgbClr val="283732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-1104424" y="8359616"/>
            <a:ext cx="2757488" cy="2757488"/>
            <a:chOff x="0" y="0"/>
            <a:chExt cx="3676650" cy="367665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9525" y="9525"/>
              <a:ext cx="3657600" cy="3657600"/>
            </a:xfrm>
            <a:custGeom>
              <a:avLst/>
              <a:gdLst/>
              <a:ahLst/>
              <a:cxnLst/>
              <a:rect r="r" b="b" t="t" l="l"/>
              <a:pathLst>
                <a:path h="3657600" w="3657600">
                  <a:moveTo>
                    <a:pt x="0" y="1828800"/>
                  </a:moveTo>
                  <a:cubicBezTo>
                    <a:pt x="0" y="818769"/>
                    <a:pt x="818769" y="0"/>
                    <a:pt x="1828800" y="0"/>
                  </a:cubicBezTo>
                  <a:cubicBezTo>
                    <a:pt x="2838831" y="0"/>
                    <a:pt x="3657600" y="818769"/>
                    <a:pt x="3657600" y="1828800"/>
                  </a:cubicBezTo>
                  <a:cubicBezTo>
                    <a:pt x="3657600" y="2838831"/>
                    <a:pt x="2838831" y="3657600"/>
                    <a:pt x="1828800" y="3657600"/>
                  </a:cubicBezTo>
                  <a:cubicBezTo>
                    <a:pt x="818769" y="3657600"/>
                    <a:pt x="0" y="2838831"/>
                    <a:pt x="0" y="1828800"/>
                  </a:cubicBezTo>
                  <a:close/>
                </a:path>
              </a:pathLst>
            </a:custGeom>
            <a:solidFill>
              <a:srgbClr val="21322D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676650" cy="3676650"/>
            </a:xfrm>
            <a:custGeom>
              <a:avLst/>
              <a:gdLst/>
              <a:ahLst/>
              <a:cxnLst/>
              <a:rect r="r" b="b" t="t" l="l"/>
              <a:pathLst>
                <a:path h="3676650" w="3676650">
                  <a:moveTo>
                    <a:pt x="0" y="1838325"/>
                  </a:moveTo>
                  <a:cubicBezTo>
                    <a:pt x="0" y="823087"/>
                    <a:pt x="823087" y="0"/>
                    <a:pt x="1838325" y="0"/>
                  </a:cubicBezTo>
                  <a:lnTo>
                    <a:pt x="1838325" y="9525"/>
                  </a:lnTo>
                  <a:lnTo>
                    <a:pt x="1838325" y="0"/>
                  </a:lnTo>
                  <a:cubicBezTo>
                    <a:pt x="2853563" y="0"/>
                    <a:pt x="3676650" y="823087"/>
                    <a:pt x="3676650" y="1838325"/>
                  </a:cubicBezTo>
                  <a:cubicBezTo>
                    <a:pt x="3676650" y="2853563"/>
                    <a:pt x="2853563" y="3676650"/>
                    <a:pt x="1838325" y="3676650"/>
                  </a:cubicBezTo>
                  <a:lnTo>
                    <a:pt x="1838325" y="3667125"/>
                  </a:lnTo>
                  <a:lnTo>
                    <a:pt x="1838325" y="3676650"/>
                  </a:lnTo>
                  <a:cubicBezTo>
                    <a:pt x="823087" y="3676650"/>
                    <a:pt x="0" y="2853563"/>
                    <a:pt x="0" y="1838325"/>
                  </a:cubicBezTo>
                  <a:lnTo>
                    <a:pt x="9525" y="1838325"/>
                  </a:lnTo>
                  <a:lnTo>
                    <a:pt x="17526" y="1843532"/>
                  </a:lnTo>
                  <a:cubicBezTo>
                    <a:pt x="15240" y="1847088"/>
                    <a:pt x="10922" y="1848739"/>
                    <a:pt x="6858" y="1847469"/>
                  </a:cubicBezTo>
                  <a:cubicBezTo>
                    <a:pt x="2794" y="1846199"/>
                    <a:pt x="0" y="1842516"/>
                    <a:pt x="0" y="1838325"/>
                  </a:cubicBezTo>
                  <a:moveTo>
                    <a:pt x="19050" y="1838325"/>
                  </a:moveTo>
                  <a:lnTo>
                    <a:pt x="9525" y="1838325"/>
                  </a:lnTo>
                  <a:lnTo>
                    <a:pt x="1524" y="1833118"/>
                  </a:lnTo>
                  <a:cubicBezTo>
                    <a:pt x="3810" y="1829562"/>
                    <a:pt x="8128" y="1827911"/>
                    <a:pt x="12192" y="1829181"/>
                  </a:cubicBezTo>
                  <a:cubicBezTo>
                    <a:pt x="16256" y="1830451"/>
                    <a:pt x="19050" y="1834134"/>
                    <a:pt x="19050" y="1838325"/>
                  </a:cubicBezTo>
                  <a:cubicBezTo>
                    <a:pt x="19050" y="2843022"/>
                    <a:pt x="833628" y="3657600"/>
                    <a:pt x="1838325" y="3657600"/>
                  </a:cubicBezTo>
                  <a:cubicBezTo>
                    <a:pt x="2843022" y="3657600"/>
                    <a:pt x="3657600" y="2843022"/>
                    <a:pt x="3657600" y="1838325"/>
                  </a:cubicBezTo>
                  <a:lnTo>
                    <a:pt x="3667125" y="1838325"/>
                  </a:lnTo>
                  <a:lnTo>
                    <a:pt x="3657600" y="1838325"/>
                  </a:lnTo>
                  <a:cubicBezTo>
                    <a:pt x="3657600" y="833628"/>
                    <a:pt x="2843022" y="19050"/>
                    <a:pt x="1838325" y="19050"/>
                  </a:cubicBezTo>
                  <a:lnTo>
                    <a:pt x="1838325" y="9525"/>
                  </a:lnTo>
                  <a:lnTo>
                    <a:pt x="1838325" y="19050"/>
                  </a:lnTo>
                  <a:cubicBezTo>
                    <a:pt x="833628" y="19050"/>
                    <a:pt x="19050" y="833628"/>
                    <a:pt x="19050" y="1838325"/>
                  </a:cubicBezTo>
                  <a:close/>
                </a:path>
              </a:pathLst>
            </a:custGeom>
            <a:solidFill>
              <a:srgbClr val="21322D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747236" y="678656"/>
            <a:ext cx="864680" cy="82868"/>
            <a:chOff x="0" y="0"/>
            <a:chExt cx="1152906" cy="11049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9525" y="9525"/>
              <a:ext cx="1133856" cy="91440"/>
            </a:xfrm>
            <a:custGeom>
              <a:avLst/>
              <a:gdLst/>
              <a:ahLst/>
              <a:cxnLst/>
              <a:rect r="r" b="b" t="t" l="l"/>
              <a:pathLst>
                <a:path h="91440" w="1133856">
                  <a:moveTo>
                    <a:pt x="0" y="0"/>
                  </a:moveTo>
                  <a:lnTo>
                    <a:pt x="1133856" y="0"/>
                  </a:lnTo>
                  <a:lnTo>
                    <a:pt x="1133856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74DE62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52906" cy="110490"/>
            </a:xfrm>
            <a:custGeom>
              <a:avLst/>
              <a:gdLst/>
              <a:ahLst/>
              <a:cxnLst/>
              <a:rect r="r" b="b" t="t" l="l"/>
              <a:pathLst>
                <a:path h="110490" w="1152906">
                  <a:moveTo>
                    <a:pt x="9525" y="0"/>
                  </a:moveTo>
                  <a:lnTo>
                    <a:pt x="1143381" y="0"/>
                  </a:lnTo>
                  <a:cubicBezTo>
                    <a:pt x="1148588" y="0"/>
                    <a:pt x="1152906" y="4318"/>
                    <a:pt x="1152906" y="9525"/>
                  </a:cubicBezTo>
                  <a:lnTo>
                    <a:pt x="1152906" y="100965"/>
                  </a:lnTo>
                  <a:cubicBezTo>
                    <a:pt x="1152906" y="106172"/>
                    <a:pt x="1148588" y="110490"/>
                    <a:pt x="1143381" y="110490"/>
                  </a:cubicBezTo>
                  <a:lnTo>
                    <a:pt x="9525" y="110490"/>
                  </a:lnTo>
                  <a:cubicBezTo>
                    <a:pt x="4318" y="110490"/>
                    <a:pt x="0" y="106172"/>
                    <a:pt x="0" y="100965"/>
                  </a:cubicBezTo>
                  <a:lnTo>
                    <a:pt x="0" y="9525"/>
                  </a:lnTo>
                  <a:cubicBezTo>
                    <a:pt x="0" y="4318"/>
                    <a:pt x="4318" y="0"/>
                    <a:pt x="9525" y="0"/>
                  </a:cubicBezTo>
                  <a:moveTo>
                    <a:pt x="9525" y="19050"/>
                  </a:moveTo>
                  <a:lnTo>
                    <a:pt x="9525" y="9525"/>
                  </a:lnTo>
                  <a:lnTo>
                    <a:pt x="19050" y="9525"/>
                  </a:lnTo>
                  <a:lnTo>
                    <a:pt x="19050" y="100965"/>
                  </a:lnTo>
                  <a:lnTo>
                    <a:pt x="9525" y="100965"/>
                  </a:lnTo>
                  <a:lnTo>
                    <a:pt x="9525" y="91440"/>
                  </a:lnTo>
                  <a:lnTo>
                    <a:pt x="1143381" y="91440"/>
                  </a:lnTo>
                  <a:lnTo>
                    <a:pt x="1143381" y="100965"/>
                  </a:lnTo>
                  <a:lnTo>
                    <a:pt x="1133856" y="100965"/>
                  </a:lnTo>
                  <a:lnTo>
                    <a:pt x="1133856" y="9525"/>
                  </a:lnTo>
                  <a:lnTo>
                    <a:pt x="1143381" y="9525"/>
                  </a:lnTo>
                  <a:lnTo>
                    <a:pt x="1143381" y="19050"/>
                  </a:lnTo>
                  <a:lnTo>
                    <a:pt x="9525" y="19050"/>
                  </a:lnTo>
                  <a:close/>
                </a:path>
              </a:pathLst>
            </a:custGeom>
            <a:solidFill>
              <a:srgbClr val="74DE62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781812" y="402336"/>
            <a:ext cx="6117336" cy="2377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86"/>
              </a:lnSpc>
            </a:pPr>
            <a:r>
              <a:rPr lang="en-US" sz="1155" b="true">
                <a:solidFill>
                  <a:srgbClr val="74DE62"/>
                </a:solidFill>
                <a:latin typeface="Aptos Bold"/>
                <a:ea typeface="Aptos Bold"/>
                <a:cs typeface="Aptos Bold"/>
                <a:sym typeface="Aptos Bold"/>
              </a:rPr>
              <a:t>RESULTS · DISCUSSION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81812" y="1046988"/>
            <a:ext cx="14758416" cy="7589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true">
                <a:solidFill>
                  <a:srgbClr val="F6FAF7"/>
                </a:solidFill>
                <a:latin typeface="Aptos Bold"/>
                <a:ea typeface="Aptos Bold"/>
                <a:cs typeface="Aptos Bold"/>
                <a:sym typeface="Aptos Bold"/>
              </a:rPr>
              <a:t>Scoring framework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22960" y="1856232"/>
            <a:ext cx="15307056" cy="4846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BECDC3"/>
                </a:solidFill>
                <a:latin typeface="Aptos"/>
                <a:ea typeface="Aptos"/>
                <a:cs typeface="Aptos"/>
                <a:sym typeface="Aptos"/>
              </a:rPr>
              <a:t>Weighted integration of partial evidence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05840" y="2926080"/>
            <a:ext cx="6912864" cy="1943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6"/>
              </a:lnSpc>
            </a:pPr>
            <a:r>
              <a:rPr lang="en-US" sz="2130">
                <a:solidFill>
                  <a:srgbClr val="F6FAF7"/>
                </a:solidFill>
                <a:latin typeface="Aptos"/>
                <a:ea typeface="Aptos"/>
                <a:cs typeface="Aptos"/>
                <a:sym typeface="Aptos"/>
              </a:rPr>
              <a:t>Sequence score = 35%</a:t>
            </a:r>
          </a:p>
          <a:p>
            <a:pPr algn="l">
              <a:lnSpc>
                <a:spcPts val="2556"/>
              </a:lnSpc>
            </a:pPr>
            <a:r>
              <a:rPr lang="en-US" sz="2130">
                <a:solidFill>
                  <a:srgbClr val="F6FAF7"/>
                </a:solidFill>
                <a:latin typeface="Aptos"/>
                <a:ea typeface="Aptos"/>
                <a:cs typeface="Aptos"/>
                <a:sym typeface="Aptos"/>
              </a:rPr>
              <a:t>Phylogeny score = 25%</a:t>
            </a:r>
          </a:p>
          <a:p>
            <a:pPr algn="l">
              <a:lnSpc>
                <a:spcPts val="2555"/>
              </a:lnSpc>
            </a:pPr>
            <a:r>
              <a:rPr lang="en-US" sz="2129">
                <a:solidFill>
                  <a:srgbClr val="F6FAF7"/>
                </a:solidFill>
                <a:latin typeface="Aptos"/>
                <a:ea typeface="Aptos"/>
                <a:cs typeface="Aptos"/>
                <a:sym typeface="Aptos"/>
              </a:rPr>
              <a:t>Structural score = 40%</a:t>
            </a:r>
          </a:p>
          <a:p>
            <a:pPr algn="l">
              <a:lnSpc>
                <a:spcPts val="2556"/>
              </a:lnSpc>
            </a:pPr>
          </a:p>
          <a:p>
            <a:pPr algn="l">
              <a:lnSpc>
                <a:spcPts val="2555"/>
              </a:lnSpc>
            </a:pPr>
            <a:r>
              <a:rPr lang="en-US" sz="2129">
                <a:solidFill>
                  <a:srgbClr val="F6FAF7"/>
                </a:solidFill>
                <a:latin typeface="Aptos"/>
                <a:ea typeface="Aptos"/>
                <a:cs typeface="Aptos"/>
                <a:sym typeface="Aptos"/>
              </a:rPr>
              <a:t>Weights and thresholds are configurable in config.yaml.</a:t>
            </a:r>
          </a:p>
          <a:p>
            <a:pPr algn="l">
              <a:lnSpc>
                <a:spcPts val="2556"/>
              </a:lnSpc>
            </a:pPr>
            <a:r>
              <a:rPr lang="en-US" sz="2130">
                <a:solidFill>
                  <a:srgbClr val="F6FAF7"/>
                </a:solidFill>
                <a:latin typeface="Aptos"/>
                <a:ea typeface="Aptos"/>
                <a:cs typeface="Aptos"/>
                <a:sym typeface="Aptos"/>
              </a:rPr>
              <a:t>All partial and final scores are normalized to [0,1].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285732" y="2967228"/>
            <a:ext cx="2002536" cy="3063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0"/>
              </a:lnSpc>
            </a:pPr>
            <a:r>
              <a:rPr lang="en-US" sz="1725">
                <a:solidFill>
                  <a:srgbClr val="F6FAF7"/>
                </a:solidFill>
                <a:latin typeface="Aptos"/>
                <a:ea typeface="Aptos"/>
                <a:cs typeface="Aptos"/>
                <a:sym typeface="Aptos"/>
              </a:rPr>
              <a:t>Sequence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1514296" y="2941796"/>
            <a:ext cx="3854767" cy="384620"/>
            <a:chOff x="0" y="0"/>
            <a:chExt cx="5139690" cy="51282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9525" y="9525"/>
              <a:ext cx="5120640" cy="493776"/>
            </a:xfrm>
            <a:custGeom>
              <a:avLst/>
              <a:gdLst/>
              <a:ahLst/>
              <a:cxnLst/>
              <a:rect r="r" b="b" t="t" l="l"/>
              <a:pathLst>
                <a:path h="493776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493776"/>
                  </a:lnTo>
                  <a:lnTo>
                    <a:pt x="0" y="493776"/>
                  </a:lnTo>
                  <a:close/>
                </a:path>
              </a:pathLst>
            </a:custGeom>
            <a:solidFill>
              <a:srgbClr val="23322A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139690" cy="512826"/>
            </a:xfrm>
            <a:custGeom>
              <a:avLst/>
              <a:gdLst/>
              <a:ahLst/>
              <a:cxnLst/>
              <a:rect r="r" b="b" t="t" l="l"/>
              <a:pathLst>
                <a:path h="512826" w="5139690">
                  <a:moveTo>
                    <a:pt x="9525" y="0"/>
                  </a:moveTo>
                  <a:lnTo>
                    <a:pt x="5130165" y="0"/>
                  </a:lnTo>
                  <a:cubicBezTo>
                    <a:pt x="5135372" y="0"/>
                    <a:pt x="5139690" y="4318"/>
                    <a:pt x="5139690" y="9525"/>
                  </a:cubicBezTo>
                  <a:lnTo>
                    <a:pt x="5139690" y="503301"/>
                  </a:lnTo>
                  <a:cubicBezTo>
                    <a:pt x="5139690" y="508508"/>
                    <a:pt x="5135372" y="512826"/>
                    <a:pt x="5130165" y="512826"/>
                  </a:cubicBezTo>
                  <a:lnTo>
                    <a:pt x="9525" y="512826"/>
                  </a:lnTo>
                  <a:cubicBezTo>
                    <a:pt x="4318" y="512826"/>
                    <a:pt x="0" y="508508"/>
                    <a:pt x="0" y="503301"/>
                  </a:cubicBezTo>
                  <a:lnTo>
                    <a:pt x="0" y="9525"/>
                  </a:lnTo>
                  <a:cubicBezTo>
                    <a:pt x="0" y="4318"/>
                    <a:pt x="4318" y="0"/>
                    <a:pt x="9525" y="0"/>
                  </a:cubicBezTo>
                  <a:moveTo>
                    <a:pt x="9525" y="19050"/>
                  </a:moveTo>
                  <a:lnTo>
                    <a:pt x="9525" y="9525"/>
                  </a:lnTo>
                  <a:lnTo>
                    <a:pt x="19050" y="9525"/>
                  </a:lnTo>
                  <a:lnTo>
                    <a:pt x="19050" y="503301"/>
                  </a:lnTo>
                  <a:lnTo>
                    <a:pt x="9525" y="503301"/>
                  </a:lnTo>
                  <a:lnTo>
                    <a:pt x="9525" y="493776"/>
                  </a:lnTo>
                  <a:lnTo>
                    <a:pt x="5130165" y="493776"/>
                  </a:lnTo>
                  <a:lnTo>
                    <a:pt x="5130165" y="503301"/>
                  </a:lnTo>
                  <a:lnTo>
                    <a:pt x="5120640" y="503301"/>
                  </a:lnTo>
                  <a:lnTo>
                    <a:pt x="5120640" y="9525"/>
                  </a:lnTo>
                  <a:lnTo>
                    <a:pt x="5130165" y="9525"/>
                  </a:lnTo>
                  <a:lnTo>
                    <a:pt x="5130165" y="19050"/>
                  </a:lnTo>
                  <a:lnTo>
                    <a:pt x="9525" y="19050"/>
                  </a:lnTo>
                  <a:close/>
                </a:path>
              </a:pathLst>
            </a:custGeom>
            <a:solidFill>
              <a:srgbClr val="23322A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1514296" y="2941796"/>
            <a:ext cx="3374708" cy="384620"/>
            <a:chOff x="0" y="0"/>
            <a:chExt cx="4499610" cy="51282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9525" y="9525"/>
              <a:ext cx="4480560" cy="493776"/>
            </a:xfrm>
            <a:custGeom>
              <a:avLst/>
              <a:gdLst/>
              <a:ahLst/>
              <a:cxnLst/>
              <a:rect r="r" b="b" t="t" l="l"/>
              <a:pathLst>
                <a:path h="493776" w="4480560">
                  <a:moveTo>
                    <a:pt x="0" y="0"/>
                  </a:moveTo>
                  <a:lnTo>
                    <a:pt x="4480560" y="0"/>
                  </a:lnTo>
                  <a:lnTo>
                    <a:pt x="4480560" y="493776"/>
                  </a:lnTo>
                  <a:lnTo>
                    <a:pt x="0" y="493776"/>
                  </a:lnTo>
                  <a:close/>
                </a:path>
              </a:pathLst>
            </a:custGeom>
            <a:solidFill>
              <a:srgbClr val="74DE62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499610" cy="512826"/>
            </a:xfrm>
            <a:custGeom>
              <a:avLst/>
              <a:gdLst/>
              <a:ahLst/>
              <a:cxnLst/>
              <a:rect r="r" b="b" t="t" l="l"/>
              <a:pathLst>
                <a:path h="512826" w="4499610">
                  <a:moveTo>
                    <a:pt x="9525" y="0"/>
                  </a:moveTo>
                  <a:lnTo>
                    <a:pt x="4490085" y="0"/>
                  </a:lnTo>
                  <a:cubicBezTo>
                    <a:pt x="4495292" y="0"/>
                    <a:pt x="4499610" y="4318"/>
                    <a:pt x="4499610" y="9525"/>
                  </a:cubicBezTo>
                  <a:lnTo>
                    <a:pt x="4499610" y="503301"/>
                  </a:lnTo>
                  <a:cubicBezTo>
                    <a:pt x="4499610" y="508508"/>
                    <a:pt x="4495292" y="512826"/>
                    <a:pt x="4490085" y="512826"/>
                  </a:cubicBezTo>
                  <a:lnTo>
                    <a:pt x="9525" y="512826"/>
                  </a:lnTo>
                  <a:cubicBezTo>
                    <a:pt x="4318" y="512826"/>
                    <a:pt x="0" y="508508"/>
                    <a:pt x="0" y="503301"/>
                  </a:cubicBezTo>
                  <a:lnTo>
                    <a:pt x="0" y="9525"/>
                  </a:lnTo>
                  <a:cubicBezTo>
                    <a:pt x="0" y="4318"/>
                    <a:pt x="4318" y="0"/>
                    <a:pt x="9525" y="0"/>
                  </a:cubicBezTo>
                  <a:moveTo>
                    <a:pt x="9525" y="19050"/>
                  </a:moveTo>
                  <a:lnTo>
                    <a:pt x="9525" y="9525"/>
                  </a:lnTo>
                  <a:lnTo>
                    <a:pt x="19050" y="9525"/>
                  </a:lnTo>
                  <a:lnTo>
                    <a:pt x="19050" y="503301"/>
                  </a:lnTo>
                  <a:lnTo>
                    <a:pt x="9525" y="503301"/>
                  </a:lnTo>
                  <a:lnTo>
                    <a:pt x="9525" y="493776"/>
                  </a:lnTo>
                  <a:lnTo>
                    <a:pt x="4490085" y="493776"/>
                  </a:lnTo>
                  <a:lnTo>
                    <a:pt x="4490085" y="503301"/>
                  </a:lnTo>
                  <a:lnTo>
                    <a:pt x="4480560" y="503301"/>
                  </a:lnTo>
                  <a:lnTo>
                    <a:pt x="4480560" y="9525"/>
                  </a:lnTo>
                  <a:lnTo>
                    <a:pt x="4490085" y="9525"/>
                  </a:lnTo>
                  <a:lnTo>
                    <a:pt x="4490085" y="19050"/>
                  </a:lnTo>
                  <a:lnTo>
                    <a:pt x="9525" y="19050"/>
                  </a:lnTo>
                  <a:close/>
                </a:path>
              </a:pathLst>
            </a:custGeom>
            <a:solidFill>
              <a:srgbClr val="74DE62"/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15595092" y="2939796"/>
            <a:ext cx="630936" cy="3063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true">
                <a:solidFill>
                  <a:srgbClr val="74DE62"/>
                </a:solidFill>
                <a:latin typeface="Aptos Bold"/>
                <a:ea typeface="Aptos Bold"/>
                <a:cs typeface="Aptos Bold"/>
                <a:sym typeface="Aptos Bold"/>
              </a:rPr>
              <a:t>35%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285732" y="4133088"/>
            <a:ext cx="2002536" cy="3063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0"/>
              </a:lnSpc>
            </a:pPr>
            <a:r>
              <a:rPr lang="en-US" sz="1725">
                <a:solidFill>
                  <a:srgbClr val="F6FAF7"/>
                </a:solidFill>
                <a:latin typeface="Aptos"/>
                <a:ea typeface="Aptos"/>
                <a:cs typeface="Aptos"/>
                <a:sym typeface="Aptos"/>
              </a:rPr>
              <a:t>Phylogeny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1514296" y="4107656"/>
            <a:ext cx="3854767" cy="384620"/>
            <a:chOff x="0" y="0"/>
            <a:chExt cx="5139690" cy="512826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9525" y="9525"/>
              <a:ext cx="5120640" cy="493776"/>
            </a:xfrm>
            <a:custGeom>
              <a:avLst/>
              <a:gdLst/>
              <a:ahLst/>
              <a:cxnLst/>
              <a:rect r="r" b="b" t="t" l="l"/>
              <a:pathLst>
                <a:path h="493776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493776"/>
                  </a:lnTo>
                  <a:lnTo>
                    <a:pt x="0" y="493776"/>
                  </a:lnTo>
                  <a:close/>
                </a:path>
              </a:pathLst>
            </a:custGeom>
            <a:solidFill>
              <a:srgbClr val="23322A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139690" cy="512826"/>
            </a:xfrm>
            <a:custGeom>
              <a:avLst/>
              <a:gdLst/>
              <a:ahLst/>
              <a:cxnLst/>
              <a:rect r="r" b="b" t="t" l="l"/>
              <a:pathLst>
                <a:path h="512826" w="5139690">
                  <a:moveTo>
                    <a:pt x="9525" y="0"/>
                  </a:moveTo>
                  <a:lnTo>
                    <a:pt x="5130165" y="0"/>
                  </a:lnTo>
                  <a:cubicBezTo>
                    <a:pt x="5135372" y="0"/>
                    <a:pt x="5139690" y="4318"/>
                    <a:pt x="5139690" y="9525"/>
                  </a:cubicBezTo>
                  <a:lnTo>
                    <a:pt x="5139690" y="503301"/>
                  </a:lnTo>
                  <a:cubicBezTo>
                    <a:pt x="5139690" y="508508"/>
                    <a:pt x="5135372" y="512826"/>
                    <a:pt x="5130165" y="512826"/>
                  </a:cubicBezTo>
                  <a:lnTo>
                    <a:pt x="9525" y="512826"/>
                  </a:lnTo>
                  <a:cubicBezTo>
                    <a:pt x="4318" y="512826"/>
                    <a:pt x="0" y="508508"/>
                    <a:pt x="0" y="503301"/>
                  </a:cubicBezTo>
                  <a:lnTo>
                    <a:pt x="0" y="9525"/>
                  </a:lnTo>
                  <a:cubicBezTo>
                    <a:pt x="0" y="4318"/>
                    <a:pt x="4318" y="0"/>
                    <a:pt x="9525" y="0"/>
                  </a:cubicBezTo>
                  <a:moveTo>
                    <a:pt x="9525" y="19050"/>
                  </a:moveTo>
                  <a:lnTo>
                    <a:pt x="9525" y="9525"/>
                  </a:lnTo>
                  <a:lnTo>
                    <a:pt x="19050" y="9525"/>
                  </a:lnTo>
                  <a:lnTo>
                    <a:pt x="19050" y="503301"/>
                  </a:lnTo>
                  <a:lnTo>
                    <a:pt x="9525" y="503301"/>
                  </a:lnTo>
                  <a:lnTo>
                    <a:pt x="9525" y="493776"/>
                  </a:lnTo>
                  <a:lnTo>
                    <a:pt x="5130165" y="493776"/>
                  </a:lnTo>
                  <a:lnTo>
                    <a:pt x="5130165" y="503301"/>
                  </a:lnTo>
                  <a:lnTo>
                    <a:pt x="5120640" y="503301"/>
                  </a:lnTo>
                  <a:lnTo>
                    <a:pt x="5120640" y="9525"/>
                  </a:lnTo>
                  <a:lnTo>
                    <a:pt x="5130165" y="9525"/>
                  </a:lnTo>
                  <a:lnTo>
                    <a:pt x="5130165" y="19050"/>
                  </a:lnTo>
                  <a:lnTo>
                    <a:pt x="9525" y="19050"/>
                  </a:lnTo>
                  <a:close/>
                </a:path>
              </a:pathLst>
            </a:custGeom>
            <a:solidFill>
              <a:srgbClr val="23322A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1514296" y="4107656"/>
            <a:ext cx="2414588" cy="384620"/>
            <a:chOff x="0" y="0"/>
            <a:chExt cx="3219450" cy="512826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9525" y="9525"/>
              <a:ext cx="3200400" cy="493776"/>
            </a:xfrm>
            <a:custGeom>
              <a:avLst/>
              <a:gdLst/>
              <a:ahLst/>
              <a:cxnLst/>
              <a:rect r="r" b="b" t="t" l="l"/>
              <a:pathLst>
                <a:path h="493776" w="3200400">
                  <a:moveTo>
                    <a:pt x="0" y="0"/>
                  </a:moveTo>
                  <a:lnTo>
                    <a:pt x="3200400" y="0"/>
                  </a:lnTo>
                  <a:lnTo>
                    <a:pt x="3200400" y="493776"/>
                  </a:lnTo>
                  <a:lnTo>
                    <a:pt x="0" y="493776"/>
                  </a:lnTo>
                  <a:close/>
                </a:path>
              </a:pathLst>
            </a:custGeom>
            <a:solidFill>
              <a:srgbClr val="74DE62"/>
            </a:solid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219450" cy="512826"/>
            </a:xfrm>
            <a:custGeom>
              <a:avLst/>
              <a:gdLst/>
              <a:ahLst/>
              <a:cxnLst/>
              <a:rect r="r" b="b" t="t" l="l"/>
              <a:pathLst>
                <a:path h="512826" w="3219450">
                  <a:moveTo>
                    <a:pt x="9525" y="0"/>
                  </a:moveTo>
                  <a:lnTo>
                    <a:pt x="3209925" y="0"/>
                  </a:lnTo>
                  <a:cubicBezTo>
                    <a:pt x="3215132" y="0"/>
                    <a:pt x="3219450" y="4318"/>
                    <a:pt x="3219450" y="9525"/>
                  </a:cubicBezTo>
                  <a:lnTo>
                    <a:pt x="3219450" y="503301"/>
                  </a:lnTo>
                  <a:cubicBezTo>
                    <a:pt x="3219450" y="508508"/>
                    <a:pt x="3215132" y="512826"/>
                    <a:pt x="3209925" y="512826"/>
                  </a:cubicBezTo>
                  <a:lnTo>
                    <a:pt x="9525" y="512826"/>
                  </a:lnTo>
                  <a:cubicBezTo>
                    <a:pt x="4318" y="512826"/>
                    <a:pt x="0" y="508508"/>
                    <a:pt x="0" y="503301"/>
                  </a:cubicBezTo>
                  <a:lnTo>
                    <a:pt x="0" y="9525"/>
                  </a:lnTo>
                  <a:cubicBezTo>
                    <a:pt x="0" y="4318"/>
                    <a:pt x="4318" y="0"/>
                    <a:pt x="9525" y="0"/>
                  </a:cubicBezTo>
                  <a:moveTo>
                    <a:pt x="9525" y="19050"/>
                  </a:moveTo>
                  <a:lnTo>
                    <a:pt x="9525" y="9525"/>
                  </a:lnTo>
                  <a:lnTo>
                    <a:pt x="19050" y="9525"/>
                  </a:lnTo>
                  <a:lnTo>
                    <a:pt x="19050" y="503301"/>
                  </a:lnTo>
                  <a:lnTo>
                    <a:pt x="9525" y="503301"/>
                  </a:lnTo>
                  <a:lnTo>
                    <a:pt x="9525" y="493776"/>
                  </a:lnTo>
                  <a:lnTo>
                    <a:pt x="3209925" y="493776"/>
                  </a:lnTo>
                  <a:lnTo>
                    <a:pt x="3209925" y="503301"/>
                  </a:lnTo>
                  <a:lnTo>
                    <a:pt x="3200400" y="503301"/>
                  </a:lnTo>
                  <a:lnTo>
                    <a:pt x="3200400" y="9525"/>
                  </a:lnTo>
                  <a:lnTo>
                    <a:pt x="3209925" y="9525"/>
                  </a:lnTo>
                  <a:lnTo>
                    <a:pt x="3209925" y="19050"/>
                  </a:lnTo>
                  <a:lnTo>
                    <a:pt x="9525" y="19050"/>
                  </a:lnTo>
                  <a:close/>
                </a:path>
              </a:pathLst>
            </a:custGeom>
            <a:solidFill>
              <a:srgbClr val="74DE62"/>
            </a:solid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15595092" y="4105656"/>
            <a:ext cx="630936" cy="3063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true">
                <a:solidFill>
                  <a:srgbClr val="74DE62"/>
                </a:solidFill>
                <a:latin typeface="Aptos Bold"/>
                <a:ea typeface="Aptos Bold"/>
                <a:cs typeface="Aptos Bold"/>
                <a:sym typeface="Aptos Bold"/>
              </a:rPr>
              <a:t>25%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285732" y="5298948"/>
            <a:ext cx="2002536" cy="3063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0"/>
              </a:lnSpc>
            </a:pPr>
            <a:r>
              <a:rPr lang="en-US" sz="1725">
                <a:solidFill>
                  <a:srgbClr val="F6FAF7"/>
                </a:solidFill>
                <a:latin typeface="Aptos"/>
                <a:ea typeface="Aptos"/>
                <a:cs typeface="Aptos"/>
                <a:sym typeface="Aptos"/>
              </a:rPr>
              <a:t>Structure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11514296" y="5273516"/>
            <a:ext cx="3854767" cy="384620"/>
            <a:chOff x="0" y="0"/>
            <a:chExt cx="5139690" cy="512826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9525" y="9525"/>
              <a:ext cx="5120640" cy="493776"/>
            </a:xfrm>
            <a:custGeom>
              <a:avLst/>
              <a:gdLst/>
              <a:ahLst/>
              <a:cxnLst/>
              <a:rect r="r" b="b" t="t" l="l"/>
              <a:pathLst>
                <a:path h="493776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493776"/>
                  </a:lnTo>
                  <a:lnTo>
                    <a:pt x="0" y="493776"/>
                  </a:lnTo>
                  <a:close/>
                </a:path>
              </a:pathLst>
            </a:custGeom>
            <a:solidFill>
              <a:srgbClr val="23322A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5139690" cy="512826"/>
            </a:xfrm>
            <a:custGeom>
              <a:avLst/>
              <a:gdLst/>
              <a:ahLst/>
              <a:cxnLst/>
              <a:rect r="r" b="b" t="t" l="l"/>
              <a:pathLst>
                <a:path h="512826" w="5139690">
                  <a:moveTo>
                    <a:pt x="9525" y="0"/>
                  </a:moveTo>
                  <a:lnTo>
                    <a:pt x="5130165" y="0"/>
                  </a:lnTo>
                  <a:cubicBezTo>
                    <a:pt x="5135372" y="0"/>
                    <a:pt x="5139690" y="4318"/>
                    <a:pt x="5139690" y="9525"/>
                  </a:cubicBezTo>
                  <a:lnTo>
                    <a:pt x="5139690" y="503301"/>
                  </a:lnTo>
                  <a:cubicBezTo>
                    <a:pt x="5139690" y="508508"/>
                    <a:pt x="5135372" y="512826"/>
                    <a:pt x="5130165" y="512826"/>
                  </a:cubicBezTo>
                  <a:lnTo>
                    <a:pt x="9525" y="512826"/>
                  </a:lnTo>
                  <a:cubicBezTo>
                    <a:pt x="4318" y="512826"/>
                    <a:pt x="0" y="508508"/>
                    <a:pt x="0" y="503301"/>
                  </a:cubicBezTo>
                  <a:lnTo>
                    <a:pt x="0" y="9525"/>
                  </a:lnTo>
                  <a:cubicBezTo>
                    <a:pt x="0" y="4318"/>
                    <a:pt x="4318" y="0"/>
                    <a:pt x="9525" y="0"/>
                  </a:cubicBezTo>
                  <a:moveTo>
                    <a:pt x="9525" y="19050"/>
                  </a:moveTo>
                  <a:lnTo>
                    <a:pt x="9525" y="9525"/>
                  </a:lnTo>
                  <a:lnTo>
                    <a:pt x="19050" y="9525"/>
                  </a:lnTo>
                  <a:lnTo>
                    <a:pt x="19050" y="503301"/>
                  </a:lnTo>
                  <a:lnTo>
                    <a:pt x="9525" y="503301"/>
                  </a:lnTo>
                  <a:lnTo>
                    <a:pt x="9525" y="493776"/>
                  </a:lnTo>
                  <a:lnTo>
                    <a:pt x="5130165" y="493776"/>
                  </a:lnTo>
                  <a:lnTo>
                    <a:pt x="5130165" y="503301"/>
                  </a:lnTo>
                  <a:lnTo>
                    <a:pt x="5120640" y="503301"/>
                  </a:lnTo>
                  <a:lnTo>
                    <a:pt x="5120640" y="9525"/>
                  </a:lnTo>
                  <a:lnTo>
                    <a:pt x="5130165" y="9525"/>
                  </a:lnTo>
                  <a:lnTo>
                    <a:pt x="5130165" y="19050"/>
                  </a:lnTo>
                  <a:lnTo>
                    <a:pt x="9525" y="19050"/>
                  </a:lnTo>
                  <a:close/>
                </a:path>
              </a:pathLst>
            </a:custGeom>
            <a:solidFill>
              <a:srgbClr val="23322A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1514296" y="5273516"/>
            <a:ext cx="3854767" cy="384620"/>
            <a:chOff x="0" y="0"/>
            <a:chExt cx="5139690" cy="512826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9525" y="9525"/>
              <a:ext cx="5120640" cy="493776"/>
            </a:xfrm>
            <a:custGeom>
              <a:avLst/>
              <a:gdLst/>
              <a:ahLst/>
              <a:cxnLst/>
              <a:rect r="r" b="b" t="t" l="l"/>
              <a:pathLst>
                <a:path h="493776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493776"/>
                  </a:lnTo>
                  <a:lnTo>
                    <a:pt x="0" y="493776"/>
                  </a:lnTo>
                  <a:close/>
                </a:path>
              </a:pathLst>
            </a:custGeom>
            <a:solidFill>
              <a:srgbClr val="74DE62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5139690" cy="512826"/>
            </a:xfrm>
            <a:custGeom>
              <a:avLst/>
              <a:gdLst/>
              <a:ahLst/>
              <a:cxnLst/>
              <a:rect r="r" b="b" t="t" l="l"/>
              <a:pathLst>
                <a:path h="512826" w="5139690">
                  <a:moveTo>
                    <a:pt x="9525" y="0"/>
                  </a:moveTo>
                  <a:lnTo>
                    <a:pt x="5130165" y="0"/>
                  </a:lnTo>
                  <a:cubicBezTo>
                    <a:pt x="5135372" y="0"/>
                    <a:pt x="5139690" y="4318"/>
                    <a:pt x="5139690" y="9525"/>
                  </a:cubicBezTo>
                  <a:lnTo>
                    <a:pt x="5139690" y="503301"/>
                  </a:lnTo>
                  <a:cubicBezTo>
                    <a:pt x="5139690" y="508508"/>
                    <a:pt x="5135372" y="512826"/>
                    <a:pt x="5130165" y="512826"/>
                  </a:cubicBezTo>
                  <a:lnTo>
                    <a:pt x="9525" y="512826"/>
                  </a:lnTo>
                  <a:cubicBezTo>
                    <a:pt x="4318" y="512826"/>
                    <a:pt x="0" y="508508"/>
                    <a:pt x="0" y="503301"/>
                  </a:cubicBezTo>
                  <a:lnTo>
                    <a:pt x="0" y="9525"/>
                  </a:lnTo>
                  <a:cubicBezTo>
                    <a:pt x="0" y="4318"/>
                    <a:pt x="4318" y="0"/>
                    <a:pt x="9525" y="0"/>
                  </a:cubicBezTo>
                  <a:moveTo>
                    <a:pt x="9525" y="19050"/>
                  </a:moveTo>
                  <a:lnTo>
                    <a:pt x="9525" y="9525"/>
                  </a:lnTo>
                  <a:lnTo>
                    <a:pt x="19050" y="9525"/>
                  </a:lnTo>
                  <a:lnTo>
                    <a:pt x="19050" y="503301"/>
                  </a:lnTo>
                  <a:lnTo>
                    <a:pt x="9525" y="503301"/>
                  </a:lnTo>
                  <a:lnTo>
                    <a:pt x="9525" y="493776"/>
                  </a:lnTo>
                  <a:lnTo>
                    <a:pt x="5130165" y="493776"/>
                  </a:lnTo>
                  <a:lnTo>
                    <a:pt x="5130165" y="503301"/>
                  </a:lnTo>
                  <a:lnTo>
                    <a:pt x="5120640" y="503301"/>
                  </a:lnTo>
                  <a:lnTo>
                    <a:pt x="5120640" y="9525"/>
                  </a:lnTo>
                  <a:lnTo>
                    <a:pt x="5130165" y="9525"/>
                  </a:lnTo>
                  <a:lnTo>
                    <a:pt x="5130165" y="19050"/>
                  </a:lnTo>
                  <a:lnTo>
                    <a:pt x="9525" y="19050"/>
                  </a:lnTo>
                  <a:close/>
                </a:path>
              </a:pathLst>
            </a:custGeom>
            <a:solidFill>
              <a:srgbClr val="74DE62"/>
            </a:solidFill>
          </p:spPr>
        </p:sp>
      </p:grpSp>
      <p:sp>
        <p:nvSpPr>
          <p:cNvPr name="TextBox 38" id="38"/>
          <p:cNvSpPr txBox="true"/>
          <p:nvPr/>
        </p:nvSpPr>
        <p:spPr>
          <a:xfrm rot="0">
            <a:off x="15595092" y="5271516"/>
            <a:ext cx="630936" cy="3063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true">
                <a:solidFill>
                  <a:srgbClr val="74DE62"/>
                </a:solidFill>
                <a:latin typeface="Aptos Bold"/>
                <a:ea typeface="Aptos Bold"/>
                <a:cs typeface="Aptos Bold"/>
                <a:sym typeface="Aptos Bold"/>
              </a:rPr>
              <a:t>40%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9285732" y="6944868"/>
            <a:ext cx="7351776" cy="717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true">
                <a:solidFill>
                  <a:srgbClr val="F6FAF7"/>
                </a:solidFill>
                <a:latin typeface="Aptos Bold"/>
                <a:ea typeface="Aptos Bold"/>
                <a:cs typeface="Aptos Bold"/>
                <a:sym typeface="Aptos Bold"/>
              </a:rPr>
              <a:t>RBP-Score = 0.35 × sequence + 0.25 × phylogeny + 0.40 × structure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877824" y="9500235"/>
            <a:ext cx="1933956" cy="2198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4"/>
              </a:lnSpc>
            </a:pPr>
            <a:r>
              <a:rPr lang="en-US" sz="1170" b="true">
                <a:solidFill>
                  <a:srgbClr val="74DE62"/>
                </a:solidFill>
                <a:latin typeface="Aptos Bold"/>
                <a:ea typeface="Aptos Bold"/>
                <a:cs typeface="Aptos Bold"/>
                <a:sym typeface="Aptos Bold"/>
              </a:rPr>
              <a:t>KEY MESSAGE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2523744" y="9427464"/>
            <a:ext cx="14621256" cy="3749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F6FAF7"/>
                </a:solidFill>
                <a:latin typeface="Aptos"/>
                <a:ea typeface="Aptos"/>
                <a:cs typeface="Aptos"/>
                <a:sym typeface="Aptos"/>
              </a:rPr>
              <a:t>The score is transparent and configurable; current weights are exploratory.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6692372" y="9454896"/>
            <a:ext cx="905256" cy="210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439"/>
              </a:lnSpc>
            </a:pPr>
            <a:r>
              <a:rPr lang="en-US" sz="1200">
                <a:solidFill>
                  <a:srgbClr val="BECDC3"/>
                </a:solidFill>
                <a:latin typeface="Aptos"/>
                <a:ea typeface="Aptos"/>
                <a:cs typeface="Aptos"/>
                <a:sym typeface="Aptos"/>
              </a:rPr>
              <a:t>09/12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0513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903416" y="-555784"/>
            <a:ext cx="3168967" cy="3168967"/>
            <a:chOff x="0" y="0"/>
            <a:chExt cx="4225290" cy="422529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9525" y="9525"/>
              <a:ext cx="4206240" cy="4206240"/>
            </a:xfrm>
            <a:custGeom>
              <a:avLst/>
              <a:gdLst/>
              <a:ahLst/>
              <a:cxnLst/>
              <a:rect r="r" b="b" t="t" l="l"/>
              <a:pathLst>
                <a:path h="4206240" w="4206240">
                  <a:moveTo>
                    <a:pt x="0" y="2103120"/>
                  </a:moveTo>
                  <a:cubicBezTo>
                    <a:pt x="0" y="941578"/>
                    <a:pt x="941578" y="0"/>
                    <a:pt x="2103120" y="0"/>
                  </a:cubicBezTo>
                  <a:cubicBezTo>
                    <a:pt x="3264662" y="0"/>
                    <a:pt x="4206240" y="941578"/>
                    <a:pt x="4206240" y="2103120"/>
                  </a:cubicBezTo>
                  <a:cubicBezTo>
                    <a:pt x="4206240" y="3264662"/>
                    <a:pt x="3264662" y="4206240"/>
                    <a:pt x="2103120" y="4206240"/>
                  </a:cubicBezTo>
                  <a:cubicBezTo>
                    <a:pt x="941578" y="4206240"/>
                    <a:pt x="0" y="3264662"/>
                    <a:pt x="0" y="2103120"/>
                  </a:cubicBezTo>
                  <a:close/>
                </a:path>
              </a:pathLst>
            </a:custGeom>
            <a:solidFill>
              <a:srgbClr val="283732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25290" cy="4225290"/>
            </a:xfrm>
            <a:custGeom>
              <a:avLst/>
              <a:gdLst/>
              <a:ahLst/>
              <a:cxnLst/>
              <a:rect r="r" b="b" t="t" l="l"/>
              <a:pathLst>
                <a:path h="4225290" w="4225290">
                  <a:moveTo>
                    <a:pt x="0" y="2112645"/>
                  </a:moveTo>
                  <a:cubicBezTo>
                    <a:pt x="0" y="945896"/>
                    <a:pt x="945896" y="0"/>
                    <a:pt x="2112645" y="0"/>
                  </a:cubicBezTo>
                  <a:lnTo>
                    <a:pt x="2112645" y="9525"/>
                  </a:lnTo>
                  <a:lnTo>
                    <a:pt x="2112645" y="0"/>
                  </a:lnTo>
                  <a:cubicBezTo>
                    <a:pt x="3279394" y="0"/>
                    <a:pt x="4225290" y="945896"/>
                    <a:pt x="4225290" y="2112645"/>
                  </a:cubicBezTo>
                  <a:lnTo>
                    <a:pt x="4215765" y="2112645"/>
                  </a:lnTo>
                  <a:lnTo>
                    <a:pt x="4225290" y="2112645"/>
                  </a:lnTo>
                  <a:cubicBezTo>
                    <a:pt x="4225290" y="3279394"/>
                    <a:pt x="3279394" y="4225290"/>
                    <a:pt x="2112645" y="4225290"/>
                  </a:cubicBezTo>
                  <a:lnTo>
                    <a:pt x="2112645" y="4215765"/>
                  </a:lnTo>
                  <a:lnTo>
                    <a:pt x="2112645" y="4225290"/>
                  </a:lnTo>
                  <a:cubicBezTo>
                    <a:pt x="945896" y="4225290"/>
                    <a:pt x="0" y="3279394"/>
                    <a:pt x="0" y="2112645"/>
                  </a:cubicBezTo>
                  <a:lnTo>
                    <a:pt x="9525" y="2112645"/>
                  </a:lnTo>
                  <a:lnTo>
                    <a:pt x="19050" y="2112645"/>
                  </a:lnTo>
                  <a:lnTo>
                    <a:pt x="9525" y="2112645"/>
                  </a:lnTo>
                  <a:lnTo>
                    <a:pt x="0" y="2112645"/>
                  </a:lnTo>
                  <a:moveTo>
                    <a:pt x="19050" y="2112645"/>
                  </a:moveTo>
                  <a:cubicBezTo>
                    <a:pt x="19050" y="2117852"/>
                    <a:pt x="14732" y="2122170"/>
                    <a:pt x="9525" y="2122170"/>
                  </a:cubicBezTo>
                  <a:cubicBezTo>
                    <a:pt x="4318" y="2122170"/>
                    <a:pt x="0" y="2117852"/>
                    <a:pt x="0" y="2112645"/>
                  </a:cubicBezTo>
                  <a:cubicBezTo>
                    <a:pt x="0" y="2107438"/>
                    <a:pt x="4318" y="2103120"/>
                    <a:pt x="9525" y="2103120"/>
                  </a:cubicBezTo>
                  <a:cubicBezTo>
                    <a:pt x="14732" y="2103120"/>
                    <a:pt x="19050" y="2107438"/>
                    <a:pt x="19050" y="2112645"/>
                  </a:cubicBezTo>
                  <a:cubicBezTo>
                    <a:pt x="19050" y="3268853"/>
                    <a:pt x="956437" y="4206240"/>
                    <a:pt x="2112645" y="4206240"/>
                  </a:cubicBezTo>
                  <a:cubicBezTo>
                    <a:pt x="3268853" y="4206240"/>
                    <a:pt x="4206240" y="3268853"/>
                    <a:pt x="4206240" y="2112645"/>
                  </a:cubicBezTo>
                  <a:cubicBezTo>
                    <a:pt x="4206240" y="956437"/>
                    <a:pt x="3268853" y="19050"/>
                    <a:pt x="2112645" y="19050"/>
                  </a:cubicBezTo>
                  <a:lnTo>
                    <a:pt x="2112645" y="9525"/>
                  </a:lnTo>
                  <a:lnTo>
                    <a:pt x="2112645" y="19050"/>
                  </a:lnTo>
                  <a:cubicBezTo>
                    <a:pt x="956437" y="19050"/>
                    <a:pt x="19050" y="956437"/>
                    <a:pt x="19050" y="2112645"/>
                  </a:cubicBezTo>
                  <a:close/>
                </a:path>
              </a:pathLst>
            </a:custGeom>
            <a:solidFill>
              <a:srgbClr val="283732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-1104424" y="8359616"/>
            <a:ext cx="2757488" cy="2757488"/>
            <a:chOff x="0" y="0"/>
            <a:chExt cx="3676650" cy="367665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9525" y="9525"/>
              <a:ext cx="3657600" cy="3657600"/>
            </a:xfrm>
            <a:custGeom>
              <a:avLst/>
              <a:gdLst/>
              <a:ahLst/>
              <a:cxnLst/>
              <a:rect r="r" b="b" t="t" l="l"/>
              <a:pathLst>
                <a:path h="3657600" w="3657600">
                  <a:moveTo>
                    <a:pt x="0" y="1828800"/>
                  </a:moveTo>
                  <a:cubicBezTo>
                    <a:pt x="0" y="818769"/>
                    <a:pt x="818769" y="0"/>
                    <a:pt x="1828800" y="0"/>
                  </a:cubicBezTo>
                  <a:cubicBezTo>
                    <a:pt x="2838831" y="0"/>
                    <a:pt x="3657600" y="818769"/>
                    <a:pt x="3657600" y="1828800"/>
                  </a:cubicBezTo>
                  <a:cubicBezTo>
                    <a:pt x="3657600" y="2838831"/>
                    <a:pt x="2838831" y="3657600"/>
                    <a:pt x="1828800" y="3657600"/>
                  </a:cubicBezTo>
                  <a:cubicBezTo>
                    <a:pt x="818769" y="3657600"/>
                    <a:pt x="0" y="2838831"/>
                    <a:pt x="0" y="1828800"/>
                  </a:cubicBezTo>
                  <a:close/>
                </a:path>
              </a:pathLst>
            </a:custGeom>
            <a:solidFill>
              <a:srgbClr val="21322D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676650" cy="3676650"/>
            </a:xfrm>
            <a:custGeom>
              <a:avLst/>
              <a:gdLst/>
              <a:ahLst/>
              <a:cxnLst/>
              <a:rect r="r" b="b" t="t" l="l"/>
              <a:pathLst>
                <a:path h="3676650" w="3676650">
                  <a:moveTo>
                    <a:pt x="0" y="1838325"/>
                  </a:moveTo>
                  <a:cubicBezTo>
                    <a:pt x="0" y="823087"/>
                    <a:pt x="823087" y="0"/>
                    <a:pt x="1838325" y="0"/>
                  </a:cubicBezTo>
                  <a:lnTo>
                    <a:pt x="1838325" y="9525"/>
                  </a:lnTo>
                  <a:lnTo>
                    <a:pt x="1838325" y="0"/>
                  </a:lnTo>
                  <a:cubicBezTo>
                    <a:pt x="2853563" y="0"/>
                    <a:pt x="3676650" y="823087"/>
                    <a:pt x="3676650" y="1838325"/>
                  </a:cubicBezTo>
                  <a:cubicBezTo>
                    <a:pt x="3676650" y="2853563"/>
                    <a:pt x="2853563" y="3676650"/>
                    <a:pt x="1838325" y="3676650"/>
                  </a:cubicBezTo>
                  <a:lnTo>
                    <a:pt x="1838325" y="3667125"/>
                  </a:lnTo>
                  <a:lnTo>
                    <a:pt x="1838325" y="3676650"/>
                  </a:lnTo>
                  <a:cubicBezTo>
                    <a:pt x="823087" y="3676650"/>
                    <a:pt x="0" y="2853563"/>
                    <a:pt x="0" y="1838325"/>
                  </a:cubicBezTo>
                  <a:lnTo>
                    <a:pt x="9525" y="1838325"/>
                  </a:lnTo>
                  <a:lnTo>
                    <a:pt x="17526" y="1843532"/>
                  </a:lnTo>
                  <a:cubicBezTo>
                    <a:pt x="15240" y="1847088"/>
                    <a:pt x="10922" y="1848739"/>
                    <a:pt x="6858" y="1847469"/>
                  </a:cubicBezTo>
                  <a:cubicBezTo>
                    <a:pt x="2794" y="1846199"/>
                    <a:pt x="0" y="1842516"/>
                    <a:pt x="0" y="1838325"/>
                  </a:cubicBezTo>
                  <a:moveTo>
                    <a:pt x="19050" y="1838325"/>
                  </a:moveTo>
                  <a:lnTo>
                    <a:pt x="9525" y="1838325"/>
                  </a:lnTo>
                  <a:lnTo>
                    <a:pt x="1524" y="1833118"/>
                  </a:lnTo>
                  <a:cubicBezTo>
                    <a:pt x="3810" y="1829562"/>
                    <a:pt x="8128" y="1827911"/>
                    <a:pt x="12192" y="1829181"/>
                  </a:cubicBezTo>
                  <a:cubicBezTo>
                    <a:pt x="16256" y="1830451"/>
                    <a:pt x="19050" y="1834134"/>
                    <a:pt x="19050" y="1838325"/>
                  </a:cubicBezTo>
                  <a:cubicBezTo>
                    <a:pt x="19050" y="2843022"/>
                    <a:pt x="833628" y="3657600"/>
                    <a:pt x="1838325" y="3657600"/>
                  </a:cubicBezTo>
                  <a:cubicBezTo>
                    <a:pt x="2843022" y="3657600"/>
                    <a:pt x="3657600" y="2843022"/>
                    <a:pt x="3657600" y="1838325"/>
                  </a:cubicBezTo>
                  <a:lnTo>
                    <a:pt x="3667125" y="1838325"/>
                  </a:lnTo>
                  <a:lnTo>
                    <a:pt x="3657600" y="1838325"/>
                  </a:lnTo>
                  <a:cubicBezTo>
                    <a:pt x="3657600" y="833628"/>
                    <a:pt x="2843022" y="19050"/>
                    <a:pt x="1838325" y="19050"/>
                  </a:cubicBezTo>
                  <a:lnTo>
                    <a:pt x="1838325" y="9525"/>
                  </a:lnTo>
                  <a:lnTo>
                    <a:pt x="1838325" y="19050"/>
                  </a:lnTo>
                  <a:cubicBezTo>
                    <a:pt x="833628" y="19050"/>
                    <a:pt x="19050" y="833628"/>
                    <a:pt x="19050" y="1838325"/>
                  </a:cubicBezTo>
                  <a:close/>
                </a:path>
              </a:pathLst>
            </a:custGeom>
            <a:solidFill>
              <a:srgbClr val="21322D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747236" y="678656"/>
            <a:ext cx="864680" cy="82868"/>
            <a:chOff x="0" y="0"/>
            <a:chExt cx="1152906" cy="11049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9525" y="9525"/>
              <a:ext cx="1133856" cy="91440"/>
            </a:xfrm>
            <a:custGeom>
              <a:avLst/>
              <a:gdLst/>
              <a:ahLst/>
              <a:cxnLst/>
              <a:rect r="r" b="b" t="t" l="l"/>
              <a:pathLst>
                <a:path h="91440" w="1133856">
                  <a:moveTo>
                    <a:pt x="0" y="0"/>
                  </a:moveTo>
                  <a:lnTo>
                    <a:pt x="1133856" y="0"/>
                  </a:lnTo>
                  <a:lnTo>
                    <a:pt x="1133856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74DE62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52906" cy="110490"/>
            </a:xfrm>
            <a:custGeom>
              <a:avLst/>
              <a:gdLst/>
              <a:ahLst/>
              <a:cxnLst/>
              <a:rect r="r" b="b" t="t" l="l"/>
              <a:pathLst>
                <a:path h="110490" w="1152906">
                  <a:moveTo>
                    <a:pt x="9525" y="0"/>
                  </a:moveTo>
                  <a:lnTo>
                    <a:pt x="1143381" y="0"/>
                  </a:lnTo>
                  <a:cubicBezTo>
                    <a:pt x="1148588" y="0"/>
                    <a:pt x="1152906" y="4318"/>
                    <a:pt x="1152906" y="9525"/>
                  </a:cubicBezTo>
                  <a:lnTo>
                    <a:pt x="1152906" y="100965"/>
                  </a:lnTo>
                  <a:cubicBezTo>
                    <a:pt x="1152906" y="106172"/>
                    <a:pt x="1148588" y="110490"/>
                    <a:pt x="1143381" y="110490"/>
                  </a:cubicBezTo>
                  <a:lnTo>
                    <a:pt x="9525" y="110490"/>
                  </a:lnTo>
                  <a:cubicBezTo>
                    <a:pt x="4318" y="110490"/>
                    <a:pt x="0" y="106172"/>
                    <a:pt x="0" y="100965"/>
                  </a:cubicBezTo>
                  <a:lnTo>
                    <a:pt x="0" y="9525"/>
                  </a:lnTo>
                  <a:cubicBezTo>
                    <a:pt x="0" y="4318"/>
                    <a:pt x="4318" y="0"/>
                    <a:pt x="9525" y="0"/>
                  </a:cubicBezTo>
                  <a:moveTo>
                    <a:pt x="9525" y="19050"/>
                  </a:moveTo>
                  <a:lnTo>
                    <a:pt x="9525" y="9525"/>
                  </a:lnTo>
                  <a:lnTo>
                    <a:pt x="19050" y="9525"/>
                  </a:lnTo>
                  <a:lnTo>
                    <a:pt x="19050" y="100965"/>
                  </a:lnTo>
                  <a:lnTo>
                    <a:pt x="9525" y="100965"/>
                  </a:lnTo>
                  <a:lnTo>
                    <a:pt x="9525" y="91440"/>
                  </a:lnTo>
                  <a:lnTo>
                    <a:pt x="1143381" y="91440"/>
                  </a:lnTo>
                  <a:lnTo>
                    <a:pt x="1143381" y="100965"/>
                  </a:lnTo>
                  <a:lnTo>
                    <a:pt x="1133856" y="100965"/>
                  </a:lnTo>
                  <a:lnTo>
                    <a:pt x="1133856" y="9525"/>
                  </a:lnTo>
                  <a:lnTo>
                    <a:pt x="1143381" y="9525"/>
                  </a:lnTo>
                  <a:lnTo>
                    <a:pt x="1143381" y="19050"/>
                  </a:lnTo>
                  <a:lnTo>
                    <a:pt x="9525" y="19050"/>
                  </a:lnTo>
                  <a:close/>
                </a:path>
              </a:pathLst>
            </a:custGeom>
            <a:solidFill>
              <a:srgbClr val="74DE62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781812" y="402336"/>
            <a:ext cx="6117336" cy="2377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86"/>
              </a:lnSpc>
            </a:pPr>
            <a:r>
              <a:rPr lang="en-US" sz="1155" b="true">
                <a:solidFill>
                  <a:srgbClr val="74DE62"/>
                </a:solidFill>
                <a:latin typeface="Aptos Bold"/>
                <a:ea typeface="Aptos Bold"/>
                <a:cs typeface="Aptos Bold"/>
                <a:sym typeface="Aptos Bold"/>
              </a:rPr>
              <a:t>RESULTS · DISCUSSION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81812" y="1046988"/>
            <a:ext cx="14758416" cy="7589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true">
                <a:solidFill>
                  <a:srgbClr val="F6FAF7"/>
                </a:solidFill>
                <a:latin typeface="Aptos Bold"/>
                <a:ea typeface="Aptos Bold"/>
                <a:cs typeface="Aptos Bold"/>
                <a:sym typeface="Aptos Bold"/>
              </a:rPr>
              <a:t>Final output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22960" y="1856232"/>
            <a:ext cx="15307056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BECDC3"/>
                </a:solidFill>
                <a:latin typeface="Aptos"/>
                <a:ea typeface="Aptos"/>
                <a:cs typeface="Aptos"/>
                <a:sym typeface="Aptos"/>
              </a:rPr>
              <a:t>Ranked candidate table with positive and negative controls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47236" y="3256407"/>
            <a:ext cx="5691817" cy="3048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F6FAF7"/>
                </a:solidFill>
                <a:latin typeface="Aptos"/>
                <a:ea typeface="Aptos"/>
                <a:cs typeface="Aptos"/>
                <a:sym typeface="Aptos"/>
              </a:rPr>
              <a:t>One row per query protein.</a:t>
            </a:r>
          </a:p>
          <a:p>
            <a:pPr algn="l">
              <a:lnSpc>
                <a:spcPts val="2430"/>
              </a:lnSpc>
            </a:pPr>
          </a:p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F6FAF7"/>
                </a:solidFill>
                <a:latin typeface="Aptos"/>
                <a:ea typeface="Aptos"/>
                <a:cs typeface="Aptos"/>
                <a:sym typeface="Aptos"/>
              </a:rPr>
              <a:t>Final RBP-Score, with partial evidence available in detailed output files.</a:t>
            </a:r>
          </a:p>
          <a:p>
            <a:pPr algn="l">
              <a:lnSpc>
                <a:spcPts val="2430"/>
              </a:lnSpc>
            </a:pPr>
          </a:p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F6FAF7"/>
                </a:solidFill>
                <a:latin typeface="Aptos"/>
                <a:ea typeface="Aptos"/>
                <a:cs typeface="Aptos"/>
                <a:sym typeface="Aptos"/>
              </a:rPr>
              <a:t>Detailed files allow inspection of the best references and supporting evidence.</a:t>
            </a:r>
          </a:p>
          <a:p>
            <a:pPr algn="l">
              <a:lnSpc>
                <a:spcPts val="2430"/>
              </a:lnSpc>
            </a:pPr>
          </a:p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F6FAF7"/>
                </a:solidFill>
                <a:latin typeface="Aptos"/>
                <a:ea typeface="Aptos"/>
                <a:cs typeface="Aptos"/>
                <a:sym typeface="Aptos"/>
              </a:rPr>
              <a:t>Positive and outgroup controls were included to evaluate expected behavior.</a:t>
            </a:r>
          </a:p>
        </p:txBody>
      </p:sp>
      <p:graphicFrame>
        <p:nvGraphicFramePr>
          <p:cNvPr name="Table 15" id="15"/>
          <p:cNvGraphicFramePr>
            <a:graphicFrameLocks noGrp="true"/>
          </p:cNvGraphicFramePr>
          <p:nvPr/>
        </p:nvGraphicFramePr>
        <p:xfrm>
          <a:off x="7194801" y="3026696"/>
          <a:ext cx="9753600" cy="5180013"/>
        </p:xfrm>
        <a:graphic>
          <a:graphicData uri="http://schemas.openxmlformats.org/drawingml/2006/table">
            <a:tbl>
              <a:tblPr/>
              <a:tblGrid>
                <a:gridCol w="2438400"/>
                <a:gridCol w="2438400"/>
                <a:gridCol w="2438400"/>
                <a:gridCol w="2438400"/>
              </a:tblGrid>
              <a:tr h="64750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564"/>
                        </a:lnSpc>
                        <a:defRPr/>
                      </a:pPr>
                      <a:r>
                        <a:rPr lang="en-US" sz="1303" b="true">
                          <a:solidFill>
                            <a:srgbClr val="F6FAF7"/>
                          </a:solidFill>
                          <a:latin typeface="Aptos Bold"/>
                          <a:ea typeface="Aptos Bold"/>
                          <a:cs typeface="Aptos Bold"/>
                          <a:sym typeface="Aptos Bold"/>
                        </a:rPr>
                        <a:t>Rank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D1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564"/>
                        </a:lnSpc>
                        <a:defRPr/>
                      </a:pPr>
                      <a:r>
                        <a:rPr lang="en-US" sz="1303" b="true">
                          <a:solidFill>
                            <a:srgbClr val="F6FAF7"/>
                          </a:solidFill>
                          <a:latin typeface="Aptos Bold"/>
                          <a:ea typeface="Aptos Bold"/>
                          <a:cs typeface="Aptos Bold"/>
                          <a:sym typeface="Aptos Bold"/>
                        </a:rPr>
                        <a:t>Query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D1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564"/>
                        </a:lnSpc>
                        <a:defRPr/>
                      </a:pPr>
                      <a:r>
                        <a:rPr lang="en-US" sz="1303" b="true">
                          <a:solidFill>
                            <a:srgbClr val="F6FAF7"/>
                          </a:solidFill>
                          <a:latin typeface="Aptos Bold"/>
                          <a:ea typeface="Aptos Bold"/>
                          <a:cs typeface="Aptos Bold"/>
                          <a:sym typeface="Aptos Bold"/>
                        </a:rPr>
                        <a:t>Label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D1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564"/>
                        </a:lnSpc>
                        <a:defRPr/>
                      </a:pPr>
                      <a:r>
                        <a:rPr lang="en-US" sz="1303" b="true">
                          <a:solidFill>
                            <a:srgbClr val="F6FAF7"/>
                          </a:solidFill>
                          <a:latin typeface="Aptos Bold"/>
                          <a:ea typeface="Aptos Bold"/>
                          <a:cs typeface="Aptos Bold"/>
                          <a:sym typeface="Aptos Bold"/>
                        </a:rPr>
                        <a:t>RBP-Score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D1C"/>
                    </a:solidFill>
                  </a:tcPr>
                </a:tc>
              </a:tr>
              <a:tr h="64750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564"/>
                        </a:lnSpc>
                        <a:defRPr/>
                      </a:pPr>
                      <a:r>
                        <a:rPr lang="en-US" sz="1303">
                          <a:solidFill>
                            <a:srgbClr val="BECDC3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1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E1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564"/>
                        </a:lnSpc>
                        <a:defRPr/>
                      </a:pPr>
                      <a:r>
                        <a:rPr lang="en-US" sz="1303">
                          <a:solidFill>
                            <a:srgbClr val="BECDC3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query2 / positive control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E1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564"/>
                        </a:lnSpc>
                        <a:defRPr/>
                      </a:pPr>
                      <a:r>
                        <a:rPr lang="en-US" sz="1303">
                          <a:solidFill>
                            <a:srgbClr val="BECDC3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positive_control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E1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564"/>
                        </a:lnSpc>
                        <a:defRPr/>
                      </a:pPr>
                      <a:r>
                        <a:rPr lang="en-US" sz="1303">
                          <a:solidFill>
                            <a:srgbClr val="BECDC3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0.954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E12"/>
                    </a:solidFill>
                  </a:tcPr>
                </a:tc>
              </a:tr>
              <a:tr h="64750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564"/>
                        </a:lnSpc>
                        <a:defRPr/>
                      </a:pPr>
                      <a:r>
                        <a:rPr lang="en-US" sz="1303">
                          <a:solidFill>
                            <a:srgbClr val="BECDC3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2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E1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564"/>
                        </a:lnSpc>
                        <a:defRPr/>
                      </a:pPr>
                      <a:r>
                        <a:rPr lang="en-US" sz="1303">
                          <a:solidFill>
                            <a:srgbClr val="BECDC3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query5 / K. pneumoniae K5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E1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564"/>
                        </a:lnSpc>
                        <a:defRPr/>
                      </a:pPr>
                      <a:r>
                        <a:rPr lang="en-US" sz="1303">
                          <a:solidFill>
                            <a:srgbClr val="BECDC3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pharbp_candidate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E1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564"/>
                        </a:lnSpc>
                        <a:defRPr/>
                      </a:pPr>
                      <a:r>
                        <a:rPr lang="en-US" sz="1303">
                          <a:solidFill>
                            <a:srgbClr val="BECDC3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0.814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E12"/>
                    </a:solidFill>
                  </a:tcPr>
                </a:tc>
              </a:tr>
              <a:tr h="64750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564"/>
                        </a:lnSpc>
                        <a:defRPr/>
                      </a:pPr>
                      <a:r>
                        <a:rPr lang="en-US" sz="1303">
                          <a:solidFill>
                            <a:srgbClr val="BECDC3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3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E1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564"/>
                        </a:lnSpc>
                        <a:defRPr/>
                      </a:pPr>
                      <a:r>
                        <a:rPr lang="en-US" sz="1303">
                          <a:solidFill>
                            <a:srgbClr val="BECDC3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query3 / Chedec_11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E1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564"/>
                        </a:lnSpc>
                        <a:defRPr/>
                      </a:pPr>
                      <a:r>
                        <a:rPr lang="en-US" sz="1303">
                          <a:solidFill>
                            <a:srgbClr val="BECDC3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pharbp_candidate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E1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564"/>
                        </a:lnSpc>
                        <a:defRPr/>
                      </a:pPr>
                      <a:r>
                        <a:rPr lang="en-US" sz="1303">
                          <a:solidFill>
                            <a:srgbClr val="BECDC3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0.479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E12"/>
                    </a:solidFill>
                  </a:tcPr>
                </a:tc>
              </a:tr>
              <a:tr h="64750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564"/>
                        </a:lnSpc>
                        <a:defRPr/>
                      </a:pPr>
                      <a:r>
                        <a:rPr lang="en-US" sz="1303">
                          <a:solidFill>
                            <a:srgbClr val="BECDC3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4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E1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564"/>
                        </a:lnSpc>
                        <a:defRPr/>
                      </a:pPr>
                      <a:r>
                        <a:rPr lang="en-US" sz="1303">
                          <a:solidFill>
                            <a:srgbClr val="BECDC3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query1 / random control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E1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564"/>
                        </a:lnSpc>
                        <a:defRPr/>
                      </a:pPr>
                      <a:r>
                        <a:rPr lang="en-US" sz="1303">
                          <a:solidFill>
                            <a:srgbClr val="BECDC3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random_candidate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E1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564"/>
                        </a:lnSpc>
                        <a:defRPr/>
                      </a:pPr>
                      <a:r>
                        <a:rPr lang="en-US" sz="1303">
                          <a:solidFill>
                            <a:srgbClr val="BECDC3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0.319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E12"/>
                    </a:solidFill>
                  </a:tcPr>
                </a:tc>
              </a:tr>
              <a:tr h="64750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564"/>
                        </a:lnSpc>
                        <a:defRPr/>
                      </a:pPr>
                      <a:r>
                        <a:rPr lang="en-US" sz="1303">
                          <a:solidFill>
                            <a:srgbClr val="BECDC3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5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E1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564"/>
                        </a:lnSpc>
                        <a:defRPr/>
                      </a:pPr>
                      <a:r>
                        <a:rPr lang="en-US" sz="1303">
                          <a:solidFill>
                            <a:srgbClr val="BECDC3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query4 / ViSo_2018a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E1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564"/>
                        </a:lnSpc>
                        <a:defRPr/>
                      </a:pPr>
                      <a:r>
                        <a:rPr lang="en-US" sz="1303">
                          <a:solidFill>
                            <a:srgbClr val="BECDC3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pharbp_candidate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E1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564"/>
                        </a:lnSpc>
                        <a:defRPr/>
                      </a:pPr>
                      <a:r>
                        <a:rPr lang="en-US" sz="1303">
                          <a:solidFill>
                            <a:srgbClr val="BECDC3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0.186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E12"/>
                    </a:solidFill>
                  </a:tcPr>
                </a:tc>
              </a:tr>
              <a:tr h="64750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564"/>
                        </a:lnSpc>
                        <a:defRPr/>
                      </a:pPr>
                      <a:r>
                        <a:rPr lang="en-US" sz="1303">
                          <a:solidFill>
                            <a:srgbClr val="BECDC3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6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E1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564"/>
                        </a:lnSpc>
                        <a:defRPr/>
                      </a:pPr>
                      <a:r>
                        <a:rPr lang="en-US" sz="1303">
                          <a:solidFill>
                            <a:srgbClr val="BECDC3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query6 / T4_OUTGROUP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E1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564"/>
                        </a:lnSpc>
                        <a:defRPr/>
                      </a:pPr>
                      <a:r>
                        <a:rPr lang="en-US" sz="1303">
                          <a:solidFill>
                            <a:srgbClr val="BECDC3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outgroup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E1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564"/>
                        </a:lnSpc>
                        <a:defRPr/>
                      </a:pPr>
                      <a:r>
                        <a:rPr lang="en-US" sz="1303">
                          <a:solidFill>
                            <a:srgbClr val="BECDC3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0.086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E12"/>
                    </a:solidFill>
                  </a:tcPr>
                </a:tc>
              </a:tr>
              <a:tr h="64750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564"/>
                        </a:lnSpc>
                        <a:defRPr/>
                      </a:pPr>
                      <a:r>
                        <a:rPr lang="en-US" sz="1303">
                          <a:solidFill>
                            <a:srgbClr val="BECDC3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7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E1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564"/>
                        </a:lnSpc>
                        <a:defRPr/>
                      </a:pPr>
                      <a:r>
                        <a:rPr lang="en-US" sz="1303">
                          <a:solidFill>
                            <a:srgbClr val="BECDC3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query7 / T5_OUTGROUP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E1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564"/>
                        </a:lnSpc>
                        <a:defRPr/>
                      </a:pPr>
                      <a:r>
                        <a:rPr lang="en-US" sz="1303">
                          <a:solidFill>
                            <a:srgbClr val="BECDC3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outgroup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E1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564"/>
                        </a:lnSpc>
                        <a:defRPr/>
                      </a:pPr>
                      <a:r>
                        <a:rPr lang="en-US" sz="1303">
                          <a:solidFill>
                            <a:srgbClr val="BECDC3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0.039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E12"/>
                    </a:solidFill>
                  </a:tcPr>
                </a:tc>
              </a:tr>
            </a:tbl>
          </a:graphicData>
        </a:graphic>
      </p:graphicFrame>
      <p:sp>
        <p:nvSpPr>
          <p:cNvPr name="TextBox 16" id="16"/>
          <p:cNvSpPr txBox="true"/>
          <p:nvPr/>
        </p:nvSpPr>
        <p:spPr>
          <a:xfrm rot="0">
            <a:off x="877824" y="9500235"/>
            <a:ext cx="1933956" cy="2198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4"/>
              </a:lnSpc>
            </a:pPr>
            <a:r>
              <a:rPr lang="en-US" sz="1170" b="true">
                <a:solidFill>
                  <a:srgbClr val="74DE62"/>
                </a:solidFill>
                <a:latin typeface="Aptos Bold"/>
                <a:ea typeface="Aptos Bold"/>
                <a:cs typeface="Aptos Bold"/>
                <a:sym typeface="Aptos Bold"/>
              </a:rPr>
              <a:t>KEY MESSAGE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523744" y="9427464"/>
            <a:ext cx="14621256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F6FAF7"/>
                </a:solidFill>
                <a:latin typeface="Aptos"/>
                <a:ea typeface="Aptos"/>
                <a:cs typeface="Aptos"/>
                <a:sym typeface="Aptos"/>
              </a:rPr>
              <a:t>The positive control ranks highest, while outgroup controls are strongly deprioritized.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6692372" y="9454896"/>
            <a:ext cx="905256" cy="210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439"/>
              </a:lnSpc>
            </a:pPr>
            <a:r>
              <a:rPr lang="en-US" sz="1200">
                <a:solidFill>
                  <a:srgbClr val="BECDC3"/>
                </a:solidFill>
                <a:latin typeface="Aptos"/>
                <a:ea typeface="Aptos"/>
                <a:cs typeface="Aptos"/>
                <a:sym typeface="Aptos"/>
              </a:rPr>
              <a:t>10/12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0513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903416" y="-555784"/>
            <a:ext cx="3168967" cy="3168967"/>
            <a:chOff x="0" y="0"/>
            <a:chExt cx="4225290" cy="422529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9525" y="9525"/>
              <a:ext cx="4206240" cy="4206240"/>
            </a:xfrm>
            <a:custGeom>
              <a:avLst/>
              <a:gdLst/>
              <a:ahLst/>
              <a:cxnLst/>
              <a:rect r="r" b="b" t="t" l="l"/>
              <a:pathLst>
                <a:path h="4206240" w="4206240">
                  <a:moveTo>
                    <a:pt x="0" y="2103120"/>
                  </a:moveTo>
                  <a:cubicBezTo>
                    <a:pt x="0" y="941578"/>
                    <a:pt x="941578" y="0"/>
                    <a:pt x="2103120" y="0"/>
                  </a:cubicBezTo>
                  <a:cubicBezTo>
                    <a:pt x="3264662" y="0"/>
                    <a:pt x="4206240" y="941578"/>
                    <a:pt x="4206240" y="2103120"/>
                  </a:cubicBezTo>
                  <a:cubicBezTo>
                    <a:pt x="4206240" y="3264662"/>
                    <a:pt x="3264662" y="4206240"/>
                    <a:pt x="2103120" y="4206240"/>
                  </a:cubicBezTo>
                  <a:cubicBezTo>
                    <a:pt x="941578" y="4206240"/>
                    <a:pt x="0" y="3264662"/>
                    <a:pt x="0" y="2103120"/>
                  </a:cubicBezTo>
                  <a:close/>
                </a:path>
              </a:pathLst>
            </a:custGeom>
            <a:solidFill>
              <a:srgbClr val="283732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25290" cy="4225290"/>
            </a:xfrm>
            <a:custGeom>
              <a:avLst/>
              <a:gdLst/>
              <a:ahLst/>
              <a:cxnLst/>
              <a:rect r="r" b="b" t="t" l="l"/>
              <a:pathLst>
                <a:path h="4225290" w="4225290">
                  <a:moveTo>
                    <a:pt x="0" y="2112645"/>
                  </a:moveTo>
                  <a:cubicBezTo>
                    <a:pt x="0" y="945896"/>
                    <a:pt x="945896" y="0"/>
                    <a:pt x="2112645" y="0"/>
                  </a:cubicBezTo>
                  <a:lnTo>
                    <a:pt x="2112645" y="9525"/>
                  </a:lnTo>
                  <a:lnTo>
                    <a:pt x="2112645" y="0"/>
                  </a:lnTo>
                  <a:cubicBezTo>
                    <a:pt x="3279394" y="0"/>
                    <a:pt x="4225290" y="945896"/>
                    <a:pt x="4225290" y="2112645"/>
                  </a:cubicBezTo>
                  <a:lnTo>
                    <a:pt x="4215765" y="2112645"/>
                  </a:lnTo>
                  <a:lnTo>
                    <a:pt x="4225290" y="2112645"/>
                  </a:lnTo>
                  <a:cubicBezTo>
                    <a:pt x="4225290" y="3279394"/>
                    <a:pt x="3279394" y="4225290"/>
                    <a:pt x="2112645" y="4225290"/>
                  </a:cubicBezTo>
                  <a:lnTo>
                    <a:pt x="2112645" y="4215765"/>
                  </a:lnTo>
                  <a:lnTo>
                    <a:pt x="2112645" y="4225290"/>
                  </a:lnTo>
                  <a:cubicBezTo>
                    <a:pt x="945896" y="4225290"/>
                    <a:pt x="0" y="3279394"/>
                    <a:pt x="0" y="2112645"/>
                  </a:cubicBezTo>
                  <a:lnTo>
                    <a:pt x="9525" y="2112645"/>
                  </a:lnTo>
                  <a:lnTo>
                    <a:pt x="19050" y="2112645"/>
                  </a:lnTo>
                  <a:lnTo>
                    <a:pt x="9525" y="2112645"/>
                  </a:lnTo>
                  <a:lnTo>
                    <a:pt x="0" y="2112645"/>
                  </a:lnTo>
                  <a:moveTo>
                    <a:pt x="19050" y="2112645"/>
                  </a:moveTo>
                  <a:cubicBezTo>
                    <a:pt x="19050" y="2117852"/>
                    <a:pt x="14732" y="2122170"/>
                    <a:pt x="9525" y="2122170"/>
                  </a:cubicBezTo>
                  <a:cubicBezTo>
                    <a:pt x="4318" y="2122170"/>
                    <a:pt x="0" y="2117852"/>
                    <a:pt x="0" y="2112645"/>
                  </a:cubicBezTo>
                  <a:cubicBezTo>
                    <a:pt x="0" y="2107438"/>
                    <a:pt x="4318" y="2103120"/>
                    <a:pt x="9525" y="2103120"/>
                  </a:cubicBezTo>
                  <a:cubicBezTo>
                    <a:pt x="14732" y="2103120"/>
                    <a:pt x="19050" y="2107438"/>
                    <a:pt x="19050" y="2112645"/>
                  </a:cubicBezTo>
                  <a:cubicBezTo>
                    <a:pt x="19050" y="3268853"/>
                    <a:pt x="956437" y="4206240"/>
                    <a:pt x="2112645" y="4206240"/>
                  </a:cubicBezTo>
                  <a:cubicBezTo>
                    <a:pt x="3268853" y="4206240"/>
                    <a:pt x="4206240" y="3268853"/>
                    <a:pt x="4206240" y="2112645"/>
                  </a:cubicBezTo>
                  <a:cubicBezTo>
                    <a:pt x="4206240" y="956437"/>
                    <a:pt x="3268853" y="19050"/>
                    <a:pt x="2112645" y="19050"/>
                  </a:cubicBezTo>
                  <a:lnTo>
                    <a:pt x="2112645" y="9525"/>
                  </a:lnTo>
                  <a:lnTo>
                    <a:pt x="2112645" y="19050"/>
                  </a:lnTo>
                  <a:cubicBezTo>
                    <a:pt x="956437" y="19050"/>
                    <a:pt x="19050" y="956437"/>
                    <a:pt x="19050" y="2112645"/>
                  </a:cubicBezTo>
                  <a:close/>
                </a:path>
              </a:pathLst>
            </a:custGeom>
            <a:solidFill>
              <a:srgbClr val="283732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-1104424" y="8359616"/>
            <a:ext cx="2757488" cy="2757488"/>
            <a:chOff x="0" y="0"/>
            <a:chExt cx="3676650" cy="367665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9525" y="9525"/>
              <a:ext cx="3657600" cy="3657600"/>
            </a:xfrm>
            <a:custGeom>
              <a:avLst/>
              <a:gdLst/>
              <a:ahLst/>
              <a:cxnLst/>
              <a:rect r="r" b="b" t="t" l="l"/>
              <a:pathLst>
                <a:path h="3657600" w="3657600">
                  <a:moveTo>
                    <a:pt x="0" y="1828800"/>
                  </a:moveTo>
                  <a:cubicBezTo>
                    <a:pt x="0" y="818769"/>
                    <a:pt x="818769" y="0"/>
                    <a:pt x="1828800" y="0"/>
                  </a:cubicBezTo>
                  <a:cubicBezTo>
                    <a:pt x="2838831" y="0"/>
                    <a:pt x="3657600" y="818769"/>
                    <a:pt x="3657600" y="1828800"/>
                  </a:cubicBezTo>
                  <a:cubicBezTo>
                    <a:pt x="3657600" y="2838831"/>
                    <a:pt x="2838831" y="3657600"/>
                    <a:pt x="1828800" y="3657600"/>
                  </a:cubicBezTo>
                  <a:cubicBezTo>
                    <a:pt x="818769" y="3657600"/>
                    <a:pt x="0" y="2838831"/>
                    <a:pt x="0" y="1828800"/>
                  </a:cubicBezTo>
                  <a:close/>
                </a:path>
              </a:pathLst>
            </a:custGeom>
            <a:solidFill>
              <a:srgbClr val="21322D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676650" cy="3676650"/>
            </a:xfrm>
            <a:custGeom>
              <a:avLst/>
              <a:gdLst/>
              <a:ahLst/>
              <a:cxnLst/>
              <a:rect r="r" b="b" t="t" l="l"/>
              <a:pathLst>
                <a:path h="3676650" w="3676650">
                  <a:moveTo>
                    <a:pt x="0" y="1838325"/>
                  </a:moveTo>
                  <a:cubicBezTo>
                    <a:pt x="0" y="823087"/>
                    <a:pt x="823087" y="0"/>
                    <a:pt x="1838325" y="0"/>
                  </a:cubicBezTo>
                  <a:lnTo>
                    <a:pt x="1838325" y="9525"/>
                  </a:lnTo>
                  <a:lnTo>
                    <a:pt x="1838325" y="0"/>
                  </a:lnTo>
                  <a:cubicBezTo>
                    <a:pt x="2853563" y="0"/>
                    <a:pt x="3676650" y="823087"/>
                    <a:pt x="3676650" y="1838325"/>
                  </a:cubicBezTo>
                  <a:cubicBezTo>
                    <a:pt x="3676650" y="2853563"/>
                    <a:pt x="2853563" y="3676650"/>
                    <a:pt x="1838325" y="3676650"/>
                  </a:cubicBezTo>
                  <a:lnTo>
                    <a:pt x="1838325" y="3667125"/>
                  </a:lnTo>
                  <a:lnTo>
                    <a:pt x="1838325" y="3676650"/>
                  </a:lnTo>
                  <a:cubicBezTo>
                    <a:pt x="823087" y="3676650"/>
                    <a:pt x="0" y="2853563"/>
                    <a:pt x="0" y="1838325"/>
                  </a:cubicBezTo>
                  <a:lnTo>
                    <a:pt x="9525" y="1838325"/>
                  </a:lnTo>
                  <a:lnTo>
                    <a:pt x="17526" y="1843532"/>
                  </a:lnTo>
                  <a:cubicBezTo>
                    <a:pt x="15240" y="1847088"/>
                    <a:pt x="10922" y="1848739"/>
                    <a:pt x="6858" y="1847469"/>
                  </a:cubicBezTo>
                  <a:cubicBezTo>
                    <a:pt x="2794" y="1846199"/>
                    <a:pt x="0" y="1842516"/>
                    <a:pt x="0" y="1838325"/>
                  </a:cubicBezTo>
                  <a:moveTo>
                    <a:pt x="19050" y="1838325"/>
                  </a:moveTo>
                  <a:lnTo>
                    <a:pt x="9525" y="1838325"/>
                  </a:lnTo>
                  <a:lnTo>
                    <a:pt x="1524" y="1833118"/>
                  </a:lnTo>
                  <a:cubicBezTo>
                    <a:pt x="3810" y="1829562"/>
                    <a:pt x="8128" y="1827911"/>
                    <a:pt x="12192" y="1829181"/>
                  </a:cubicBezTo>
                  <a:cubicBezTo>
                    <a:pt x="16256" y="1830451"/>
                    <a:pt x="19050" y="1834134"/>
                    <a:pt x="19050" y="1838325"/>
                  </a:cubicBezTo>
                  <a:cubicBezTo>
                    <a:pt x="19050" y="2843022"/>
                    <a:pt x="833628" y="3657600"/>
                    <a:pt x="1838325" y="3657600"/>
                  </a:cubicBezTo>
                  <a:cubicBezTo>
                    <a:pt x="2843022" y="3657600"/>
                    <a:pt x="3657600" y="2843022"/>
                    <a:pt x="3657600" y="1838325"/>
                  </a:cubicBezTo>
                  <a:lnTo>
                    <a:pt x="3667125" y="1838325"/>
                  </a:lnTo>
                  <a:lnTo>
                    <a:pt x="3657600" y="1838325"/>
                  </a:lnTo>
                  <a:cubicBezTo>
                    <a:pt x="3657600" y="833628"/>
                    <a:pt x="2843022" y="19050"/>
                    <a:pt x="1838325" y="19050"/>
                  </a:cubicBezTo>
                  <a:lnTo>
                    <a:pt x="1838325" y="9525"/>
                  </a:lnTo>
                  <a:lnTo>
                    <a:pt x="1838325" y="19050"/>
                  </a:lnTo>
                  <a:cubicBezTo>
                    <a:pt x="833628" y="19050"/>
                    <a:pt x="19050" y="833628"/>
                    <a:pt x="19050" y="1838325"/>
                  </a:cubicBezTo>
                  <a:close/>
                </a:path>
              </a:pathLst>
            </a:custGeom>
            <a:solidFill>
              <a:srgbClr val="21322D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747236" y="678656"/>
            <a:ext cx="864680" cy="82868"/>
            <a:chOff x="0" y="0"/>
            <a:chExt cx="1152906" cy="11049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9525" y="9525"/>
              <a:ext cx="1133856" cy="91440"/>
            </a:xfrm>
            <a:custGeom>
              <a:avLst/>
              <a:gdLst/>
              <a:ahLst/>
              <a:cxnLst/>
              <a:rect r="r" b="b" t="t" l="l"/>
              <a:pathLst>
                <a:path h="91440" w="1133856">
                  <a:moveTo>
                    <a:pt x="0" y="0"/>
                  </a:moveTo>
                  <a:lnTo>
                    <a:pt x="1133856" y="0"/>
                  </a:lnTo>
                  <a:lnTo>
                    <a:pt x="1133856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74DE62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52906" cy="110490"/>
            </a:xfrm>
            <a:custGeom>
              <a:avLst/>
              <a:gdLst/>
              <a:ahLst/>
              <a:cxnLst/>
              <a:rect r="r" b="b" t="t" l="l"/>
              <a:pathLst>
                <a:path h="110490" w="1152906">
                  <a:moveTo>
                    <a:pt x="9525" y="0"/>
                  </a:moveTo>
                  <a:lnTo>
                    <a:pt x="1143381" y="0"/>
                  </a:lnTo>
                  <a:cubicBezTo>
                    <a:pt x="1148588" y="0"/>
                    <a:pt x="1152906" y="4318"/>
                    <a:pt x="1152906" y="9525"/>
                  </a:cubicBezTo>
                  <a:lnTo>
                    <a:pt x="1152906" y="100965"/>
                  </a:lnTo>
                  <a:cubicBezTo>
                    <a:pt x="1152906" y="106172"/>
                    <a:pt x="1148588" y="110490"/>
                    <a:pt x="1143381" y="110490"/>
                  </a:cubicBezTo>
                  <a:lnTo>
                    <a:pt x="9525" y="110490"/>
                  </a:lnTo>
                  <a:cubicBezTo>
                    <a:pt x="4318" y="110490"/>
                    <a:pt x="0" y="106172"/>
                    <a:pt x="0" y="100965"/>
                  </a:cubicBezTo>
                  <a:lnTo>
                    <a:pt x="0" y="9525"/>
                  </a:lnTo>
                  <a:cubicBezTo>
                    <a:pt x="0" y="4318"/>
                    <a:pt x="4318" y="0"/>
                    <a:pt x="9525" y="0"/>
                  </a:cubicBezTo>
                  <a:moveTo>
                    <a:pt x="9525" y="19050"/>
                  </a:moveTo>
                  <a:lnTo>
                    <a:pt x="9525" y="9525"/>
                  </a:lnTo>
                  <a:lnTo>
                    <a:pt x="19050" y="9525"/>
                  </a:lnTo>
                  <a:lnTo>
                    <a:pt x="19050" y="100965"/>
                  </a:lnTo>
                  <a:lnTo>
                    <a:pt x="9525" y="100965"/>
                  </a:lnTo>
                  <a:lnTo>
                    <a:pt x="9525" y="91440"/>
                  </a:lnTo>
                  <a:lnTo>
                    <a:pt x="1143381" y="91440"/>
                  </a:lnTo>
                  <a:lnTo>
                    <a:pt x="1143381" y="100965"/>
                  </a:lnTo>
                  <a:lnTo>
                    <a:pt x="1133856" y="100965"/>
                  </a:lnTo>
                  <a:lnTo>
                    <a:pt x="1133856" y="9525"/>
                  </a:lnTo>
                  <a:lnTo>
                    <a:pt x="1143381" y="9525"/>
                  </a:lnTo>
                  <a:lnTo>
                    <a:pt x="1143381" y="19050"/>
                  </a:lnTo>
                  <a:lnTo>
                    <a:pt x="9525" y="19050"/>
                  </a:lnTo>
                  <a:close/>
                </a:path>
              </a:pathLst>
            </a:custGeom>
            <a:solidFill>
              <a:srgbClr val="74DE62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781812" y="402336"/>
            <a:ext cx="6117336" cy="2377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86"/>
              </a:lnSpc>
            </a:pPr>
            <a:r>
              <a:rPr lang="en-US" sz="1155" b="true">
                <a:solidFill>
                  <a:srgbClr val="74DE62"/>
                </a:solidFill>
                <a:latin typeface="Aptos Bold"/>
                <a:ea typeface="Aptos Bold"/>
                <a:cs typeface="Aptos Bold"/>
                <a:sym typeface="Aptos Bold"/>
              </a:rPr>
              <a:t>RESULTS · DISCUSSION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81812" y="1046988"/>
            <a:ext cx="14758416" cy="7589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true">
                <a:solidFill>
                  <a:srgbClr val="F6FAF7"/>
                </a:solidFill>
                <a:latin typeface="Aptos Bold"/>
                <a:ea typeface="Aptos Bold"/>
                <a:cs typeface="Aptos Bold"/>
                <a:sym typeface="Aptos Bold"/>
              </a:rPr>
              <a:t>Outgroup-based penalty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22960" y="1856232"/>
            <a:ext cx="15307056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BECDC3"/>
                </a:solidFill>
                <a:latin typeface="Aptos"/>
                <a:ea typeface="Aptos"/>
                <a:cs typeface="Aptos"/>
                <a:sym typeface="Aptos"/>
              </a:rPr>
              <a:t>N</a:t>
            </a:r>
            <a:r>
              <a:rPr lang="en-US" sz="2025">
                <a:solidFill>
                  <a:srgbClr val="BECDC3"/>
                </a:solidFill>
                <a:latin typeface="Aptos"/>
                <a:ea typeface="Aptos"/>
                <a:cs typeface="Aptos"/>
                <a:sym typeface="Aptos"/>
              </a:rPr>
              <a:t>egative evidence across the three analysis layers</a:t>
            </a:r>
          </a:p>
          <a:p>
            <a:pPr algn="l">
              <a:lnSpc>
                <a:spcPts val="2430"/>
              </a:lnSpc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1005840" y="2957322"/>
            <a:ext cx="8652329" cy="421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5"/>
              </a:lnSpc>
            </a:pPr>
            <a:r>
              <a:rPr lang="en-US" sz="2129">
                <a:solidFill>
                  <a:srgbClr val="F6FAF7"/>
                </a:solidFill>
                <a:latin typeface="Aptos"/>
                <a:ea typeface="Aptos"/>
                <a:cs typeface="Aptos"/>
                <a:sym typeface="Aptos"/>
              </a:rPr>
              <a:t>N</a:t>
            </a:r>
            <a:r>
              <a:rPr lang="en-US" sz="2129">
                <a:solidFill>
                  <a:srgbClr val="F6FAF7"/>
                </a:solidFill>
                <a:latin typeface="Aptos"/>
                <a:ea typeface="Aptos"/>
                <a:cs typeface="Aptos"/>
                <a:sym typeface="Aptos"/>
              </a:rPr>
              <a:t>on-RBP tail-associated proteins were used as outgroup controls.</a:t>
            </a:r>
          </a:p>
          <a:p>
            <a:pPr algn="l">
              <a:lnSpc>
                <a:spcPts val="2555"/>
              </a:lnSpc>
            </a:pPr>
          </a:p>
          <a:p>
            <a:pPr algn="l">
              <a:lnSpc>
                <a:spcPts val="2555"/>
              </a:lnSpc>
            </a:pPr>
            <a:r>
              <a:rPr lang="en-US" sz="2129">
                <a:solidFill>
                  <a:srgbClr val="F6FAF7"/>
                </a:solidFill>
                <a:latin typeface="Aptos"/>
                <a:ea typeface="Aptos"/>
                <a:cs typeface="Aptos"/>
                <a:sym typeface="Aptos"/>
              </a:rPr>
              <a:t>For each query, the best outgroup match is reported separately for:</a:t>
            </a:r>
          </a:p>
          <a:p>
            <a:pPr algn="l">
              <a:lnSpc>
                <a:spcPts val="2555"/>
              </a:lnSpc>
            </a:pPr>
          </a:p>
          <a:p>
            <a:pPr algn="l" marL="459867" indent="-229933" lvl="1">
              <a:lnSpc>
                <a:spcPts val="2555"/>
              </a:lnSpc>
              <a:buFont typeface="Arial"/>
              <a:buChar char="•"/>
            </a:pPr>
            <a:r>
              <a:rPr lang="en-US" sz="2129">
                <a:solidFill>
                  <a:srgbClr val="F6FAF7"/>
                </a:solidFill>
                <a:latin typeface="Aptos"/>
                <a:ea typeface="Aptos"/>
                <a:cs typeface="Aptos"/>
                <a:sym typeface="Aptos"/>
              </a:rPr>
              <a:t>Sequence analysis</a:t>
            </a:r>
          </a:p>
          <a:p>
            <a:pPr algn="l" marL="459867" indent="-229933" lvl="1">
              <a:lnSpc>
                <a:spcPts val="2555"/>
              </a:lnSpc>
              <a:buFont typeface="Arial"/>
              <a:buChar char="•"/>
            </a:pPr>
            <a:r>
              <a:rPr lang="en-US" sz="2129">
                <a:solidFill>
                  <a:srgbClr val="F6FAF7"/>
                </a:solidFill>
                <a:latin typeface="Aptos"/>
                <a:ea typeface="Aptos"/>
                <a:cs typeface="Aptos"/>
                <a:sym typeface="Aptos"/>
              </a:rPr>
              <a:t>Evolutionary </a:t>
            </a:r>
            <a:r>
              <a:rPr lang="en-US" sz="2129">
                <a:solidFill>
                  <a:srgbClr val="F6FAF7"/>
                </a:solidFill>
                <a:latin typeface="Aptos"/>
                <a:ea typeface="Aptos"/>
                <a:cs typeface="Aptos"/>
                <a:sym typeface="Aptos"/>
              </a:rPr>
              <a:t>analysis</a:t>
            </a:r>
          </a:p>
          <a:p>
            <a:pPr algn="l" marL="459867" indent="-229933" lvl="1">
              <a:lnSpc>
                <a:spcPts val="2555"/>
              </a:lnSpc>
              <a:buFont typeface="Arial"/>
              <a:buChar char="•"/>
            </a:pPr>
            <a:r>
              <a:rPr lang="en-US" sz="2129">
                <a:solidFill>
                  <a:srgbClr val="F6FAF7"/>
                </a:solidFill>
                <a:latin typeface="Aptos"/>
                <a:ea typeface="Aptos"/>
                <a:cs typeface="Aptos"/>
                <a:sym typeface="Aptos"/>
              </a:rPr>
              <a:t>S</a:t>
            </a:r>
            <a:r>
              <a:rPr lang="en-US" sz="2129">
                <a:solidFill>
                  <a:srgbClr val="F6FAF7"/>
                </a:solidFill>
                <a:latin typeface="Aptos"/>
                <a:ea typeface="Aptos"/>
                <a:cs typeface="Aptos"/>
                <a:sym typeface="Aptos"/>
              </a:rPr>
              <a:t>tructural analysis</a:t>
            </a:r>
          </a:p>
          <a:p>
            <a:pPr algn="l">
              <a:lnSpc>
                <a:spcPts val="2556"/>
              </a:lnSpc>
            </a:pPr>
          </a:p>
          <a:p>
            <a:pPr algn="l">
              <a:lnSpc>
                <a:spcPts val="2555"/>
              </a:lnSpc>
            </a:pPr>
            <a:r>
              <a:rPr lang="en-US" sz="2129">
                <a:solidFill>
                  <a:srgbClr val="F6FAF7"/>
                </a:solidFill>
                <a:latin typeface="Aptos"/>
                <a:ea typeface="Aptos"/>
                <a:cs typeface="Aptos"/>
                <a:sym typeface="Aptos"/>
              </a:rPr>
              <a:t>Outgroup similarity reduces the corresponding effective score.</a:t>
            </a:r>
          </a:p>
          <a:p>
            <a:pPr algn="l">
              <a:lnSpc>
                <a:spcPts val="2555"/>
              </a:lnSpc>
            </a:pPr>
          </a:p>
          <a:p>
            <a:pPr algn="l">
              <a:lnSpc>
                <a:spcPts val="2556"/>
              </a:lnSpc>
            </a:pPr>
          </a:p>
          <a:p>
            <a:pPr algn="l">
              <a:lnSpc>
                <a:spcPts val="2555"/>
              </a:lnSpc>
            </a:pPr>
            <a:r>
              <a:rPr lang="en-US" sz="2129">
                <a:solidFill>
                  <a:srgbClr val="F6FAF7"/>
                </a:solidFill>
                <a:latin typeface="Aptos"/>
                <a:ea typeface="Aptos"/>
                <a:cs typeface="Aptos"/>
                <a:sym typeface="Aptos"/>
              </a:rPr>
              <a:t>Penalization is proportional to outgroup similarity and configurable.</a:t>
            </a:r>
          </a:p>
          <a:p>
            <a:pPr algn="l">
              <a:lnSpc>
                <a:spcPts val="2556"/>
              </a:lnSpc>
            </a:pPr>
          </a:p>
        </p:txBody>
      </p:sp>
      <p:grpSp>
        <p:nvGrpSpPr>
          <p:cNvPr name="Group 15" id="15"/>
          <p:cNvGrpSpPr/>
          <p:nvPr/>
        </p:nvGrpSpPr>
        <p:grpSpPr>
          <a:xfrm rot="0">
            <a:off x="9734550" y="2986849"/>
            <a:ext cx="6848475" cy="2007870"/>
            <a:chOff x="0" y="0"/>
            <a:chExt cx="9077960" cy="266152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12700" y="18230"/>
              <a:ext cx="9052561" cy="2625062"/>
            </a:xfrm>
            <a:custGeom>
              <a:avLst/>
              <a:gdLst/>
              <a:ahLst/>
              <a:cxnLst/>
              <a:rect r="r" b="b" t="t" l="l"/>
              <a:pathLst>
                <a:path h="2625062" w="9052561">
                  <a:moveTo>
                    <a:pt x="0" y="437510"/>
                  </a:moveTo>
                  <a:cubicBezTo>
                    <a:pt x="0" y="195968"/>
                    <a:pt x="137922" y="0"/>
                    <a:pt x="308229" y="0"/>
                  </a:cubicBezTo>
                  <a:lnTo>
                    <a:pt x="8744331" y="0"/>
                  </a:lnTo>
                  <a:cubicBezTo>
                    <a:pt x="8914512" y="0"/>
                    <a:pt x="9052561" y="195968"/>
                    <a:pt x="9052561" y="437510"/>
                  </a:cubicBezTo>
                  <a:lnTo>
                    <a:pt x="9052561" y="2187551"/>
                  </a:lnTo>
                  <a:cubicBezTo>
                    <a:pt x="9052561" y="2429276"/>
                    <a:pt x="8914638" y="2625062"/>
                    <a:pt x="8744331" y="2625062"/>
                  </a:cubicBezTo>
                  <a:lnTo>
                    <a:pt x="308229" y="2625062"/>
                  </a:lnTo>
                  <a:cubicBezTo>
                    <a:pt x="137922" y="2625062"/>
                    <a:pt x="0" y="2429094"/>
                    <a:pt x="0" y="2187551"/>
                  </a:cubicBezTo>
                  <a:close/>
                </a:path>
              </a:pathLst>
            </a:custGeom>
            <a:solidFill>
              <a:srgbClr val="0A1E12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077961" cy="2661521"/>
            </a:xfrm>
            <a:custGeom>
              <a:avLst/>
              <a:gdLst/>
              <a:ahLst/>
              <a:cxnLst/>
              <a:rect r="r" b="b" t="t" l="l"/>
              <a:pathLst>
                <a:path h="2661521" w="9077961">
                  <a:moveTo>
                    <a:pt x="0" y="455740"/>
                  </a:moveTo>
                  <a:cubicBezTo>
                    <a:pt x="0" y="203807"/>
                    <a:pt x="143764" y="0"/>
                    <a:pt x="320929" y="0"/>
                  </a:cubicBezTo>
                  <a:lnTo>
                    <a:pt x="8757031" y="0"/>
                  </a:lnTo>
                  <a:lnTo>
                    <a:pt x="8757031" y="18230"/>
                  </a:lnTo>
                  <a:lnTo>
                    <a:pt x="8757031" y="0"/>
                  </a:lnTo>
                  <a:cubicBezTo>
                    <a:pt x="8934069" y="0"/>
                    <a:pt x="9077961" y="203807"/>
                    <a:pt x="9077961" y="455740"/>
                  </a:cubicBezTo>
                  <a:lnTo>
                    <a:pt x="9065261" y="455740"/>
                  </a:lnTo>
                  <a:lnTo>
                    <a:pt x="9077961" y="455740"/>
                  </a:lnTo>
                  <a:lnTo>
                    <a:pt x="9077961" y="2205781"/>
                  </a:lnTo>
                  <a:lnTo>
                    <a:pt x="9065261" y="2205781"/>
                  </a:lnTo>
                  <a:lnTo>
                    <a:pt x="9077961" y="2205781"/>
                  </a:lnTo>
                  <a:cubicBezTo>
                    <a:pt x="9077961" y="2457715"/>
                    <a:pt x="8934197" y="2661521"/>
                    <a:pt x="8757031" y="2661521"/>
                  </a:cubicBezTo>
                  <a:lnTo>
                    <a:pt x="8757031" y="2643292"/>
                  </a:lnTo>
                  <a:lnTo>
                    <a:pt x="8757031" y="2661521"/>
                  </a:lnTo>
                  <a:lnTo>
                    <a:pt x="320929" y="2661521"/>
                  </a:lnTo>
                  <a:lnTo>
                    <a:pt x="320929" y="2643292"/>
                  </a:lnTo>
                  <a:lnTo>
                    <a:pt x="320929" y="2661521"/>
                  </a:lnTo>
                  <a:cubicBezTo>
                    <a:pt x="143764" y="2661521"/>
                    <a:pt x="0" y="2457715"/>
                    <a:pt x="0" y="2205781"/>
                  </a:cubicBezTo>
                  <a:lnTo>
                    <a:pt x="0" y="455740"/>
                  </a:lnTo>
                  <a:lnTo>
                    <a:pt x="12700" y="455740"/>
                  </a:lnTo>
                  <a:lnTo>
                    <a:pt x="0" y="455740"/>
                  </a:lnTo>
                  <a:moveTo>
                    <a:pt x="25400" y="455740"/>
                  </a:moveTo>
                  <a:lnTo>
                    <a:pt x="25400" y="2205781"/>
                  </a:lnTo>
                  <a:lnTo>
                    <a:pt x="12700" y="2205781"/>
                  </a:lnTo>
                  <a:lnTo>
                    <a:pt x="25400" y="2205781"/>
                  </a:lnTo>
                  <a:cubicBezTo>
                    <a:pt x="25400" y="2437115"/>
                    <a:pt x="157607" y="2625062"/>
                    <a:pt x="320929" y="2625062"/>
                  </a:cubicBezTo>
                  <a:lnTo>
                    <a:pt x="8757031" y="2625062"/>
                  </a:lnTo>
                  <a:cubicBezTo>
                    <a:pt x="8920353" y="2625062"/>
                    <a:pt x="9052561" y="2437115"/>
                    <a:pt x="9052561" y="2205781"/>
                  </a:cubicBezTo>
                  <a:lnTo>
                    <a:pt x="9052561" y="455740"/>
                  </a:lnTo>
                  <a:cubicBezTo>
                    <a:pt x="9052561" y="224406"/>
                    <a:pt x="8920353" y="36459"/>
                    <a:pt x="8757031" y="36459"/>
                  </a:cubicBezTo>
                  <a:lnTo>
                    <a:pt x="320929" y="36459"/>
                  </a:lnTo>
                  <a:lnTo>
                    <a:pt x="320929" y="18230"/>
                  </a:lnTo>
                  <a:lnTo>
                    <a:pt x="320929" y="36459"/>
                  </a:lnTo>
                  <a:cubicBezTo>
                    <a:pt x="157607" y="36459"/>
                    <a:pt x="25400" y="224406"/>
                    <a:pt x="25400" y="455740"/>
                  </a:cubicBezTo>
                  <a:close/>
                </a:path>
              </a:pathLst>
            </a:custGeom>
            <a:solidFill>
              <a:srgbClr val="74DE62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10020063" y="3364563"/>
            <a:ext cx="6277449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8"/>
              </a:lnSpc>
            </a:pPr>
            <a:r>
              <a:rPr lang="en-US" sz="2140" b="true">
                <a:solidFill>
                  <a:srgbClr val="74DE62"/>
                </a:solidFill>
                <a:latin typeface="Aptos Bold"/>
                <a:ea typeface="Aptos Bold"/>
                <a:cs typeface="Aptos Bold"/>
                <a:sym typeface="Aptos Bold"/>
              </a:rPr>
              <a:t>Formula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020063" y="3990784"/>
            <a:ext cx="6277449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7"/>
              </a:lnSpc>
            </a:pPr>
            <a:r>
              <a:rPr lang="en-US" sz="1989">
                <a:solidFill>
                  <a:srgbClr val="F6FAF7"/>
                </a:solidFill>
                <a:latin typeface="Aptos"/>
                <a:ea typeface="Aptos"/>
                <a:cs typeface="Aptos"/>
                <a:sym typeface="Aptos"/>
              </a:rPr>
              <a:t>effective score = raw score − penalty × outgroup similarity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9734550" y="5820537"/>
            <a:ext cx="6848475" cy="2007870"/>
            <a:chOff x="0" y="0"/>
            <a:chExt cx="9131300" cy="267716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12775" y="12700"/>
              <a:ext cx="9105751" cy="2651760"/>
            </a:xfrm>
            <a:custGeom>
              <a:avLst/>
              <a:gdLst/>
              <a:ahLst/>
              <a:cxnLst/>
              <a:rect r="r" b="b" t="t" l="l"/>
              <a:pathLst>
                <a:path h="2651760" w="9105751">
                  <a:moveTo>
                    <a:pt x="0" y="441960"/>
                  </a:moveTo>
                  <a:cubicBezTo>
                    <a:pt x="0" y="197866"/>
                    <a:pt x="200433" y="0"/>
                    <a:pt x="447622" y="0"/>
                  </a:cubicBezTo>
                  <a:lnTo>
                    <a:pt x="8658128" y="0"/>
                  </a:lnTo>
                  <a:cubicBezTo>
                    <a:pt x="8905316" y="0"/>
                    <a:pt x="9105751" y="197866"/>
                    <a:pt x="9105751" y="441960"/>
                  </a:cubicBezTo>
                  <a:lnTo>
                    <a:pt x="9105751" y="2209800"/>
                  </a:lnTo>
                  <a:cubicBezTo>
                    <a:pt x="9105751" y="2453894"/>
                    <a:pt x="8905316" y="2651760"/>
                    <a:pt x="8658128" y="2651760"/>
                  </a:cubicBezTo>
                  <a:lnTo>
                    <a:pt x="447622" y="2651760"/>
                  </a:lnTo>
                  <a:cubicBezTo>
                    <a:pt x="200433" y="2651760"/>
                    <a:pt x="0" y="2453894"/>
                    <a:pt x="0" y="2209800"/>
                  </a:cubicBezTo>
                  <a:close/>
                </a:path>
              </a:pathLst>
            </a:custGeom>
            <a:solidFill>
              <a:srgbClr val="0A1E12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9131300" cy="2677160"/>
            </a:xfrm>
            <a:custGeom>
              <a:avLst/>
              <a:gdLst/>
              <a:ahLst/>
              <a:cxnLst/>
              <a:rect r="r" b="b" t="t" l="l"/>
              <a:pathLst>
                <a:path h="2677160" w="9131300">
                  <a:moveTo>
                    <a:pt x="0" y="454660"/>
                  </a:moveTo>
                  <a:cubicBezTo>
                    <a:pt x="0" y="203454"/>
                    <a:pt x="206182" y="0"/>
                    <a:pt x="460397" y="0"/>
                  </a:cubicBezTo>
                  <a:lnTo>
                    <a:pt x="8670903" y="0"/>
                  </a:lnTo>
                  <a:lnTo>
                    <a:pt x="8670903" y="12700"/>
                  </a:lnTo>
                  <a:lnTo>
                    <a:pt x="8670903" y="0"/>
                  </a:lnTo>
                  <a:cubicBezTo>
                    <a:pt x="8925118" y="0"/>
                    <a:pt x="9131300" y="203454"/>
                    <a:pt x="9131300" y="454660"/>
                  </a:cubicBezTo>
                  <a:lnTo>
                    <a:pt x="9118526" y="454660"/>
                  </a:lnTo>
                  <a:lnTo>
                    <a:pt x="9131300" y="454660"/>
                  </a:lnTo>
                  <a:lnTo>
                    <a:pt x="9131300" y="2222500"/>
                  </a:lnTo>
                  <a:lnTo>
                    <a:pt x="9118526" y="2222500"/>
                  </a:lnTo>
                  <a:lnTo>
                    <a:pt x="9131300" y="2222500"/>
                  </a:lnTo>
                  <a:cubicBezTo>
                    <a:pt x="9131300" y="2473706"/>
                    <a:pt x="8925118" y="2677160"/>
                    <a:pt x="8670903" y="2677160"/>
                  </a:cubicBezTo>
                  <a:lnTo>
                    <a:pt x="8670903" y="2664460"/>
                  </a:lnTo>
                  <a:lnTo>
                    <a:pt x="8670903" y="2677160"/>
                  </a:lnTo>
                  <a:lnTo>
                    <a:pt x="460397" y="2677160"/>
                  </a:lnTo>
                  <a:lnTo>
                    <a:pt x="460397" y="2664460"/>
                  </a:lnTo>
                  <a:lnTo>
                    <a:pt x="460397" y="2677160"/>
                  </a:lnTo>
                  <a:cubicBezTo>
                    <a:pt x="206182" y="2677160"/>
                    <a:pt x="0" y="2473706"/>
                    <a:pt x="0" y="2222500"/>
                  </a:cubicBezTo>
                  <a:lnTo>
                    <a:pt x="0" y="454660"/>
                  </a:lnTo>
                  <a:lnTo>
                    <a:pt x="12775" y="454660"/>
                  </a:lnTo>
                  <a:lnTo>
                    <a:pt x="0" y="454660"/>
                  </a:lnTo>
                  <a:moveTo>
                    <a:pt x="25549" y="454660"/>
                  </a:moveTo>
                  <a:lnTo>
                    <a:pt x="25549" y="2222500"/>
                  </a:lnTo>
                  <a:lnTo>
                    <a:pt x="12775" y="2222500"/>
                  </a:lnTo>
                  <a:lnTo>
                    <a:pt x="25549" y="2222500"/>
                  </a:lnTo>
                  <a:cubicBezTo>
                    <a:pt x="25549" y="2459482"/>
                    <a:pt x="220107" y="2651760"/>
                    <a:pt x="460397" y="2651760"/>
                  </a:cubicBezTo>
                  <a:lnTo>
                    <a:pt x="8670903" y="2651760"/>
                  </a:lnTo>
                  <a:cubicBezTo>
                    <a:pt x="8911065" y="2651760"/>
                    <a:pt x="9105750" y="2459482"/>
                    <a:pt x="9105750" y="2222500"/>
                  </a:cubicBezTo>
                  <a:lnTo>
                    <a:pt x="9105750" y="454660"/>
                  </a:lnTo>
                  <a:cubicBezTo>
                    <a:pt x="9105750" y="217678"/>
                    <a:pt x="8911193" y="25400"/>
                    <a:pt x="8670903" y="25400"/>
                  </a:cubicBezTo>
                  <a:lnTo>
                    <a:pt x="460397" y="25400"/>
                  </a:lnTo>
                  <a:lnTo>
                    <a:pt x="460397" y="12700"/>
                  </a:lnTo>
                  <a:lnTo>
                    <a:pt x="460397" y="25400"/>
                  </a:lnTo>
                  <a:cubicBezTo>
                    <a:pt x="220107" y="25400"/>
                    <a:pt x="25549" y="217678"/>
                    <a:pt x="25549" y="454660"/>
                  </a:cubicBezTo>
                  <a:close/>
                </a:path>
              </a:pathLst>
            </a:custGeom>
            <a:solidFill>
              <a:srgbClr val="74DE62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10038398" y="6252210"/>
            <a:ext cx="6240780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5"/>
              </a:lnSpc>
            </a:pPr>
            <a:r>
              <a:rPr lang="en-US" sz="2129" b="true">
                <a:solidFill>
                  <a:srgbClr val="74DE62"/>
                </a:solidFill>
                <a:latin typeface="Aptos Bold"/>
                <a:ea typeface="Aptos Bold"/>
                <a:cs typeface="Aptos Bold"/>
                <a:sym typeface="Aptos Bold"/>
              </a:rPr>
              <a:t>Interpretation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038398" y="6796659"/>
            <a:ext cx="6240780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5"/>
              </a:lnSpc>
            </a:pPr>
            <a:r>
              <a:rPr lang="en-US" sz="1979">
                <a:solidFill>
                  <a:srgbClr val="F6FAF7"/>
                </a:solidFill>
                <a:latin typeface="Aptos"/>
                <a:ea typeface="Aptos"/>
                <a:cs typeface="Aptos"/>
                <a:sym typeface="Aptos"/>
              </a:rPr>
              <a:t>A candidate should show stronger support from RBP references than from non-RBP tail-associated controls.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877824" y="9500235"/>
            <a:ext cx="1933956" cy="2198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4"/>
              </a:lnSpc>
            </a:pPr>
            <a:r>
              <a:rPr lang="en-US" sz="1170" b="true">
                <a:solidFill>
                  <a:srgbClr val="74DE62"/>
                </a:solidFill>
                <a:latin typeface="Aptos Bold"/>
                <a:ea typeface="Aptos Bold"/>
                <a:cs typeface="Aptos Bold"/>
                <a:sym typeface="Aptos Bold"/>
              </a:rPr>
              <a:t>KEY MESSAGE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523744" y="9427464"/>
            <a:ext cx="14621256" cy="3749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F6FAF7"/>
                </a:solidFill>
                <a:latin typeface="Aptos"/>
                <a:ea typeface="Aptos"/>
                <a:cs typeface="Aptos"/>
                <a:sym typeface="Aptos"/>
              </a:rPr>
              <a:t>The pipeline scores specificity, not only similarity.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6692372" y="9454896"/>
            <a:ext cx="905256" cy="210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439"/>
              </a:lnSpc>
            </a:pPr>
            <a:r>
              <a:rPr lang="en-US" sz="1200">
                <a:solidFill>
                  <a:srgbClr val="BECDC3"/>
                </a:solidFill>
                <a:latin typeface="Aptos"/>
                <a:ea typeface="Aptos"/>
                <a:cs typeface="Aptos"/>
                <a:sym typeface="Aptos"/>
              </a:rPr>
              <a:t>11/12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0513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903416" y="-555784"/>
            <a:ext cx="3168967" cy="3168967"/>
            <a:chOff x="0" y="0"/>
            <a:chExt cx="4225290" cy="422529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9525" y="9525"/>
              <a:ext cx="4206240" cy="4206240"/>
            </a:xfrm>
            <a:custGeom>
              <a:avLst/>
              <a:gdLst/>
              <a:ahLst/>
              <a:cxnLst/>
              <a:rect r="r" b="b" t="t" l="l"/>
              <a:pathLst>
                <a:path h="4206240" w="4206240">
                  <a:moveTo>
                    <a:pt x="0" y="2103120"/>
                  </a:moveTo>
                  <a:cubicBezTo>
                    <a:pt x="0" y="941578"/>
                    <a:pt x="941578" y="0"/>
                    <a:pt x="2103120" y="0"/>
                  </a:cubicBezTo>
                  <a:cubicBezTo>
                    <a:pt x="3264662" y="0"/>
                    <a:pt x="4206240" y="941578"/>
                    <a:pt x="4206240" y="2103120"/>
                  </a:cubicBezTo>
                  <a:cubicBezTo>
                    <a:pt x="4206240" y="3264662"/>
                    <a:pt x="3264662" y="4206240"/>
                    <a:pt x="2103120" y="4206240"/>
                  </a:cubicBezTo>
                  <a:cubicBezTo>
                    <a:pt x="941578" y="4206240"/>
                    <a:pt x="0" y="3264662"/>
                    <a:pt x="0" y="2103120"/>
                  </a:cubicBezTo>
                  <a:close/>
                </a:path>
              </a:pathLst>
            </a:custGeom>
            <a:solidFill>
              <a:srgbClr val="283732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25290" cy="4225290"/>
            </a:xfrm>
            <a:custGeom>
              <a:avLst/>
              <a:gdLst/>
              <a:ahLst/>
              <a:cxnLst/>
              <a:rect r="r" b="b" t="t" l="l"/>
              <a:pathLst>
                <a:path h="4225290" w="4225290">
                  <a:moveTo>
                    <a:pt x="0" y="2112645"/>
                  </a:moveTo>
                  <a:cubicBezTo>
                    <a:pt x="0" y="945896"/>
                    <a:pt x="945896" y="0"/>
                    <a:pt x="2112645" y="0"/>
                  </a:cubicBezTo>
                  <a:lnTo>
                    <a:pt x="2112645" y="9525"/>
                  </a:lnTo>
                  <a:lnTo>
                    <a:pt x="2112645" y="0"/>
                  </a:lnTo>
                  <a:cubicBezTo>
                    <a:pt x="3279394" y="0"/>
                    <a:pt x="4225290" y="945896"/>
                    <a:pt x="4225290" y="2112645"/>
                  </a:cubicBezTo>
                  <a:lnTo>
                    <a:pt x="4215765" y="2112645"/>
                  </a:lnTo>
                  <a:lnTo>
                    <a:pt x="4225290" y="2112645"/>
                  </a:lnTo>
                  <a:cubicBezTo>
                    <a:pt x="4225290" y="3279394"/>
                    <a:pt x="3279394" y="4225290"/>
                    <a:pt x="2112645" y="4225290"/>
                  </a:cubicBezTo>
                  <a:lnTo>
                    <a:pt x="2112645" y="4215765"/>
                  </a:lnTo>
                  <a:lnTo>
                    <a:pt x="2112645" y="4225290"/>
                  </a:lnTo>
                  <a:cubicBezTo>
                    <a:pt x="945896" y="4225290"/>
                    <a:pt x="0" y="3279394"/>
                    <a:pt x="0" y="2112645"/>
                  </a:cubicBezTo>
                  <a:lnTo>
                    <a:pt x="9525" y="2112645"/>
                  </a:lnTo>
                  <a:lnTo>
                    <a:pt x="19050" y="2112645"/>
                  </a:lnTo>
                  <a:lnTo>
                    <a:pt x="9525" y="2112645"/>
                  </a:lnTo>
                  <a:lnTo>
                    <a:pt x="0" y="2112645"/>
                  </a:lnTo>
                  <a:moveTo>
                    <a:pt x="19050" y="2112645"/>
                  </a:moveTo>
                  <a:cubicBezTo>
                    <a:pt x="19050" y="2117852"/>
                    <a:pt x="14732" y="2122170"/>
                    <a:pt x="9525" y="2122170"/>
                  </a:cubicBezTo>
                  <a:cubicBezTo>
                    <a:pt x="4318" y="2122170"/>
                    <a:pt x="0" y="2117852"/>
                    <a:pt x="0" y="2112645"/>
                  </a:cubicBezTo>
                  <a:cubicBezTo>
                    <a:pt x="0" y="2107438"/>
                    <a:pt x="4318" y="2103120"/>
                    <a:pt x="9525" y="2103120"/>
                  </a:cubicBezTo>
                  <a:cubicBezTo>
                    <a:pt x="14732" y="2103120"/>
                    <a:pt x="19050" y="2107438"/>
                    <a:pt x="19050" y="2112645"/>
                  </a:cubicBezTo>
                  <a:cubicBezTo>
                    <a:pt x="19050" y="3268853"/>
                    <a:pt x="956437" y="4206240"/>
                    <a:pt x="2112645" y="4206240"/>
                  </a:cubicBezTo>
                  <a:cubicBezTo>
                    <a:pt x="3268853" y="4206240"/>
                    <a:pt x="4206240" y="3268853"/>
                    <a:pt x="4206240" y="2112645"/>
                  </a:cubicBezTo>
                  <a:cubicBezTo>
                    <a:pt x="4206240" y="956437"/>
                    <a:pt x="3268853" y="19050"/>
                    <a:pt x="2112645" y="19050"/>
                  </a:cubicBezTo>
                  <a:lnTo>
                    <a:pt x="2112645" y="9525"/>
                  </a:lnTo>
                  <a:lnTo>
                    <a:pt x="2112645" y="19050"/>
                  </a:lnTo>
                  <a:cubicBezTo>
                    <a:pt x="956437" y="19050"/>
                    <a:pt x="19050" y="956437"/>
                    <a:pt x="19050" y="2112645"/>
                  </a:cubicBezTo>
                  <a:close/>
                </a:path>
              </a:pathLst>
            </a:custGeom>
            <a:solidFill>
              <a:srgbClr val="283732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-1104424" y="8359616"/>
            <a:ext cx="2757488" cy="2757488"/>
            <a:chOff x="0" y="0"/>
            <a:chExt cx="3676650" cy="367665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9525" y="9525"/>
              <a:ext cx="3657600" cy="3657600"/>
            </a:xfrm>
            <a:custGeom>
              <a:avLst/>
              <a:gdLst/>
              <a:ahLst/>
              <a:cxnLst/>
              <a:rect r="r" b="b" t="t" l="l"/>
              <a:pathLst>
                <a:path h="3657600" w="3657600">
                  <a:moveTo>
                    <a:pt x="0" y="1828800"/>
                  </a:moveTo>
                  <a:cubicBezTo>
                    <a:pt x="0" y="818769"/>
                    <a:pt x="818769" y="0"/>
                    <a:pt x="1828800" y="0"/>
                  </a:cubicBezTo>
                  <a:cubicBezTo>
                    <a:pt x="2838831" y="0"/>
                    <a:pt x="3657600" y="818769"/>
                    <a:pt x="3657600" y="1828800"/>
                  </a:cubicBezTo>
                  <a:cubicBezTo>
                    <a:pt x="3657600" y="2838831"/>
                    <a:pt x="2838831" y="3657600"/>
                    <a:pt x="1828800" y="3657600"/>
                  </a:cubicBezTo>
                  <a:cubicBezTo>
                    <a:pt x="818769" y="3657600"/>
                    <a:pt x="0" y="2838831"/>
                    <a:pt x="0" y="1828800"/>
                  </a:cubicBezTo>
                  <a:close/>
                </a:path>
              </a:pathLst>
            </a:custGeom>
            <a:solidFill>
              <a:srgbClr val="21322D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676650" cy="3676650"/>
            </a:xfrm>
            <a:custGeom>
              <a:avLst/>
              <a:gdLst/>
              <a:ahLst/>
              <a:cxnLst/>
              <a:rect r="r" b="b" t="t" l="l"/>
              <a:pathLst>
                <a:path h="3676650" w="3676650">
                  <a:moveTo>
                    <a:pt x="0" y="1838325"/>
                  </a:moveTo>
                  <a:cubicBezTo>
                    <a:pt x="0" y="823087"/>
                    <a:pt x="823087" y="0"/>
                    <a:pt x="1838325" y="0"/>
                  </a:cubicBezTo>
                  <a:lnTo>
                    <a:pt x="1838325" y="9525"/>
                  </a:lnTo>
                  <a:lnTo>
                    <a:pt x="1838325" y="0"/>
                  </a:lnTo>
                  <a:cubicBezTo>
                    <a:pt x="2853563" y="0"/>
                    <a:pt x="3676650" y="823087"/>
                    <a:pt x="3676650" y="1838325"/>
                  </a:cubicBezTo>
                  <a:cubicBezTo>
                    <a:pt x="3676650" y="2853563"/>
                    <a:pt x="2853563" y="3676650"/>
                    <a:pt x="1838325" y="3676650"/>
                  </a:cubicBezTo>
                  <a:lnTo>
                    <a:pt x="1838325" y="3667125"/>
                  </a:lnTo>
                  <a:lnTo>
                    <a:pt x="1838325" y="3676650"/>
                  </a:lnTo>
                  <a:cubicBezTo>
                    <a:pt x="823087" y="3676650"/>
                    <a:pt x="0" y="2853563"/>
                    <a:pt x="0" y="1838325"/>
                  </a:cubicBezTo>
                  <a:lnTo>
                    <a:pt x="9525" y="1838325"/>
                  </a:lnTo>
                  <a:lnTo>
                    <a:pt x="17526" y="1843532"/>
                  </a:lnTo>
                  <a:cubicBezTo>
                    <a:pt x="15240" y="1847088"/>
                    <a:pt x="10922" y="1848739"/>
                    <a:pt x="6858" y="1847469"/>
                  </a:cubicBezTo>
                  <a:cubicBezTo>
                    <a:pt x="2794" y="1846199"/>
                    <a:pt x="0" y="1842516"/>
                    <a:pt x="0" y="1838325"/>
                  </a:cubicBezTo>
                  <a:moveTo>
                    <a:pt x="19050" y="1838325"/>
                  </a:moveTo>
                  <a:lnTo>
                    <a:pt x="9525" y="1838325"/>
                  </a:lnTo>
                  <a:lnTo>
                    <a:pt x="1524" y="1833118"/>
                  </a:lnTo>
                  <a:cubicBezTo>
                    <a:pt x="3810" y="1829562"/>
                    <a:pt x="8128" y="1827911"/>
                    <a:pt x="12192" y="1829181"/>
                  </a:cubicBezTo>
                  <a:cubicBezTo>
                    <a:pt x="16256" y="1830451"/>
                    <a:pt x="19050" y="1834134"/>
                    <a:pt x="19050" y="1838325"/>
                  </a:cubicBezTo>
                  <a:cubicBezTo>
                    <a:pt x="19050" y="2843022"/>
                    <a:pt x="833628" y="3657600"/>
                    <a:pt x="1838325" y="3657600"/>
                  </a:cubicBezTo>
                  <a:cubicBezTo>
                    <a:pt x="2843022" y="3657600"/>
                    <a:pt x="3657600" y="2843022"/>
                    <a:pt x="3657600" y="1838325"/>
                  </a:cubicBezTo>
                  <a:lnTo>
                    <a:pt x="3667125" y="1838325"/>
                  </a:lnTo>
                  <a:lnTo>
                    <a:pt x="3657600" y="1838325"/>
                  </a:lnTo>
                  <a:cubicBezTo>
                    <a:pt x="3657600" y="833628"/>
                    <a:pt x="2843022" y="19050"/>
                    <a:pt x="1838325" y="19050"/>
                  </a:cubicBezTo>
                  <a:lnTo>
                    <a:pt x="1838325" y="9525"/>
                  </a:lnTo>
                  <a:lnTo>
                    <a:pt x="1838325" y="19050"/>
                  </a:lnTo>
                  <a:cubicBezTo>
                    <a:pt x="833628" y="19050"/>
                    <a:pt x="19050" y="833628"/>
                    <a:pt x="19050" y="1838325"/>
                  </a:cubicBezTo>
                  <a:close/>
                </a:path>
              </a:pathLst>
            </a:custGeom>
            <a:solidFill>
              <a:srgbClr val="21322D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747236" y="678656"/>
            <a:ext cx="864680" cy="82868"/>
            <a:chOff x="0" y="0"/>
            <a:chExt cx="1152906" cy="11049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9525" y="9525"/>
              <a:ext cx="1133856" cy="91440"/>
            </a:xfrm>
            <a:custGeom>
              <a:avLst/>
              <a:gdLst/>
              <a:ahLst/>
              <a:cxnLst/>
              <a:rect r="r" b="b" t="t" l="l"/>
              <a:pathLst>
                <a:path h="91440" w="1133856">
                  <a:moveTo>
                    <a:pt x="0" y="0"/>
                  </a:moveTo>
                  <a:lnTo>
                    <a:pt x="1133856" y="0"/>
                  </a:lnTo>
                  <a:lnTo>
                    <a:pt x="1133856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74DE62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52906" cy="110490"/>
            </a:xfrm>
            <a:custGeom>
              <a:avLst/>
              <a:gdLst/>
              <a:ahLst/>
              <a:cxnLst/>
              <a:rect r="r" b="b" t="t" l="l"/>
              <a:pathLst>
                <a:path h="110490" w="1152906">
                  <a:moveTo>
                    <a:pt x="9525" y="0"/>
                  </a:moveTo>
                  <a:lnTo>
                    <a:pt x="1143381" y="0"/>
                  </a:lnTo>
                  <a:cubicBezTo>
                    <a:pt x="1148588" y="0"/>
                    <a:pt x="1152906" y="4318"/>
                    <a:pt x="1152906" y="9525"/>
                  </a:cubicBezTo>
                  <a:lnTo>
                    <a:pt x="1152906" y="100965"/>
                  </a:lnTo>
                  <a:cubicBezTo>
                    <a:pt x="1152906" y="106172"/>
                    <a:pt x="1148588" y="110490"/>
                    <a:pt x="1143381" y="110490"/>
                  </a:cubicBezTo>
                  <a:lnTo>
                    <a:pt x="9525" y="110490"/>
                  </a:lnTo>
                  <a:cubicBezTo>
                    <a:pt x="4318" y="110490"/>
                    <a:pt x="0" y="106172"/>
                    <a:pt x="0" y="100965"/>
                  </a:cubicBezTo>
                  <a:lnTo>
                    <a:pt x="0" y="9525"/>
                  </a:lnTo>
                  <a:cubicBezTo>
                    <a:pt x="0" y="4318"/>
                    <a:pt x="4318" y="0"/>
                    <a:pt x="9525" y="0"/>
                  </a:cubicBezTo>
                  <a:moveTo>
                    <a:pt x="9525" y="19050"/>
                  </a:moveTo>
                  <a:lnTo>
                    <a:pt x="9525" y="9525"/>
                  </a:lnTo>
                  <a:lnTo>
                    <a:pt x="19050" y="9525"/>
                  </a:lnTo>
                  <a:lnTo>
                    <a:pt x="19050" y="100965"/>
                  </a:lnTo>
                  <a:lnTo>
                    <a:pt x="9525" y="100965"/>
                  </a:lnTo>
                  <a:lnTo>
                    <a:pt x="9525" y="91440"/>
                  </a:lnTo>
                  <a:lnTo>
                    <a:pt x="1143381" y="91440"/>
                  </a:lnTo>
                  <a:lnTo>
                    <a:pt x="1143381" y="100965"/>
                  </a:lnTo>
                  <a:lnTo>
                    <a:pt x="1133856" y="100965"/>
                  </a:lnTo>
                  <a:lnTo>
                    <a:pt x="1133856" y="9525"/>
                  </a:lnTo>
                  <a:lnTo>
                    <a:pt x="1143381" y="9525"/>
                  </a:lnTo>
                  <a:lnTo>
                    <a:pt x="1143381" y="19050"/>
                  </a:lnTo>
                  <a:lnTo>
                    <a:pt x="9525" y="19050"/>
                  </a:lnTo>
                  <a:close/>
                </a:path>
              </a:pathLst>
            </a:custGeom>
            <a:solidFill>
              <a:srgbClr val="74DE62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781812" y="402336"/>
            <a:ext cx="6117336" cy="2377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86"/>
              </a:lnSpc>
            </a:pPr>
            <a:r>
              <a:rPr lang="en-US" sz="1155" b="true">
                <a:solidFill>
                  <a:srgbClr val="74DE62"/>
                </a:solidFill>
                <a:latin typeface="Aptos Bold"/>
                <a:ea typeface="Aptos Bold"/>
                <a:cs typeface="Aptos Bold"/>
                <a:sym typeface="Aptos Bold"/>
              </a:rPr>
              <a:t>CONCLUSIONS · ONGOING WORK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81812" y="1046988"/>
            <a:ext cx="14758416" cy="7589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true">
                <a:solidFill>
                  <a:srgbClr val="F6FAF7"/>
                </a:solidFill>
                <a:latin typeface="Aptos Bold"/>
                <a:ea typeface="Aptos Bold"/>
                <a:cs typeface="Aptos Bold"/>
                <a:sym typeface="Aptos Bold"/>
              </a:rPr>
              <a:t>Conclusions and ongoing work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22960" y="1856232"/>
            <a:ext cx="15307056" cy="4846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BECDC3"/>
                </a:solidFill>
                <a:latin typeface="Aptos"/>
                <a:ea typeface="Aptos"/>
                <a:cs typeface="Aptos"/>
                <a:sym typeface="Aptos"/>
              </a:rPr>
              <a:t>Current status and next steps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2957322"/>
            <a:ext cx="7447788" cy="3228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74"/>
              </a:lnSpc>
            </a:pPr>
            <a:r>
              <a:rPr lang="en-US" sz="2145">
                <a:solidFill>
                  <a:srgbClr val="F6FAF7"/>
                </a:solidFill>
                <a:latin typeface="Aptos"/>
                <a:ea typeface="Aptos"/>
                <a:cs typeface="Aptos"/>
                <a:sym typeface="Aptos"/>
              </a:rPr>
              <a:t>Implemented: reproducible workflow, annotated database and integrated RBP-Score. </a:t>
            </a:r>
          </a:p>
          <a:p>
            <a:pPr algn="l">
              <a:lnSpc>
                <a:spcPts val="2574"/>
              </a:lnSpc>
            </a:pPr>
            <a:r>
              <a:rPr lang="en-US" sz="2145">
                <a:solidFill>
                  <a:srgbClr val="F6FAF7"/>
                </a:solidFill>
                <a:latin typeface="Aptos"/>
                <a:ea typeface="Aptos"/>
                <a:cs typeface="Aptos"/>
                <a:sym typeface="Aptos"/>
              </a:rPr>
              <a:t>Positive and outgroup controls show the expected ranking behavior.</a:t>
            </a:r>
          </a:p>
          <a:p>
            <a:pPr algn="l">
              <a:lnSpc>
                <a:spcPts val="2574"/>
              </a:lnSpc>
            </a:pPr>
          </a:p>
          <a:p>
            <a:pPr algn="l">
              <a:lnSpc>
                <a:spcPts val="2574"/>
              </a:lnSpc>
            </a:pPr>
            <a:r>
              <a:rPr lang="en-US" sz="2145">
                <a:solidFill>
                  <a:srgbClr val="F6FAF7"/>
                </a:solidFill>
                <a:latin typeface="Aptos"/>
                <a:ea typeface="Aptos"/>
                <a:cs typeface="Aptos"/>
                <a:sym typeface="Aptos"/>
              </a:rPr>
              <a:t>Next: expand positive/negative validation sets and calibrate cut-offs.</a:t>
            </a:r>
          </a:p>
          <a:p>
            <a:pPr algn="l">
              <a:lnSpc>
                <a:spcPts val="2574"/>
              </a:lnSpc>
            </a:pPr>
          </a:p>
          <a:p>
            <a:pPr algn="l">
              <a:lnSpc>
                <a:spcPts val="2574"/>
              </a:lnSpc>
            </a:pPr>
            <a:r>
              <a:rPr lang="en-US" sz="2145">
                <a:solidFill>
                  <a:srgbClr val="F6FAF7"/>
                </a:solidFill>
                <a:latin typeface="Aptos"/>
                <a:ea typeface="Aptos"/>
                <a:cs typeface="Aptos"/>
                <a:sym typeface="Aptos"/>
              </a:rPr>
              <a:t>Next: validate top Foldseek hits with DALI and expand the curated database.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9834372" y="2918841"/>
            <a:ext cx="6671310" cy="1905000"/>
            <a:chOff x="0" y="0"/>
            <a:chExt cx="8895080" cy="25400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12700" y="13956"/>
              <a:ext cx="8869680" cy="2512088"/>
            </a:xfrm>
            <a:custGeom>
              <a:avLst/>
              <a:gdLst/>
              <a:ahLst/>
              <a:cxnLst/>
              <a:rect r="r" b="b" t="t" l="l"/>
              <a:pathLst>
                <a:path h="2512088" w="8869680">
                  <a:moveTo>
                    <a:pt x="0" y="418681"/>
                  </a:moveTo>
                  <a:cubicBezTo>
                    <a:pt x="0" y="187430"/>
                    <a:pt x="171958" y="0"/>
                    <a:pt x="384175" y="0"/>
                  </a:cubicBezTo>
                  <a:lnTo>
                    <a:pt x="8485505" y="0"/>
                  </a:lnTo>
                  <a:cubicBezTo>
                    <a:pt x="8697723" y="0"/>
                    <a:pt x="8869680" y="187430"/>
                    <a:pt x="8869680" y="418681"/>
                  </a:cubicBezTo>
                  <a:lnTo>
                    <a:pt x="8869680" y="2093407"/>
                  </a:lnTo>
                  <a:cubicBezTo>
                    <a:pt x="8869680" y="2324658"/>
                    <a:pt x="8697723" y="2512088"/>
                    <a:pt x="8485505" y="2512088"/>
                  </a:cubicBezTo>
                  <a:lnTo>
                    <a:pt x="384175" y="2512088"/>
                  </a:lnTo>
                  <a:cubicBezTo>
                    <a:pt x="171958" y="2512088"/>
                    <a:pt x="0" y="2324658"/>
                    <a:pt x="0" y="2093407"/>
                  </a:cubicBezTo>
                  <a:close/>
                </a:path>
              </a:pathLst>
            </a:custGeom>
            <a:solidFill>
              <a:srgbClr val="0A1E12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895080" cy="2540000"/>
            </a:xfrm>
            <a:custGeom>
              <a:avLst/>
              <a:gdLst/>
              <a:ahLst/>
              <a:cxnLst/>
              <a:rect r="r" b="b" t="t" l="l"/>
              <a:pathLst>
                <a:path h="2540000" w="8895080">
                  <a:moveTo>
                    <a:pt x="0" y="432637"/>
                  </a:moveTo>
                  <a:cubicBezTo>
                    <a:pt x="0" y="193570"/>
                    <a:pt x="177800" y="0"/>
                    <a:pt x="396875" y="0"/>
                  </a:cubicBezTo>
                  <a:lnTo>
                    <a:pt x="8498205" y="0"/>
                  </a:lnTo>
                  <a:lnTo>
                    <a:pt x="8498205" y="13956"/>
                  </a:lnTo>
                  <a:lnTo>
                    <a:pt x="8498205" y="0"/>
                  </a:lnTo>
                  <a:cubicBezTo>
                    <a:pt x="8717280" y="0"/>
                    <a:pt x="8895080" y="193570"/>
                    <a:pt x="8895080" y="432637"/>
                  </a:cubicBezTo>
                  <a:lnTo>
                    <a:pt x="8882380" y="432637"/>
                  </a:lnTo>
                  <a:lnTo>
                    <a:pt x="8895080" y="432637"/>
                  </a:lnTo>
                  <a:lnTo>
                    <a:pt x="8895080" y="2107363"/>
                  </a:lnTo>
                  <a:lnTo>
                    <a:pt x="8882380" y="2107363"/>
                  </a:lnTo>
                  <a:lnTo>
                    <a:pt x="8895080" y="2107363"/>
                  </a:lnTo>
                  <a:cubicBezTo>
                    <a:pt x="8895080" y="2346430"/>
                    <a:pt x="8717280" y="2540000"/>
                    <a:pt x="8498205" y="2540000"/>
                  </a:cubicBezTo>
                  <a:lnTo>
                    <a:pt x="8498205" y="2526044"/>
                  </a:lnTo>
                  <a:lnTo>
                    <a:pt x="8498205" y="2540000"/>
                  </a:lnTo>
                  <a:lnTo>
                    <a:pt x="396875" y="2540000"/>
                  </a:lnTo>
                  <a:lnTo>
                    <a:pt x="396875" y="2526044"/>
                  </a:lnTo>
                  <a:lnTo>
                    <a:pt x="396875" y="2540000"/>
                  </a:lnTo>
                  <a:cubicBezTo>
                    <a:pt x="177800" y="2540000"/>
                    <a:pt x="0" y="2346430"/>
                    <a:pt x="0" y="2107363"/>
                  </a:cubicBezTo>
                  <a:lnTo>
                    <a:pt x="0" y="432637"/>
                  </a:lnTo>
                  <a:lnTo>
                    <a:pt x="12700" y="432637"/>
                  </a:lnTo>
                  <a:lnTo>
                    <a:pt x="0" y="432637"/>
                  </a:lnTo>
                  <a:moveTo>
                    <a:pt x="25400" y="432637"/>
                  </a:moveTo>
                  <a:lnTo>
                    <a:pt x="25400" y="2107363"/>
                  </a:lnTo>
                  <a:lnTo>
                    <a:pt x="12700" y="2107363"/>
                  </a:lnTo>
                  <a:lnTo>
                    <a:pt x="25400" y="2107363"/>
                  </a:lnTo>
                  <a:cubicBezTo>
                    <a:pt x="25400" y="2330799"/>
                    <a:pt x="191643" y="2512088"/>
                    <a:pt x="396875" y="2512088"/>
                  </a:cubicBezTo>
                  <a:lnTo>
                    <a:pt x="8498205" y="2512088"/>
                  </a:lnTo>
                  <a:cubicBezTo>
                    <a:pt x="8703437" y="2512088"/>
                    <a:pt x="8869680" y="2330799"/>
                    <a:pt x="8869680" y="2107363"/>
                  </a:cubicBezTo>
                  <a:lnTo>
                    <a:pt x="8869680" y="432637"/>
                  </a:lnTo>
                  <a:cubicBezTo>
                    <a:pt x="8869680" y="209201"/>
                    <a:pt x="8703437" y="27912"/>
                    <a:pt x="8498205" y="27912"/>
                  </a:cubicBezTo>
                  <a:lnTo>
                    <a:pt x="396875" y="27912"/>
                  </a:lnTo>
                  <a:lnTo>
                    <a:pt x="396875" y="13956"/>
                  </a:lnTo>
                  <a:lnTo>
                    <a:pt x="396875" y="27912"/>
                  </a:lnTo>
                  <a:cubicBezTo>
                    <a:pt x="191643" y="27912"/>
                    <a:pt x="25400" y="209201"/>
                    <a:pt x="25400" y="432637"/>
                  </a:cubicBezTo>
                  <a:close/>
                </a:path>
              </a:pathLst>
            </a:custGeom>
            <a:solidFill>
              <a:srgbClr val="74DE62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10421540" y="3318129"/>
            <a:ext cx="5496973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5"/>
              </a:lnSpc>
            </a:pPr>
            <a:r>
              <a:rPr lang="en-US" sz="2029" b="true">
                <a:solidFill>
                  <a:srgbClr val="74DE62"/>
                </a:solidFill>
                <a:latin typeface="Aptos Bold"/>
                <a:ea typeface="Aptos Bold"/>
                <a:cs typeface="Aptos Bold"/>
                <a:sym typeface="Aptos Bold"/>
              </a:rPr>
              <a:t>Main </a:t>
            </a:r>
            <a:r>
              <a:rPr lang="en-US" sz="2029" b="true">
                <a:solidFill>
                  <a:srgbClr val="74DE62"/>
                </a:solidFill>
                <a:latin typeface="Aptos Bold"/>
                <a:ea typeface="Aptos Bold"/>
                <a:cs typeface="Aptos Bold"/>
                <a:sym typeface="Aptos Bold"/>
              </a:rPr>
              <a:t>conclusion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421540" y="3853053"/>
            <a:ext cx="5496973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5"/>
              </a:lnSpc>
            </a:pPr>
            <a:r>
              <a:rPr lang="en-US" sz="1879">
                <a:solidFill>
                  <a:srgbClr val="F6FAF7"/>
                </a:solidFill>
                <a:latin typeface="Aptos"/>
                <a:ea typeface="Aptos"/>
                <a:cs typeface="Aptos"/>
                <a:sym typeface="Aptos"/>
              </a:rPr>
              <a:t>RBP-Score provides a reproducible and interpretable framework for candidate RBP prioritization.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9834372" y="5521071"/>
            <a:ext cx="6671310" cy="1905000"/>
            <a:chOff x="0" y="0"/>
            <a:chExt cx="8895080" cy="25400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12700" y="12933"/>
              <a:ext cx="8869680" cy="2514134"/>
            </a:xfrm>
            <a:custGeom>
              <a:avLst/>
              <a:gdLst/>
              <a:ahLst/>
              <a:cxnLst/>
              <a:rect r="r" b="b" t="t" l="l"/>
              <a:pathLst>
                <a:path h="2514134" w="8869680">
                  <a:moveTo>
                    <a:pt x="0" y="419022"/>
                  </a:moveTo>
                  <a:cubicBezTo>
                    <a:pt x="0" y="187655"/>
                    <a:pt x="185547" y="0"/>
                    <a:pt x="414528" y="0"/>
                  </a:cubicBezTo>
                  <a:lnTo>
                    <a:pt x="8455152" y="0"/>
                  </a:lnTo>
                  <a:cubicBezTo>
                    <a:pt x="8684133" y="0"/>
                    <a:pt x="8869680" y="187655"/>
                    <a:pt x="8869680" y="419022"/>
                  </a:cubicBezTo>
                  <a:lnTo>
                    <a:pt x="8869680" y="2095112"/>
                  </a:lnTo>
                  <a:cubicBezTo>
                    <a:pt x="8869680" y="2326479"/>
                    <a:pt x="8684133" y="2514134"/>
                    <a:pt x="8455152" y="2514134"/>
                  </a:cubicBezTo>
                  <a:lnTo>
                    <a:pt x="414528" y="2514134"/>
                  </a:lnTo>
                  <a:cubicBezTo>
                    <a:pt x="185547" y="2514134"/>
                    <a:pt x="0" y="2326479"/>
                    <a:pt x="0" y="2095112"/>
                  </a:cubicBezTo>
                  <a:close/>
                </a:path>
              </a:pathLst>
            </a:custGeom>
            <a:solidFill>
              <a:srgbClr val="0A1E12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895080" cy="2540000"/>
            </a:xfrm>
            <a:custGeom>
              <a:avLst/>
              <a:gdLst/>
              <a:ahLst/>
              <a:cxnLst/>
              <a:rect r="r" b="b" t="t" l="l"/>
              <a:pathLst>
                <a:path h="2540000" w="8895080">
                  <a:moveTo>
                    <a:pt x="0" y="431955"/>
                  </a:moveTo>
                  <a:cubicBezTo>
                    <a:pt x="0" y="193345"/>
                    <a:pt x="191389" y="0"/>
                    <a:pt x="427228" y="0"/>
                  </a:cubicBezTo>
                  <a:lnTo>
                    <a:pt x="8467852" y="0"/>
                  </a:lnTo>
                  <a:lnTo>
                    <a:pt x="8467852" y="12933"/>
                  </a:lnTo>
                  <a:lnTo>
                    <a:pt x="8467852" y="0"/>
                  </a:lnTo>
                  <a:cubicBezTo>
                    <a:pt x="8703691" y="0"/>
                    <a:pt x="8895080" y="193345"/>
                    <a:pt x="8895080" y="431955"/>
                  </a:cubicBezTo>
                  <a:lnTo>
                    <a:pt x="8882380" y="431955"/>
                  </a:lnTo>
                  <a:lnTo>
                    <a:pt x="8895080" y="431955"/>
                  </a:lnTo>
                  <a:lnTo>
                    <a:pt x="8895080" y="2108045"/>
                  </a:lnTo>
                  <a:lnTo>
                    <a:pt x="8882380" y="2108045"/>
                  </a:lnTo>
                  <a:lnTo>
                    <a:pt x="8895080" y="2108045"/>
                  </a:lnTo>
                  <a:cubicBezTo>
                    <a:pt x="8895080" y="2346655"/>
                    <a:pt x="8703691" y="2540000"/>
                    <a:pt x="8467852" y="2540000"/>
                  </a:cubicBezTo>
                  <a:lnTo>
                    <a:pt x="8467852" y="2527067"/>
                  </a:lnTo>
                  <a:lnTo>
                    <a:pt x="8467852" y="2540000"/>
                  </a:lnTo>
                  <a:lnTo>
                    <a:pt x="427228" y="2540000"/>
                  </a:lnTo>
                  <a:lnTo>
                    <a:pt x="427228" y="2527067"/>
                  </a:lnTo>
                  <a:lnTo>
                    <a:pt x="427228" y="2540000"/>
                  </a:lnTo>
                  <a:cubicBezTo>
                    <a:pt x="191389" y="2540000"/>
                    <a:pt x="0" y="2346655"/>
                    <a:pt x="0" y="2108045"/>
                  </a:cubicBezTo>
                  <a:lnTo>
                    <a:pt x="0" y="431955"/>
                  </a:lnTo>
                  <a:lnTo>
                    <a:pt x="12700" y="431955"/>
                  </a:lnTo>
                  <a:lnTo>
                    <a:pt x="0" y="431955"/>
                  </a:lnTo>
                  <a:moveTo>
                    <a:pt x="25400" y="431955"/>
                  </a:moveTo>
                  <a:lnTo>
                    <a:pt x="25400" y="2108045"/>
                  </a:lnTo>
                  <a:lnTo>
                    <a:pt x="12700" y="2108045"/>
                  </a:lnTo>
                  <a:lnTo>
                    <a:pt x="25400" y="2108045"/>
                  </a:lnTo>
                  <a:cubicBezTo>
                    <a:pt x="25400" y="2332299"/>
                    <a:pt x="205232" y="2514134"/>
                    <a:pt x="427228" y="2514134"/>
                  </a:cubicBezTo>
                  <a:lnTo>
                    <a:pt x="8467852" y="2514134"/>
                  </a:lnTo>
                  <a:cubicBezTo>
                    <a:pt x="8689848" y="2514134"/>
                    <a:pt x="8869680" y="2332170"/>
                    <a:pt x="8869680" y="2108045"/>
                  </a:cubicBezTo>
                  <a:lnTo>
                    <a:pt x="8869680" y="431955"/>
                  </a:lnTo>
                  <a:cubicBezTo>
                    <a:pt x="8869680" y="207830"/>
                    <a:pt x="8689848" y="25866"/>
                    <a:pt x="8467852" y="25866"/>
                  </a:cubicBezTo>
                  <a:lnTo>
                    <a:pt x="427228" y="25866"/>
                  </a:lnTo>
                  <a:lnTo>
                    <a:pt x="427228" y="12933"/>
                  </a:lnTo>
                  <a:lnTo>
                    <a:pt x="427228" y="25866"/>
                  </a:lnTo>
                  <a:cubicBezTo>
                    <a:pt x="205232" y="25866"/>
                    <a:pt x="25400" y="207830"/>
                    <a:pt x="25400" y="431955"/>
                  </a:cubicBezTo>
                  <a:close/>
                </a:path>
              </a:pathLst>
            </a:custGeom>
            <a:solidFill>
              <a:srgbClr val="74DE62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10421540" y="5938647"/>
            <a:ext cx="6103620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5"/>
              </a:lnSpc>
            </a:pPr>
            <a:r>
              <a:rPr lang="en-US" sz="2029" b="true">
                <a:solidFill>
                  <a:srgbClr val="74DE62"/>
                </a:solidFill>
                <a:latin typeface="Aptos Bold"/>
                <a:ea typeface="Aptos Bold"/>
                <a:cs typeface="Aptos Bold"/>
                <a:sym typeface="Aptos Bold"/>
              </a:rPr>
              <a:t>Work in progress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421540" y="6473571"/>
            <a:ext cx="5519442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5"/>
              </a:lnSpc>
            </a:pPr>
            <a:r>
              <a:rPr lang="en-US" sz="1879">
                <a:solidFill>
                  <a:srgbClr val="F6FAF7"/>
                </a:solidFill>
                <a:latin typeface="Aptos"/>
                <a:ea typeface="Aptos"/>
                <a:cs typeface="Aptos"/>
                <a:sym typeface="Aptos"/>
              </a:rPr>
              <a:t>Weight calibration · larger controls · DALI validation · curated database expansion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877824" y="9500235"/>
            <a:ext cx="1933956" cy="2198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4"/>
              </a:lnSpc>
            </a:pPr>
            <a:r>
              <a:rPr lang="en-US" sz="1170" b="true">
                <a:solidFill>
                  <a:srgbClr val="74DE62"/>
                </a:solidFill>
                <a:latin typeface="Aptos Bold"/>
                <a:ea typeface="Aptos Bold"/>
                <a:cs typeface="Aptos Bold"/>
                <a:sym typeface="Aptos Bold"/>
              </a:rPr>
              <a:t>KEY MESSAGE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523744" y="9427464"/>
            <a:ext cx="14621256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F6FAF7"/>
                </a:solidFill>
                <a:latin typeface="Aptos"/>
                <a:ea typeface="Aptos"/>
                <a:cs typeface="Aptos"/>
                <a:sym typeface="Aptos"/>
              </a:rPr>
              <a:t>RBP-Score is a working prototype for interpretable prioritization of candidate phage RBPs.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6692372" y="9454896"/>
            <a:ext cx="905256" cy="210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439"/>
              </a:lnSpc>
            </a:pPr>
            <a:r>
              <a:rPr lang="en-US" sz="1200">
                <a:solidFill>
                  <a:srgbClr val="BECDC3"/>
                </a:solidFill>
                <a:latin typeface="Aptos"/>
                <a:ea typeface="Aptos"/>
                <a:cs typeface="Aptos"/>
                <a:sym typeface="Aptos"/>
              </a:rPr>
              <a:t>12/12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DAHKmQrNREg</dc:identifier>
  <dcterms:modified xsi:type="dcterms:W3CDTF">2011-08-01T06:04:30Z</dcterms:modified>
  <cp:revision>1</cp:revision>
  <dc:title>RBPScore.pptx</dc:title>
</cp:coreProperties>
</file>